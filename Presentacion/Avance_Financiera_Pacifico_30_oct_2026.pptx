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c33471c7b84922" /><Relationship Type="http://schemas.openxmlformats.org/officeDocument/2006/relationships/extended-properties" Target="/docProps/app.xml" Id="Rad970b20ec1248c9" /><Relationship Type="http://schemas.openxmlformats.org/officeDocument/2006/relationships/officeDocument" Target="/ppt/presentation.xml" Id="R8385dc0fabcc41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1b36d94fe04497"/>
  </p:sldMasterIdLst>
  <p:notesMasterIdLst>
    <p:notesMasterId xmlns:r="http://schemas.openxmlformats.org/officeDocument/2006/relationships" r:id="R6bb2ffd53c8f4e22"/>
  </p:notesMasterIdLst>
  <p:sldIdLst>
    <p:sldId xmlns:r="http://schemas.openxmlformats.org/officeDocument/2006/relationships" id="256" r:id="R2b64bd8c9a954ac7"/>
    <p:sldId xmlns:r="http://schemas.openxmlformats.org/officeDocument/2006/relationships" id="257" r:id="R99f25bf119df49ea"/>
    <p:sldId xmlns:r="http://schemas.openxmlformats.org/officeDocument/2006/relationships" id="258" r:id="R777caa8094dd4cec"/>
    <p:sldId xmlns:r="http://schemas.openxmlformats.org/officeDocument/2006/relationships" id="259" r:id="R43287bd3c32f4108"/>
    <p:sldId xmlns:r="http://schemas.openxmlformats.org/officeDocument/2006/relationships" id="260" r:id="Rcca6e4e416ab4b15"/>
    <p:sldId xmlns:r="http://schemas.openxmlformats.org/officeDocument/2006/relationships" id="261" r:id="R950f7c73b0854698"/>
    <p:sldId xmlns:r="http://schemas.openxmlformats.org/officeDocument/2006/relationships" id="262" r:id="R3cdfbed6db1248af"/>
    <p:sldId xmlns:r="http://schemas.openxmlformats.org/officeDocument/2006/relationships" id="263" r:id="R70e1df89794b4f7d"/>
    <p:sldId xmlns:r="http://schemas.openxmlformats.org/officeDocument/2006/relationships" id="264" r:id="R9b20bad75f85410c"/>
    <p:sldId xmlns:r="http://schemas.openxmlformats.org/officeDocument/2006/relationships" id="265" r:id="R622a98de7ec84c73"/>
    <p:sldId xmlns:r="http://schemas.openxmlformats.org/officeDocument/2006/relationships" id="266" r:id="R32b433a851294ade"/>
    <p:sldId xmlns:r="http://schemas.openxmlformats.org/officeDocument/2006/relationships" id="267" r:id="Rdd363cadc9ca4be7"/>
    <p:sldId xmlns:r="http://schemas.openxmlformats.org/officeDocument/2006/relationships" id="268" r:id="R6bbc11dbffed459e"/>
    <p:sldId xmlns:r="http://schemas.openxmlformats.org/officeDocument/2006/relationships" id="269" r:id="R0579ea71abdf48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371317c6c7470f" /><Relationship Type="http://schemas.openxmlformats.org/officeDocument/2006/relationships/slideMaster" Target="/ppt/slideMasters/slideMaster1.xml" Id="R9f1b36d94fe04497" /><Relationship Type="http://schemas.openxmlformats.org/officeDocument/2006/relationships/notesMaster" Target="/ppt/notesMasters/notesMaster1.xml" Id="R6bb2ffd53c8f4e22" /><Relationship Type="http://schemas.openxmlformats.org/officeDocument/2006/relationships/presProps" Target="/ppt/presProps.xml" Id="R90ddb1131cab4b38" /><Relationship Type="http://schemas.openxmlformats.org/officeDocument/2006/relationships/tableStyles" Target="/ppt/tableStyles.xml" Id="R7634200f30304634" /><Relationship Type="http://schemas.openxmlformats.org/officeDocument/2006/relationships/slide" Target="/ppt/slides/slide1.xml" Id="R2b64bd8c9a954ac7" /><Relationship Type="http://schemas.openxmlformats.org/officeDocument/2006/relationships/slide" Target="/ppt/slides/slide2.xml" Id="R99f25bf119df49ea" /><Relationship Type="http://schemas.openxmlformats.org/officeDocument/2006/relationships/slide" Target="/ppt/slides/slide3.xml" Id="R777caa8094dd4cec" /><Relationship Type="http://schemas.openxmlformats.org/officeDocument/2006/relationships/slide" Target="/ppt/slides/slide4.xml" Id="R43287bd3c32f4108" /><Relationship Type="http://schemas.openxmlformats.org/officeDocument/2006/relationships/slide" Target="/ppt/slides/slide5.xml" Id="Rcca6e4e416ab4b15" /><Relationship Type="http://schemas.openxmlformats.org/officeDocument/2006/relationships/slide" Target="/ppt/slides/slide6.xml" Id="R950f7c73b0854698" /><Relationship Type="http://schemas.openxmlformats.org/officeDocument/2006/relationships/slide" Target="/ppt/slides/slide7.xml" Id="R3cdfbed6db1248af" /><Relationship Type="http://schemas.openxmlformats.org/officeDocument/2006/relationships/slide" Target="/ppt/slides/slide8.xml" Id="R70e1df89794b4f7d" /><Relationship Type="http://schemas.openxmlformats.org/officeDocument/2006/relationships/slide" Target="/ppt/slides/slide9.xml" Id="R9b20bad75f85410c" /><Relationship Type="http://schemas.openxmlformats.org/officeDocument/2006/relationships/slide" Target="/ppt/slides/slide10.xml" Id="R622a98de7ec84c73" /><Relationship Type="http://schemas.openxmlformats.org/officeDocument/2006/relationships/slide" Target="/ppt/slides/slide11.xml" Id="R32b433a851294ade" /><Relationship Type="http://schemas.openxmlformats.org/officeDocument/2006/relationships/slide" Target="/ppt/slides/slide12.xml" Id="Rdd363cadc9ca4be7" /><Relationship Type="http://schemas.openxmlformats.org/officeDocument/2006/relationships/slide" Target="/ppt/slides/slide13.xml" Id="R6bbc11dbffed459e" /><Relationship Type="http://schemas.openxmlformats.org/officeDocument/2006/relationships/slide" Target="/ppt/slides/slide14.xml" Id="R0579ea71abdf48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f64f0f5a3e48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8d90f9c06a4fef" /><Relationship Type="http://schemas.openxmlformats.org/officeDocument/2006/relationships/notesMaster" Target="/ppt/notesMasters/notesMaster1.xml" Id="Re74919a793c149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a2a3cecfce4540" /><Relationship Type="http://schemas.openxmlformats.org/officeDocument/2006/relationships/notesMaster" Target="/ppt/notesMasters/notesMaster1.xml" Id="R160201a974d842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25efbc765c4279" /><Relationship Type="http://schemas.openxmlformats.org/officeDocument/2006/relationships/notesMaster" Target="/ppt/notesMasters/notesMaster1.xml" Id="R01520c9e4c5145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2c3f5e29a445f3" /><Relationship Type="http://schemas.openxmlformats.org/officeDocument/2006/relationships/notesMaster" Target="/ppt/notesMasters/notesMaster1.xml" Id="Re270255507f944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550f8e6035427a" /><Relationship Type="http://schemas.openxmlformats.org/officeDocument/2006/relationships/notesMaster" Target="/ppt/notesMasters/notesMaster1.xml" Id="Rf4c52bd2b0bb4c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37a7a5cc114dba" /><Relationship Type="http://schemas.openxmlformats.org/officeDocument/2006/relationships/notesMaster" Target="/ppt/notesMasters/notesMaster1.xml" Id="R459a5d0c8bd94e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9094c0532a4ace" /><Relationship Type="http://schemas.openxmlformats.org/officeDocument/2006/relationships/notesMaster" Target="/ppt/notesMasters/notesMaster1.xml" Id="R4a2f8e4c116648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0d3a8e59904565" /><Relationship Type="http://schemas.openxmlformats.org/officeDocument/2006/relationships/notesMaster" Target="/ppt/notesMasters/notesMaster1.xml" Id="Rccbd56d95cb845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d0fcfc015048b4" /><Relationship Type="http://schemas.openxmlformats.org/officeDocument/2006/relationships/notesMaster" Target="/ppt/notesMasters/notesMaster1.xml" Id="Rf06ca96396aa4d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593bd142674aa6" /><Relationship Type="http://schemas.openxmlformats.org/officeDocument/2006/relationships/notesMaster" Target="/ppt/notesMasters/notesMaster1.xml" Id="R4035633537024d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60fdc2dca04909" /><Relationship Type="http://schemas.openxmlformats.org/officeDocument/2006/relationships/notesMaster" Target="/ppt/notesMasters/notesMaster1.xml" Id="Raa82f7eee8d048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9e574a824d4164" /><Relationship Type="http://schemas.openxmlformats.org/officeDocument/2006/relationships/notesMaster" Target="/ppt/notesMasters/notesMaster1.xml" Id="R2b47ee06e2c54a4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0b786b8ef4049f3" /><Relationship Type="http://schemas.openxmlformats.org/officeDocument/2006/relationships/notesMaster" Target="/ppt/notesMasters/notesMaster1.xml" Id="Reaafdb34f05a42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7864b38d084ee1" /><Relationship Type="http://schemas.openxmlformats.org/officeDocument/2006/relationships/notesMaster" Target="/ppt/notesMasters/notesMaster1.xml" Id="R5cd266359e4a4f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https://github.com/hu-herrera/financiera-pacifico-entrega-docente/blob/main/01_Informe_Diagnostico_Propuesta.pdf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  <a:p xmlns:a="http://schemas.openxmlformats.org/drawingml/2006/main">
            <a:r>
              <a:t>Cierre documental 27/10/2026. Verificación pública: https://github.com/hu-herrera/financiera-pacifico-entrega-docente/blob/main/Anexos/Evidencia_Pruebas_27_oct_2026.md. Las 30 pruebas de modelo incluyen la matriz WAN, recuperación e inventario. Los 16 casos de interfaz tienen ejecución y resultado identificados por SHA en ese anexo. No se suman con las pasadas históricas ni certifican hardware.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https://github.com/hu-herrera/financiera-pacifico-entrega-docente/blob/main/02_Entregables/Entregable_6.pdf y https://github.com/hu-herrera/financiera-pacifico-entrega-docente/blob/main/03_Bitacora.pdf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https://github.com/hu-herrera/financiera-pacifico-entrega-docente/blob/main/00_Caso_Oficial.pdf y https://github.com/hu-herrera/financiera-pacifico-entrega-docente/blob/main/01_Informe_Diagnostico_Propuesta.pdf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https://github.com/hu-herrera/financiera-pacifico-entrega-docente/blob/main/02_Entregables/Entregable_1.pdf y https://github.com/hu-herrera/financiera-pacifico-entrega-docente/blob/main/02_Entregables/Entregable_3.pdf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https://github.com/hu-herrera/financiera-pacifico-entrega-docente/blob/main/02_Entregables/Entregable_3.pdf. Extracto del plano S06, alternativa B, Anexos/Topologias_ANTES_A_B.pdf.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https://github.com/hu-herrera/financiera-pacifico-entrega-docente/blob/main/02_Entregables/Entregable_2.pdf y https://github.com/hu-herrera/financiera-pacifico-entrega-docente/blob/main/02_Entregables/Entregable_7.pdf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https://github.com/hu-herrera/financiera-pacifico-entrega-docente/blob/main/02_Entregables/Entregable_4.pdf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 y https://github.com/hu-herrera/financiera-pacifico-entrega-docente/blob/main/02_Entregables/Entregable_4.pdf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https://github.com/hu-herrera/financiera-pacifico-entrega-docente/blob/main/02_Entregables/Entregable_5.pdf y https://github.com/hu-herrera/financiera-pacifico-entrega-docente/blob/main/02_Entregables/Entregable_6.pdf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https://github.com/hu-herrera/financiera-pacifico-entrega-docente/blob/main/02_Entregables/Entregable_6.pdf. Commit de red 228ec2674d2b784b4cb67dab1128e969f681d3aa.</a:t>
            </a:r>
          </a:p>
          <a:p xmlns:a="http://schemas.openxmlformats.org/drawingml/2006/main">
            <a:r>
              <a:t>Actualización del 25/10: https://github.com/hu-herrera/financiera-pacifico-entrega-docente/blob/main/Anexos/Cierre_25_oct_2026.md. Los resultados de 93 Node y 151 navegador tienen cortes y alcances separados. La admisión de video es política propuesta, sin control automático de una aplicación real.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  <a:p xmlns:a="http://schemas.openxmlformats.org/drawingml/2006/main">
            <a:r>
              <a:t>Cierre documental 27/10/2026. Verificación pública: https://github.com/hu-herrera/financiera-pacifico-entrega-docente/blob/main/Anexos/Evidencia_Pruebas_27_oct_2026.md. Las 30 pruebas de modelo incluyen la matriz WAN, recuperación e inventario. Los 16 casos de interfaz tienen ejecución y resultado identificados por SHA en ese anexo. No se suman con las pasadas históricas ni certifican hardware.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https://github.com/hu-herrera/financiera-pacifico-entrega-docente/blob/main/02_Entregables/Entregable_7.pdf y Anexos/Presupuesto_Inventario.xlsx.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https://github.com/hu-herrera/financiera-pacifico-entrega-docente/blob/main/02_Entregables/Entregable_3.pdf, https://github.com/hu-herrera/financiera-pacifico-entrega-docente/blob/main/02_Entregables/Entregable_7.pdf y solicitud de distribuidores de otra marca en ambas opciones.</a:t>
            </a:r>
          </a:p>
          <a:p xmlns:a="http://schemas.openxmlformats.org/drawingml/2006/main">
            <a:r>
              <a:t>Actualización del 25/10: https://github.com/hu-herrera/financiera-pacifico-entrega-docente/blob/main/Anexos/Cierre_25_oct_2026.md. Los resultados de 93 Node y 151 navegador tienen cortes y alcances separados. La admisión de video es política propuesta, sin control automático de una aplicación real.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https://github.com/hu-herrera/financiera-pacifico-entrega-docente/blob/main/02_Entregables/Entregable_7.pdf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Aviso docente recibido el 23/10/2026: video y PPT por AVA, plazo viernes 30/10/2026. Fechas intermedias propuestas para organizar el trabajo.</a:t>
            </a:r>
          </a:p>
          <a:p xmlns:a="http://schemas.openxmlformats.org/drawingml/2006/main">
            <a:r>
              <a:t>Revisión WAN-3: cuatro transportes en central y sucursales. Fuente: https://github.com/hu-herrera/financiera-pacifico-entrega-docente/blob/main/Anexos/Continuidad_Cuatro_WAN_25_oct_2026.md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0b1b4413664e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73ce92a56c41e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9f97609def47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42e8ce54c45a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2bf802e15409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a15831fc045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3f1f432d0c4ea9" /><Relationship Type="http://schemas.openxmlformats.org/officeDocument/2006/relationships/slideLayout" Target="/ppt/slideLayouts/slideLayout1.xml" Id="R2ef964131fab4995" /><Relationship Type="http://schemas.openxmlformats.org/officeDocument/2006/relationships/slideLayout" Target="/ppt/slideLayouts/slideLayout2.xml" Id="Reae22f9b6c53488a" /><Relationship Type="http://schemas.openxmlformats.org/officeDocument/2006/relationships/slideLayout" Target="/ppt/slideLayouts/slideLayout3.xml" Id="R28ddd3462d854559" /><Relationship Type="http://schemas.openxmlformats.org/officeDocument/2006/relationships/slideLayout" Target="/ppt/slideLayouts/slideLayout4.xml" Id="Rf989c59553864179" /><Relationship Type="http://schemas.openxmlformats.org/officeDocument/2006/relationships/slideLayout" Target="/ppt/slideLayouts/slideLayout5.xml" Id="Ra6a4ef02936b40d1" /><Relationship Type="http://schemas.openxmlformats.org/officeDocument/2006/relationships/slideLayout" Target="/ppt/slideLayouts/slideLayout6.xml" Id="R76e6133889324e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f964131fab4995"/>
    <p:sldLayoutId xmlns:r="http://schemas.openxmlformats.org/officeDocument/2006/relationships" id="2147483650" r:id="Reae22f9b6c53488a"/>
    <p:sldLayoutId xmlns:r="http://schemas.openxmlformats.org/officeDocument/2006/relationships" id="2147483651" r:id="R28ddd3462d854559"/>
    <p:sldLayoutId xmlns:r="http://schemas.openxmlformats.org/officeDocument/2006/relationships" id="2147483652" r:id="Rf989c59553864179"/>
    <p:sldLayoutId xmlns:r="http://schemas.openxmlformats.org/officeDocument/2006/relationships" id="2147483653" r:id="Ra6a4ef02936b40d1"/>
    <p:sldLayoutId xmlns:r="http://schemas.openxmlformats.org/officeDocument/2006/relationships" id="2147483654" r:id="R76e6133889324e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ff843bda0647f5" /><Relationship Type="http://schemas.openxmlformats.org/officeDocument/2006/relationships/notesSlide" Target="/ppt/notesSlides/notesSlide1.xml" Id="R197cf7f373de4a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86b6bbcdf4ac0" /><Relationship Type="http://schemas.openxmlformats.org/officeDocument/2006/relationships/notesSlide" Target="/ppt/notesSlides/notesSlide2.xml" Id="Rf1762f44fc1649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30c44d4e35408f" /><Relationship Type="http://schemas.openxmlformats.org/officeDocument/2006/relationships/notesSlide" Target="/ppt/notesSlides/notesSlide3.xml" Id="R9ebd55061cc643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5f11824cbc4a06" /><Relationship Type="http://schemas.openxmlformats.org/officeDocument/2006/relationships/notesSlide" Target="/ppt/notesSlides/notesSlide4.xml" Id="R7cf398b9c0d341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fdf9688a3f44b5" /><Relationship Type="http://schemas.openxmlformats.org/officeDocument/2006/relationships/image" Target="/ppt/media/image.png" Id="Re1186f7c508c4aa8" /><Relationship Type="http://schemas.openxmlformats.org/officeDocument/2006/relationships/notesSlide" Target="/ppt/notesSlides/notesSlide5.xml" Id="R675440667f5741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e2d921b07a468d" /><Relationship Type="http://schemas.openxmlformats.org/officeDocument/2006/relationships/notesSlide" Target="/ppt/notesSlides/notesSlide6.xml" Id="R49279d84dc4849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5ad2cbf53f4864" /><Relationship Type="http://schemas.openxmlformats.org/officeDocument/2006/relationships/notesSlide" Target="/ppt/notesSlides/notesSlide7.xml" Id="Rae40c7c06af04f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505e36ed984e5c" /><Relationship Type="http://schemas.openxmlformats.org/officeDocument/2006/relationships/notesSlide" Target="/ppt/notesSlides/notesSlide8.xml" Id="Rdfda39a189c641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0003494474257" /><Relationship Type="http://schemas.openxmlformats.org/officeDocument/2006/relationships/hyperlink" Target="https://hu-herrera.github.io/fina/" TargetMode="External" Id="Rb2294dfe434949fb" /><Relationship Type="http://schemas.openxmlformats.org/officeDocument/2006/relationships/notesSlide" Target="/ppt/notesSlides/notesSlide9.xml" Id="R338f0fa3e6534d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64e05fe6494e94" /><Relationship Type="http://schemas.openxmlformats.org/officeDocument/2006/relationships/notesSlide" Target="/ppt/notesSlides/notesSlide10.xml" Id="R2fa237b56f2d47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5af76336b145c8" /><Relationship Type="http://schemas.openxmlformats.org/officeDocument/2006/relationships/notesSlide" Target="/ppt/notesSlides/notesSlide11.xml" Id="R8682d2acb8d54b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ed03ead2284bfa" /><Relationship Type="http://schemas.openxmlformats.org/officeDocument/2006/relationships/notesSlide" Target="/ppt/notesSlides/notesSlide12.xml" Id="R4d4ebbe63f4b49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1fea5a1e3b423a" /><Relationship Type="http://schemas.openxmlformats.org/officeDocument/2006/relationships/notesSlide" Target="/ppt/notesSlides/notesSlide13.xml" Id="R1439c467746744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dd03cc756442f1" /><Relationship Type="http://schemas.openxmlformats.org/officeDocument/2006/relationships/notesSlide" Target="/ppt/notesSlides/notesSlide14.xml" Id="Rfdc6411bee494d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10C233B5-9DDC-4683-9997-EDF895CE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CE3486B-E8DB-459E-AB43-210D30C5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F082752-0A06-44DB-8B28-6BAFFB70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287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Continuidad y seguridad</a:t>
            </a:r>
          </a:p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entre sucursales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502132F-AB64-4B90-9693-E7B310FB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rPr>
              <a:t>Avance Capstone al 27 de octubre de 2026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51557CB-D290-4D86-9D77-7B2928DB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Hugo Eduardo Herrera Inostroza</a:t>
            </a:r>
          </a:p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Proyecto de Título APT</a:t>
            </a:r>
          </a:p>
        </p:txBody>
      </p:sp>
    </p:spTree>
    <p:extLst>
      <p:ext uri="{BB962C8B-B14F-4D97-AF65-F5344CB8AC3E}">
        <p14:creationId xmlns:p14="http://schemas.microsoft.com/office/powerpoint/2010/main" val="1578053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A4464EB4-9F0D-4D9D-984C-A362AAD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Estado actual del proyecto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F3D0EC9-5E26-4ED1-9AD6-6141FF65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7205840-C11A-4F2E-A349-501AFDF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519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Prototipo implementado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11B92CC-326B-4EEE-AE03-DDEC560F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Simulador web con ANTES y rediseño A/B.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Dispositivos con modelo, IP, VLAN, interfaces y puertos.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BBF4EC9-2AA4-4F07-9DB9-600345E4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28775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Documentación consolidada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102EE6D-B0D7-40CE-974F-74B28EA2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Caso, diagnóstico y propuesta, entregables 1–7, bitácora y anexos.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Inventario y costos conciliados por alternativa.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69C443B-0F2F-4658-8A37-31373C6D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81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Pruebas de caminos, políticas de acceso y fallas registradas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2FEB201-C350-482D-92A6-DD5F234E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Pendientes de esta entrega: grabación y revisión del video, envío de video y PPT por AVA.</a:t>
            </a:r>
          </a:p>
        </p:txBody>
      </p:sp>
    </p:spTree>
    <p:extLst>
      <p:ext uri="{BB962C8B-B14F-4D97-AF65-F5344CB8AC3E}">
        <p14:creationId xmlns:p14="http://schemas.microsoft.com/office/powerpoint/2010/main" val="672301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AC9DA80F-C300-4939-8D0B-CECB5257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Alcance oficial y escenario adoptado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8B20E09-0F2F-4D75-8505-ED42E477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A10B46E-4642-4E5B-9C16-C8562F44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Ficha oficial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DAEBF1F-74DF-40BB-8662-415F2C29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780 trabajadores y unos 650 usuarios 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22 sedes: Casa Matriz y 21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Problema: falta de contingencia remota y cambios manuales.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929D680-EF56-49F5-BE4E-55FC4FB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Adaptación del proyecto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DECEA33-B2C8-4391-80D0-35DE1A58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6692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23 sedes: Casa Matriz y 22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650 PCs y 650 teléfonos existentes adoptados como inventario.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Seis futuras aperturas con presupuesto separado.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55BCB47-CC8B-4430-8997-CF187B10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Modelos, carga, direccionamiento y condiciones comerciales son supuestos explícitos del caso ficticio.</a:t>
            </a:r>
          </a:p>
        </p:txBody>
      </p:sp>
    </p:spTree>
    <p:extLst>
      <p:ext uri="{BB962C8B-B14F-4D97-AF65-F5344CB8AC3E}">
        <p14:creationId xmlns:p14="http://schemas.microsoft.com/office/powerpoint/2010/main" val="5716691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65C969E9-7E24-43F4-9F3D-1541EA4D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Diagnóstico de la red anterior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23105E-659B-4255-986E-063D1AAB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B11CB-B044-47FF-BF99-45F8DFD85DBA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5734050"/>
              </a:tblGrid>
              <a:tr h="9263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adoptada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Consecuencia de una falla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Sucursal: un router, un switch y un MPLS de 100 Mbps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Puede perder acceso a aplicación financiera y telefonía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Central: dos MPLS de 1 Gbps, dos ISP de 500 Mbps y un firewall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Hay redundancia de enlaces, pero el firewall sigue siendo único.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DC-01 con aplicación/BD y DC-02 con voz/servicios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Los roles separados no recuperan automáticamente una VM en el otro host.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613C4B0-A5C1-475D-B0F4-684DCAF9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100 Mbps cubren la carga normal calculada de unos 26,4 Mbps en una sucursal de 30 puestos.</a:t>
            </a:r>
          </a:p>
        </p:txBody>
      </p:sp>
    </p:spTree>
    <p:extLst>
      <p:ext uri="{BB962C8B-B14F-4D97-AF65-F5344CB8AC3E}">
        <p14:creationId xmlns:p14="http://schemas.microsoft.com/office/powerpoint/2010/main" val="9563738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318142DD-5E09-4FF5-A23C-BDAAC46E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Arquitectura de una sucursal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60EBB74-998D-410F-BDF6-37B68EF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B58CC-0121-42BD-9454-BE54504038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86f7c508c4aa8"/>
          <a:stretch xmlns:a="http://schemas.openxmlformats.org/drawingml/2006/main"/>
        </p:blipFill>
        <p:spPr>
          <a:xfrm xmlns:a="http://schemas.openxmlformats.org/drawingml/2006/main">
            <a:off x="1723159" y="1476375"/>
            <a:ext cx="8745682" cy="384810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F3FCFA-A0E6-451F-8295-D0D58979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71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transportes y dos dominios WAN independientes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B7EB25AB-AE7D-4314-BF59-0080EF98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VPN hacia el par de firewalls de Casa Matriz. La navegación sale inspeccionada por central.</a:t>
            </a:r>
          </a:p>
        </p:txBody>
      </p:sp>
    </p:spTree>
    <p:extLst>
      <p:ext uri="{BB962C8B-B14F-4D97-AF65-F5344CB8AC3E}">
        <p14:creationId xmlns:p14="http://schemas.microsoft.com/office/powerpoint/2010/main" val="969651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B503FEEB-1584-451B-B7C1-D2ECB0CF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Alternativas de equipamiento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572C7A-2BA2-4F8A-9255-FC7AEF8A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59EB0-37C5-4552-A690-DEA74CEEB0CC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238625"/>
                <a:gridCol w="4210050"/>
              </a:tblGrid>
              <a:tr h="7905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A: Cisco / Palo Alto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B: MikroTik / OPNsense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C1121X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 reutilizados y 37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CCR2004 y 2 RB5009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Switches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C9200L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 reutilizados y 27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CRS328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Firewalls centrales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PA-1410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DEC3852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Distribución WAN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48770BC2-9BCD-49FE-B907-D140BA72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Ambas conservan 2 C9200L centrales, PCs, teléfonos y hosts existentes. B usa LACP/RSTP/VRRP, sin StackWise.</a:t>
            </a:r>
          </a:p>
        </p:txBody>
      </p:sp>
    </p:spTree>
    <p:extLst>
      <p:ext uri="{BB962C8B-B14F-4D97-AF65-F5344CB8AC3E}">
        <p14:creationId xmlns:p14="http://schemas.microsoft.com/office/powerpoint/2010/main" val="581809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54799513-7A3D-4348-B658-34F05001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Segmentación y permisos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916F03B-48F4-4883-B911-0003EC8E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01F32-475C-4087-A488-F935E64134B2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524250"/>
                <a:gridCol w="4495800"/>
              </a:tblGrid>
              <a:tr h="8001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Segmento o servicio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Dirección de ejemplo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Política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S06, VLAN 10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10.70.6.0/25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Gateway 10.70.6.1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Usuarios acceden a APP por HTTPS.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y BD, VLAN 50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10.70.200.10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BD 10.70.200.11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TCP 443 a APP. TCP 5432 a BD solo desde APP.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Voz, VLAN 20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PBX 10.70.200.20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Señalización TLS 5061 y medios autorizados.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/ gestión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VLAN 40 / VLAN 130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aislados. Administración desde NOC.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088E488D-964E-4335-8B21-E49B1DF2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Las VLAN son locales. Sus subredes IP se enrutan por IPsec. APP/BD requieren también filtros de host.</a:t>
            </a:r>
          </a:p>
        </p:txBody>
      </p:sp>
    </p:spTree>
    <p:extLst>
      <p:ext uri="{BB962C8B-B14F-4D97-AF65-F5344CB8AC3E}">
        <p14:creationId xmlns:p14="http://schemas.microsoft.com/office/powerpoint/2010/main" val="17461629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27886E3-7B5C-4B4C-89D2-5EC10D58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Alta disponibilidad de los servicios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BF3DB2A-3E08-47FF-8270-3259FF4D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51DD794-8DCF-4AA7-86A1-32D35A14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Recuperación entre dos hosts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F490D54-9642-4B8E-8B42-DCB1082E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DC-01 y DC-02 conservan los Dell R740.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DC-02 aumenta a 64 GiB y 3.840 GB útiles. Ambos hosts conectan a los dos switches.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5F0578B-B712-42EB-BEB7-226871E1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4305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Condiciones de recuperación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636CD48-5BD6-4395-8F38-0C9FF24D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Réplica ZFS utilizable, testigo en BKP y dos de tres votos.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Aislamiento del host fallado antes de reiniciar las VMs en el superviviente.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9385689-DA2F-4377-8FD1-0384FEB5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Metas: pérdida de datos ≤60 s y recuperación ≤300 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238FC74-7C06-493A-843E-B7E4785C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RPO y recuperación son objetivos del diseño. El modelo no garantiza sesiones ni recuperación ante pérdida de toda CM.</a:t>
            </a:r>
          </a:p>
        </p:txBody>
      </p:sp>
    </p:spTree>
    <p:extLst>
      <p:ext uri="{BB962C8B-B14F-4D97-AF65-F5344CB8AC3E}">
        <p14:creationId xmlns:p14="http://schemas.microsoft.com/office/powerpoint/2010/main" val="11928921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064DFD7-B409-4E4B-AE30-7425D02A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Demostración del prototipo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77155C4-8753-499C-A5FC-B6C6FF4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AA30C-62B4-4DED-85CE-8A935022B5CE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4008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Escenario implementado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Comportamiento comprobable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ANTES: cortar el MPLS de S06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sucursal pierde su único camino hacia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DESPUÉS: cortar transporte o router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 selecciona otro camino cuando sus dependencias están 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Acceso a 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permitida, BD restringida e invitados sin acceso interno.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Caída de host o central completa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Recuperación condicionada del host. CM completa caída deja servicios indisponibles.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1037176-034C-4E05-BA7F-8E5A0EE9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b2294dfe434949fb"/>
              </a:rPr>
              <a:t>Abrir simulador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EE3AE0C-E48E-4659-B48E-3AAB87D7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animación y las pruebas del navegador representan la lógica del modelo. El video de demostración está pendiente.</a:t>
            </a:r>
          </a:p>
        </p:txBody>
      </p:sp>
    </p:spTree>
    <p:extLst>
      <p:ext uri="{BB962C8B-B14F-4D97-AF65-F5344CB8AC3E}">
        <p14:creationId xmlns:p14="http://schemas.microsoft.com/office/powerpoint/2010/main" val="13961558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C2A51BF8-B013-42EC-B64E-D69CAC86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Evidencia y límites de los resultados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3742027-275A-4073-8720-EAC4C645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3DA6D02-ECE0-4928-8B20-02A9A9EB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30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914D401-62FC-43D1-9DB5-07B36758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públicas de modelo aprobadas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93068BE-625C-45FB-9444-B09AF9FD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765DC43-037D-4B95-B599-3EDF46A7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62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casos de interfaz publicados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E283F77-C0A4-41F5-B43C-105FCC7A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9.900 combinaciones WAN dentro de las pruebas de modelo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8DB7A137-EAC3-4D55-9E86-A1F609F1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Los registros históricos tienen cortes distintos.</a:t>
            </a:r>
          </a:p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Los resultados por SHA están en el anexo público de evidencia.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EEAD08A1-C3F9-49BE-A470-17E8D767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99,99 % core y 99,95 % sucursal son metas anuales. El mapa muestra conectividad del escenario, no disponibilidad medida.</a:t>
            </a:r>
          </a:p>
        </p:txBody>
      </p:sp>
    </p:spTree>
    <p:extLst>
      <p:ext uri="{BB962C8B-B14F-4D97-AF65-F5344CB8AC3E}">
        <p14:creationId xmlns:p14="http://schemas.microsoft.com/office/powerpoint/2010/main" val="7020760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3659B90-63F0-433C-B384-B228C33C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Presupuesto del alcance a cinco años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3D3AB8D-C88A-4311-9007-94A4C7B3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F6D45-E115-44AD-84B4-73BE26B149CF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86300"/>
                <a:gridCol w="3143250"/>
                <a:gridCol w="314325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 con IVA supuesto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B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793.126.897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281.194.478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por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660.607.380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660.607.380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operativa por 5 años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del alcance a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1.503.734.277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966.801.858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6D9DA5B-54C5-482C-A550-64E8529D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Ambas superan la referencia original de CLP 160 millones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6169EE3-4C58-432B-9760-C22A7A2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Incluye el inicial una vez. WAN común: CLP </a:t>
            </a: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11.010.123</a:t>
            </a: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/mes. Valores referenciales, no contratos ni compras ejecutadas.</a:t>
            </a:r>
          </a:p>
        </p:txBody>
      </p:sp>
    </p:spTree>
    <p:extLst>
      <p:ext uri="{BB962C8B-B14F-4D97-AF65-F5344CB8AC3E}">
        <p14:creationId xmlns:p14="http://schemas.microsoft.com/office/powerpoint/2010/main" val="2623377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6DF6B4EA-8FD5-46D4-AD2C-1E04282F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Revisión final y límites del diseño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C9C7C00-F39A-4DF8-A6F8-FA995BDF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11ABEFA-822F-4AA3-ABE2-F7E34FA8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accesos de extremo a extremo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8776B12-3345-4857-A9C7-FE0D087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Casa Matriz también tiene Starlink, Leo, Entel y WOM. El diseño conserva camino con un acceso disponible en cada extremo, incluso de distinto proveedor.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5930B70-6D0D-4458-A33A-69EB9455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Capacidad de central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A6F7C28-F113-495F-B4C3-FE987683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Política del diseño: hasta 30 terminales remotos y 3 en CM con video. Subida calculada: 966 de 1.000 Mbps. En contingencia se suspende el video.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5D1EDDE-6CD2-41D2-9CF6-4FEAE645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Supuestos comerciales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FCDF9ED-0BE1-44FC-824E-3AE051AE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Leo, cobertura en sedes extremas, caudales y descuentos pertenecen al escenario ficticio. La comparación económica debe conservar esas condiciones visibles.</a:t>
            </a:r>
          </a:p>
        </p:txBody>
      </p:sp>
    </p:spTree>
    <p:extLst>
      <p:ext uri="{BB962C8B-B14F-4D97-AF65-F5344CB8AC3E}">
        <p14:creationId xmlns:p14="http://schemas.microsoft.com/office/powerpoint/2010/main" val="134550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5CDC38B-9FAE-46F9-9918-AA693946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implantación de la propuesta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D767768-4107-45E1-99C6-4236D1D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96B85-5EB4-4B77-8C42-026C980E2BBC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8858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Periodo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 prevista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1: doce semanas de implantación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Piloto CM/S01, tres olas de seis sucursales y cierre de S20/S21/S22. Mantener MPLS transitorio hasta aceptación.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Años 2–4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Operación, parches, revisión de capacidad, ejercicios de restauración y mantenimiento.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5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Evaluación de indicadores y plan de renovación del siguiente ciclo.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AD99BF4-D821-49A9-ADA3-AD188291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Plan de una implementación hipotética. Las seis aperturas futuras requieren su propia fase y presupuesto.</a:t>
            </a:r>
          </a:p>
        </p:txBody>
      </p:sp>
    </p:spTree>
    <p:extLst>
      <p:ext uri="{BB962C8B-B14F-4D97-AF65-F5344CB8AC3E}">
        <p14:creationId xmlns:p14="http://schemas.microsoft.com/office/powerpoint/2010/main" val="2798159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7F0AC76-9E38-4C29-BA48-3400BB4E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entrega al 30 de octubre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EE9687B-3EBB-4A9F-BBC6-1D6DD56A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30422-4A1E-46E7-819B-0484007EF0C4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683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 propuesta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 esperado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23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Repositorio docente y PowerPoint de avance preparados.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24–25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Cambio WAN de A cerrado. Revisar el recorrido de la grabación.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26–28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Grabar el video con la demostración del simulador.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29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Revisar audio, legibilidad y coherencia entre video y PPT.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Viernes 30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Enviar ambos archivos por AVA y comprobar la recepción.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D1069FF-3C94-49DD-AA0C-5442E4E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entrega revisa avances reales. La grabación y el envío por AVA aún no se han realizado.</a:t>
            </a:r>
          </a:p>
        </p:txBody>
      </p:sp>
    </p:spTree>
    <p:extLst>
      <p:ext uri="{BB962C8B-B14F-4D97-AF65-F5344CB8AC3E}">
        <p14:creationId xmlns:p14="http://schemas.microsoft.com/office/powerpoint/2010/main" val="19775423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2026-10-27T23:20:01.1710000Z</dcterms:created>
  <dcterms:modified xsi:type="dcterms:W3CDTF">2026-10-27T23:20:01.1710000Z</dcterms:modified>
</coreProperties>
</file>