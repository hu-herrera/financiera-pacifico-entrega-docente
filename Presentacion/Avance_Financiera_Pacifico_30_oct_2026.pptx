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c40026e2584c4c" /><Relationship Type="http://schemas.openxmlformats.org/officeDocument/2006/relationships/extended-properties" Target="/docProps/app.xml" Id="R090ca4ce9c184ddc" /><Relationship Type="http://schemas.openxmlformats.org/officeDocument/2006/relationships/officeDocument" Target="/ppt/presentation.xml" Id="R6e591de2fbe040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f694a1267b4e9f"/>
  </p:sldMasterIdLst>
  <p:notesMasterIdLst>
    <p:notesMasterId xmlns:r="http://schemas.openxmlformats.org/officeDocument/2006/relationships" r:id="R036b62ef53074137"/>
  </p:notesMasterIdLst>
  <p:sldIdLst>
    <p:sldId xmlns:r="http://schemas.openxmlformats.org/officeDocument/2006/relationships" id="256" r:id="R28348abfcc02438c"/>
    <p:sldId xmlns:r="http://schemas.openxmlformats.org/officeDocument/2006/relationships" id="257" r:id="Rd114121f39c64dd7"/>
    <p:sldId xmlns:r="http://schemas.openxmlformats.org/officeDocument/2006/relationships" id="258" r:id="Rcc3b089c93854733"/>
    <p:sldId xmlns:r="http://schemas.openxmlformats.org/officeDocument/2006/relationships" id="259" r:id="R377019ac3782431a"/>
    <p:sldId xmlns:r="http://schemas.openxmlformats.org/officeDocument/2006/relationships" id="260" r:id="Rcb357d0db9124e4f"/>
    <p:sldId xmlns:r="http://schemas.openxmlformats.org/officeDocument/2006/relationships" id="261" r:id="R9ce8df91c2c94dd9"/>
    <p:sldId xmlns:r="http://schemas.openxmlformats.org/officeDocument/2006/relationships" id="262" r:id="R92a3fb970e5547ff"/>
    <p:sldId xmlns:r="http://schemas.openxmlformats.org/officeDocument/2006/relationships" id="263" r:id="Rc40eeaf135f14153"/>
    <p:sldId xmlns:r="http://schemas.openxmlformats.org/officeDocument/2006/relationships" id="264" r:id="R47589fe4a92e4971"/>
    <p:sldId xmlns:r="http://schemas.openxmlformats.org/officeDocument/2006/relationships" id="265" r:id="R7112d9fe97f9425a"/>
    <p:sldId xmlns:r="http://schemas.openxmlformats.org/officeDocument/2006/relationships" id="266" r:id="Rb007af21902e42f8"/>
    <p:sldId xmlns:r="http://schemas.openxmlformats.org/officeDocument/2006/relationships" id="267" r:id="R5e19e5b04c684532"/>
    <p:sldId xmlns:r="http://schemas.openxmlformats.org/officeDocument/2006/relationships" id="268" r:id="R5fc50320a2ca435d"/>
    <p:sldId xmlns:r="http://schemas.openxmlformats.org/officeDocument/2006/relationships" id="269" r:id="Rfb8e495ca97148eb"/>
    <p:sldId xmlns:r="http://schemas.openxmlformats.org/officeDocument/2006/relationships" id="270" r:id="Re0578db8e86d4b2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1ef5aebeba4b64" /><Relationship Type="http://schemas.openxmlformats.org/officeDocument/2006/relationships/slideMaster" Target="/ppt/slideMasters/slideMaster1.xml" Id="R53f694a1267b4e9f" /><Relationship Type="http://schemas.openxmlformats.org/officeDocument/2006/relationships/notesMaster" Target="/ppt/notesMasters/notesMaster1.xml" Id="R036b62ef53074137" /><Relationship Type="http://schemas.openxmlformats.org/officeDocument/2006/relationships/presProps" Target="/ppt/presProps.xml" Id="Rf5b9e2c48c554ca1" /><Relationship Type="http://schemas.openxmlformats.org/officeDocument/2006/relationships/tableStyles" Target="/ppt/tableStyles.xml" Id="R2d332db26da447f2" /><Relationship Type="http://schemas.openxmlformats.org/officeDocument/2006/relationships/slide" Target="/ppt/slides/slide1.xml" Id="R28348abfcc02438c" /><Relationship Type="http://schemas.openxmlformats.org/officeDocument/2006/relationships/slide" Target="/ppt/slides/slide2.xml" Id="Rd114121f39c64dd7" /><Relationship Type="http://schemas.openxmlformats.org/officeDocument/2006/relationships/slide" Target="/ppt/slides/slide3.xml" Id="Rcc3b089c93854733" /><Relationship Type="http://schemas.openxmlformats.org/officeDocument/2006/relationships/slide" Target="/ppt/slides/slide4.xml" Id="R377019ac3782431a" /><Relationship Type="http://schemas.openxmlformats.org/officeDocument/2006/relationships/slide" Target="/ppt/slides/slide5.xml" Id="Rcb357d0db9124e4f" /><Relationship Type="http://schemas.openxmlformats.org/officeDocument/2006/relationships/slide" Target="/ppt/slides/slide6.xml" Id="R9ce8df91c2c94dd9" /><Relationship Type="http://schemas.openxmlformats.org/officeDocument/2006/relationships/slide" Target="/ppt/slides/slide7.xml" Id="R92a3fb970e5547ff" /><Relationship Type="http://schemas.openxmlformats.org/officeDocument/2006/relationships/slide" Target="/ppt/slides/slide8.xml" Id="Rc40eeaf135f14153" /><Relationship Type="http://schemas.openxmlformats.org/officeDocument/2006/relationships/slide" Target="/ppt/slides/slide9.xml" Id="R47589fe4a92e4971" /><Relationship Type="http://schemas.openxmlformats.org/officeDocument/2006/relationships/slide" Target="/ppt/slides/slide10.xml" Id="R7112d9fe97f9425a" /><Relationship Type="http://schemas.openxmlformats.org/officeDocument/2006/relationships/slide" Target="/ppt/slides/slide11.xml" Id="Rb007af21902e42f8" /><Relationship Type="http://schemas.openxmlformats.org/officeDocument/2006/relationships/slide" Target="/ppt/slides/slide12.xml" Id="R5e19e5b04c684532" /><Relationship Type="http://schemas.openxmlformats.org/officeDocument/2006/relationships/slide" Target="/ppt/slides/slide13.xml" Id="R5fc50320a2ca435d" /><Relationship Type="http://schemas.openxmlformats.org/officeDocument/2006/relationships/slide" Target="/ppt/slides/slide14.xml" Id="Rfb8e495ca97148eb" /><Relationship Type="http://schemas.openxmlformats.org/officeDocument/2006/relationships/slide" Target="/ppt/slides/slide15.xml" Id="Re0578db8e86d4b2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83f51256b447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eaa172532f4ab5" /><Relationship Type="http://schemas.openxmlformats.org/officeDocument/2006/relationships/notesMaster" Target="/ppt/notesMasters/notesMaster1.xml" Id="R86601eb4c1f24d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2518abfe5a475b" /><Relationship Type="http://schemas.openxmlformats.org/officeDocument/2006/relationships/notesMaster" Target="/ppt/notesMasters/notesMaster1.xml" Id="Rb8de0eddd0de4b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25a272518345c6" /><Relationship Type="http://schemas.openxmlformats.org/officeDocument/2006/relationships/notesMaster" Target="/ppt/notesMasters/notesMaster1.xml" Id="R974292722dfe41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54d0e9ea8e440f" /><Relationship Type="http://schemas.openxmlformats.org/officeDocument/2006/relationships/notesMaster" Target="/ppt/notesMasters/notesMaster1.xml" Id="R52ce81d4c90b41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0724bd501b54b9b" /><Relationship Type="http://schemas.openxmlformats.org/officeDocument/2006/relationships/notesMaster" Target="/ppt/notesMasters/notesMaster1.xml" Id="R821637c0983f4c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00b97c9f684232" /><Relationship Type="http://schemas.openxmlformats.org/officeDocument/2006/relationships/notesMaster" Target="/ppt/notesMasters/notesMaster1.xml" Id="R722b1e1c8fee433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9a94d911f134359" /><Relationship Type="http://schemas.openxmlformats.org/officeDocument/2006/relationships/notesMaster" Target="/ppt/notesMasters/notesMaster1.xml" Id="Rdf2c87ac435342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097719eb174f27" /><Relationship Type="http://schemas.openxmlformats.org/officeDocument/2006/relationships/notesMaster" Target="/ppt/notesMasters/notesMaster1.xml" Id="Rf8b6c06bffb041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b0833027454ef6" /><Relationship Type="http://schemas.openxmlformats.org/officeDocument/2006/relationships/notesMaster" Target="/ppt/notesMasters/notesMaster1.xml" Id="R194dc1cba9cd4a1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3859bcccd0b4b1b" /><Relationship Type="http://schemas.openxmlformats.org/officeDocument/2006/relationships/notesMaster" Target="/ppt/notesMasters/notesMaster1.xml" Id="Rfa21aa4ab11a43d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728f8b9c2cd4bee" /><Relationship Type="http://schemas.openxmlformats.org/officeDocument/2006/relationships/notesMaster" Target="/ppt/notesMasters/notesMaster1.xml" Id="Rfb873b1efa264e2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5d717c5ecd44a35" /><Relationship Type="http://schemas.openxmlformats.org/officeDocument/2006/relationships/notesMaster" Target="/ppt/notesMasters/notesMaster1.xml" Id="R673b2296c5724c0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3ebdf8c8c8b42df" /><Relationship Type="http://schemas.openxmlformats.org/officeDocument/2006/relationships/notesMaster" Target="/ppt/notesMasters/notesMaster1.xml" Id="Rdf87bc7484a8446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62eb216a00346e0" /><Relationship Type="http://schemas.openxmlformats.org/officeDocument/2006/relationships/notesMaster" Target="/ppt/notesMasters/notesMaster1.xml" Id="Rf63a25d832f8430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02ffeec0b9c465d" /><Relationship Type="http://schemas.openxmlformats.org/officeDocument/2006/relationships/notesMaster" Target="/ppt/notesMasters/notesMaster1.xml" Id="Re9083a5f2e2646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https://github.com/hu-herrera/financiera-pacifico-entrega-docente/blob/main/01_Informe_Diagnostico_Propuesta.pdf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  <a:p xmlns:a="http://schemas.openxmlformats.org/drawingml/2006/main">
            <a:r>
              <a:t>Cierre documental 27/10/2026. Verificación pública: https://github.com/hu-herrera/financiera-pacifico-entrega-docente/blob/main/Anexos/Evidencia_Pruebas_27_oct_2026.md. Las 30 pruebas de modelo incluyen la matriz WAN, recuperación e inventario. Los 16 casos de interfaz tienen ejecución y resultado identificados por SHA en ese anexo. No se suman con las pasadas históricas ni certifican hardware.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https://github.com/hu-herrera/financiera-pacifico-entrega-docente/blob/main/02_Entregables/Entregable_6.pdf y https://github.com/hu-herrera/financiera-pacifico-entrega-docente/blob/main/03_Bitacora.pdf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https://github.com/hu-herrera/financiera-pacifico-entrega-docente/blob/main/00_Caso_Oficial.pdf y https://github.com/hu-herrera/financiera-pacifico-entrega-docente/blob/main/01_Informe_Diagnostico_Propuesta.pdf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https://github.com/hu-herrera/financiera-pacifico-entrega-docente/blob/main/02_Entregables/Entregable_1.pdf y https://github.com/hu-herrera/financiera-pacifico-entrega-docente/blob/main/02_Entregables/Entregable_3.pdf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https://github.com/hu-herrera/financiera-pacifico-entrega-docente/blob/main/02_Entregables/Entregable_3.pdf. Extracto del plano S06, alternativa B, Anexos/Topologias_ANTES_A_B.pdf.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https://github.com/hu-herrera/financiera-pacifico-entrega-docente/blob/main/02_Entregables/Entregable_2.pdf y https://github.com/hu-herrera/financiera-pacifico-entrega-docente/blob/main/02_Entregables/Entregable_7.pdf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https://github.com/hu-herrera/financiera-pacifico-entrega-docente/blob/main/02_Entregables/Entregable_4.pdf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ejercicio base inicia operaciones cada 10 s y réplica cada 60 s, con 4 s para completarla. Falla en t=157 s; conserva la copia de t=120 s completada en t=124 s. Quedan 12 de 15 operaciones y 3 por conciliar. RPO observado 150-120=30 s. Detección 5 s, aislamiento 5 s, arranque 30 s y validación HTTPS 10 s: RTO observado 50 s virtuales. Fuente: código y Anexos/Ejercicios_Recuperacion_C5.json del corte C5-OPERACION-2.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https://github.com/hu-herrera/financiera-pacifico-entrega-docente/blob/main/02_Entregables/Entregable_5.pdf y https://github.com/hu-herrera/financiera-pacifico-entrega-docente/blob/main/02_Entregables/Entregable_6.pdf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Evidencia C5-OPERACION-2: 60 pruebas de modelo, incluidas 9.900 combinaciones de accesos WAN, y 52 pruebas de navegador A/B. Las pruebas acreditan la simulación funcional y la interfaz. No constituyen mediciones de firmware ni certificación de hardware. Fuentes: Verificacion/modelo.test.cjs, protocolos.test.cjs, interfaz.spec.cjs y operacion.spec.cjs.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https://github.com/hu-herrera/financiera-pacifico-entrega-docente/blob/main/02_Entregables/Entregable_7.pdf y Anexos/Presupuesto_Inventario.xlsx.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https://github.com/hu-herrera/financiera-pacifico-entrega-docente/blob/main/02_Entregables/Entregable_3.pdf, https://github.com/hu-herrera/financiera-pacifico-entrega-docente/blob/main/02_Entregables/Entregable_7.pdf y solicitud de distribuidores de otra marca en ambas opciones.</a:t>
            </a:r>
          </a:p>
          <a:p xmlns:a="http://schemas.openxmlformats.org/drawingml/2006/main">
            <a:r>
              <a:t>Actualización del 25/10: https://github.com/hu-herrera/financiera-pacifico-entrega-docente/blob/main/Anexos/Cierre_25_oct_2026.md. Los resultados de 93 Node y 151 navegador tienen cortes y alcances separados. La admisión de video es política propuesta, sin control automático de una aplicación real.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https://github.com/hu-herrera/financiera-pacifico-entrega-docente/blob/main/02_Entregables/Entregable_7.pdf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Aviso docente recibido el 23/10/2026: video y PPT por AVA, plazo viernes 30/10/2026. Fechas intermedias propuestas para organizar el trabajo.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Para finalizar, la propuesta busca sostener la atención mediante caminos alternativos, acceso controlado y recuperación de los servicios centrales. Cada decisión debe responder a una dependencia identificada y a una necesidad de operación. Presentamos dos alternativas de inversión para evaluar junto con su soporte y mantenimiento. Muchas gracias; quedamos disponibles para preguntas y pruebas sobre el simulador.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d93df2e1c9463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c632b6aa804ff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a7559147eb49c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ea2b98e143410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897e38b9b74b2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aa4ee39ce948f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F0C6E2-7E90-4AB7-A1CD-E62C976F48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89974A-8308-48A6-ADB7-627686EC5F9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CCEB1EB-CCC9-4511-9C44-B47A47C97C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246A8F-DA40-450A-966C-E0975E97B1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DCE6A6-32F6-4A13-9E77-B5E9F30FD8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3B74B6-D944-485C-8AC2-861667628E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FBCD97-1D37-4D55-850C-52F4C3A77E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77D2D1-E0C8-4B75-9CA1-AEB06645B7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5E2CC7-F6A9-4E28-B129-C0934DF908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5F9C98-C1C2-47F9-B049-5EC59312CE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7fcb03552e4abf" /><Relationship Type="http://schemas.openxmlformats.org/officeDocument/2006/relationships/slideLayout" Target="/ppt/slideLayouts/slideLayout1.xml" Id="Re9d7c74ded1b486f" /><Relationship Type="http://schemas.openxmlformats.org/officeDocument/2006/relationships/slideLayout" Target="/ppt/slideLayouts/slideLayout2.xml" Id="R50c0ee8a59514125" /><Relationship Type="http://schemas.openxmlformats.org/officeDocument/2006/relationships/slideLayout" Target="/ppt/slideLayouts/slideLayout3.xml" Id="Re04823970be340f0" /><Relationship Type="http://schemas.openxmlformats.org/officeDocument/2006/relationships/slideLayout" Target="/ppt/slideLayouts/slideLayout4.xml" Id="Rdf8fce1d44234314" /><Relationship Type="http://schemas.openxmlformats.org/officeDocument/2006/relationships/slideLayout" Target="/ppt/slideLayouts/slideLayout5.xml" Id="R1f9fb0c2aa834846" /><Relationship Type="http://schemas.openxmlformats.org/officeDocument/2006/relationships/slideLayout" Target="/ppt/slideLayouts/slideLayout6.xml" Id="Rae2db2f5c62945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d7c74ded1b486f"/>
    <p:sldLayoutId xmlns:r="http://schemas.openxmlformats.org/officeDocument/2006/relationships" id="2147483650" r:id="R50c0ee8a59514125"/>
    <p:sldLayoutId xmlns:r="http://schemas.openxmlformats.org/officeDocument/2006/relationships" id="2147483651" r:id="Re04823970be340f0"/>
    <p:sldLayoutId xmlns:r="http://schemas.openxmlformats.org/officeDocument/2006/relationships" id="2147483652" r:id="Rdf8fce1d44234314"/>
    <p:sldLayoutId xmlns:r="http://schemas.openxmlformats.org/officeDocument/2006/relationships" id="2147483653" r:id="R1f9fb0c2aa834846"/>
    <p:sldLayoutId xmlns:r="http://schemas.openxmlformats.org/officeDocument/2006/relationships" id="2147483654" r:id="Rae2db2f5c62945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af0619e27e44b0" /><Relationship Type="http://schemas.openxmlformats.org/officeDocument/2006/relationships/notesSlide" Target="/ppt/notesSlides/notesSlide1.xml" Id="R59f32084c7fd43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d67e970c1b425f" /><Relationship Type="http://schemas.openxmlformats.org/officeDocument/2006/relationships/notesSlide" Target="/ppt/notesSlides/notesSlide2.xml" Id="R58cf08aecf9a4f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365e4a271c4ba4" /><Relationship Type="http://schemas.openxmlformats.org/officeDocument/2006/relationships/notesSlide" Target="/ppt/notesSlides/notesSlide3.xml" Id="R89fd3bd480784e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272d4bc2c64d08" /><Relationship Type="http://schemas.openxmlformats.org/officeDocument/2006/relationships/notesSlide" Target="/ppt/notesSlides/notesSlide4.xml" Id="R2f5ced4cbb0149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45b9deb4fc4925" /><Relationship Type="http://schemas.openxmlformats.org/officeDocument/2006/relationships/image" Target="/ppt/media/image.png" Id="R74cabc0a671e4450" /><Relationship Type="http://schemas.openxmlformats.org/officeDocument/2006/relationships/notesSlide" Target="/ppt/notesSlides/notesSlide5.xml" Id="R8112ff9fcbbe4a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c4e6b6d69e43d5" /><Relationship Type="http://schemas.openxmlformats.org/officeDocument/2006/relationships/notesSlide" Target="/ppt/notesSlides/notesSlide6.xml" Id="R3e67e746076044b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3b29b5d500440d" /><Relationship Type="http://schemas.openxmlformats.org/officeDocument/2006/relationships/notesSlide" Target="/ppt/notesSlides/notesSlide7.xml" Id="R4a9a5afe1c4d42c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f835aa3bbb4f06" /><Relationship Type="http://schemas.openxmlformats.org/officeDocument/2006/relationships/notesSlide" Target="/ppt/notesSlides/notesSlide8.xml" Id="R94f8a433ced74a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03f231012d40ee" /><Relationship Type="http://schemas.openxmlformats.org/officeDocument/2006/relationships/hyperlink" Target="https://hu-herrera.github.io/fina/" TargetMode="External" Id="Rd480fa0fbb52441d" /><Relationship Type="http://schemas.openxmlformats.org/officeDocument/2006/relationships/notesSlide" Target="/ppt/notesSlides/notesSlide9.xml" Id="R17b6109daa7f4bf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f1172617b04873" /><Relationship Type="http://schemas.openxmlformats.org/officeDocument/2006/relationships/notesSlide" Target="/ppt/notesSlides/notesSlide10.xml" Id="R2fe93db6f14c417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2f7cca8831430e" /><Relationship Type="http://schemas.openxmlformats.org/officeDocument/2006/relationships/notesSlide" Target="/ppt/notesSlides/notesSlide11.xml" Id="Rc17f8091a5024de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c575ca34d54984" /><Relationship Type="http://schemas.openxmlformats.org/officeDocument/2006/relationships/notesSlide" Target="/ppt/notesSlides/notesSlide12.xml" Id="R5cacb82119774d7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69092e5e0b4279" /><Relationship Type="http://schemas.openxmlformats.org/officeDocument/2006/relationships/notesSlide" Target="/ppt/notesSlides/notesSlide13.xml" Id="Re4faeb533a9e406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f04e41fbbe42d2" /><Relationship Type="http://schemas.openxmlformats.org/officeDocument/2006/relationships/notesSlide" Target="/ppt/notesSlides/notesSlide14.xml" Id="R48cd87f8bd384f1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9f20d0f5534b11" /><Relationship Type="http://schemas.openxmlformats.org/officeDocument/2006/relationships/notesSlide" Target="/ppt/notesSlides/notesSlide15.xml" Id="Re5e4a4aad25a4f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6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10C233B5-9DDC-4683-9997-EDF895CE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CE3486B-E8DB-459E-AB43-210D30C5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F082752-0A06-44DB-8B28-6BAFFB70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287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Continuidad y seguridad</a:t>
            </a:r>
          </a:p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entre sucursales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502132F-AB64-4B90-9693-E7B310FB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rPr>
              <a:t>Avance Capstone al 28 de octubre de 2026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51557CB-D290-4D86-9D77-7B2928DB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Hugo Eduardo Herrera Inostroza</a:t>
            </a:r>
          </a:p>
          <a:p xmlns:a="http://schemas.openxmlformats.org/drawingml/2006/main">
            <a: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Proyecto de Título APT</a:t>
            </a:r>
          </a:p>
        </p:txBody>
      </p:sp>
    </p:spTree>
    <p:extLst>
      <p:ext uri="{BB962C8B-B14F-4D97-AF65-F5344CB8AC3E}">
        <p14:creationId xmlns:p14="http://schemas.microsoft.com/office/powerpoint/2010/main" val="15780532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A4464EB4-9F0D-4D9D-984C-A362AAD2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Estado actual del proyecto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F3D0EC9-5E26-4ED1-9AD6-6141FF65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7205840-C11A-4F2E-A349-501AFDFA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5191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Prototipo implementado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11B92CC-326B-4EEE-AE03-DDEC560F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Simulador ANTES y A/B con 13 escenas.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Interfaces, OSPF, VPN y servicios comparten el estado del tráfico.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BBF4EC9-2AA4-4F07-9DB9-600345E4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28775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Documentación consolidada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F102EE6D-B0D7-40CE-974F-74B28EA2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33600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Caso, diagnóstico y propuesta, entregables 1–7, bitácora y anexos.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Inventario y costos conciliados por alternativa.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B69C443B-0F2F-4658-8A37-31373C6D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81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Operación por consola, fallas y recuperación con tiempo virtual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F2FEB201-C350-482D-92A6-DD5F234E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Pendientes de esta entrega: grabación y revisión del video, envío de video y PPT por AVA.</a:t>
            </a:r>
          </a:p>
        </p:txBody>
      </p:sp>
    </p:spTree>
    <p:extLst>
      <p:ext uri="{BB962C8B-B14F-4D97-AF65-F5344CB8AC3E}">
        <p14:creationId xmlns:p14="http://schemas.microsoft.com/office/powerpoint/2010/main" val="6723010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AC9DA80F-C300-4939-8D0B-CECB5257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Alcance oficial y escenario adoptado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8B20E09-0F2F-4D75-8505-ED42E477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A10B46E-4642-4E5B-9C16-C8562F44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Ficha oficial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DAEBF1F-74DF-40BB-8662-415F2C29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780 trabajadores y unos 650 usuarios TI.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22 sedes: Casa Matriz y 21 sucursales.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Problema: falta de contingencia remota y cambios manuales.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929D680-EF56-49F5-BE4E-55FC4FB6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Adaptación del proyecto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7DECEA33-B2C8-4391-80D0-35DE1A58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66925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23 sedes: Casa Matriz y 22 sucursales.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650 PCs y 650 teléfonos existentes adoptados como inventario.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Seis futuras aperturas con presupuesto separado.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155BCB47-CC8B-4430-8997-CF187B10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Modelos, carga, direccionamiento y condiciones comerciales son supuestos explícitos del caso ficticio.</a:t>
            </a:r>
          </a:p>
        </p:txBody>
      </p:sp>
    </p:spTree>
    <p:extLst>
      <p:ext uri="{BB962C8B-B14F-4D97-AF65-F5344CB8AC3E}">
        <p14:creationId xmlns:p14="http://schemas.microsoft.com/office/powerpoint/2010/main" val="5716691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65C969E9-7E24-43F4-9F3D-1541EA4D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Diagnóstico de la red anterior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F23105E-659B-4255-986E-063D1AAB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2FB4EF-6D7E-43AB-942A-CBD2177F0F94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7052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38750"/>
                <a:gridCol w="5734050"/>
              </a:tblGrid>
              <a:tr h="92630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Dependencia adoptada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Consecuencia de una falla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Sucursal: un router, un switch y un MPLS de 100 Mbps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Puede perder acceso a aplicación financiera y telefonía central.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Central: dos MPLS de 1 Gbps, dos ISP de 500 Mbps y un firewall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Hay redundancia de enlaces, pero el firewall sigue siendo único.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DC-01 con aplicación/BD y DC-02 con voz/servicios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Los roles separados no recuperan automáticamente una VM en el otro host.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613C4B0-A5C1-475D-B0F4-684DCAF9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100 Mbps cubren la carga normal calculada de unos 26,4 Mbps en una sucursal de 30 puestos.</a:t>
            </a:r>
          </a:p>
        </p:txBody>
      </p:sp>
    </p:spTree>
    <p:extLst>
      <p:ext uri="{BB962C8B-B14F-4D97-AF65-F5344CB8AC3E}">
        <p14:creationId xmlns:p14="http://schemas.microsoft.com/office/powerpoint/2010/main" val="9563738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318142DD-5E09-4FF5-A23C-BDAAC46E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Arquitectura de una sucursal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260EBB74-998D-410F-BDF6-37B68EF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F7D091-B404-4272-AC7B-7739C2BDB8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cabc0a671e4450"/>
          <a:stretch xmlns:a="http://schemas.openxmlformats.org/drawingml/2006/main"/>
        </p:blipFill>
        <p:spPr>
          <a:xfrm xmlns:a="http://schemas.openxmlformats.org/drawingml/2006/main">
            <a:off x="1723159" y="1476375"/>
            <a:ext cx="8745682" cy="3848100"/>
          </a:xfrm>
          <a:prstGeom xmlns:a="http://schemas.openxmlformats.org/drawingml/2006/main" prst="rect">
            <a:avLst/>
          </a:prstGeom>
        </p:spPr>
      </p:pic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4F3FCFA-A0E6-451F-8295-D0D58979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715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Cuatro transportes y dos dominios WAN independientes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B7EB25AB-AE7D-4314-BF59-0080EF98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VPN hacia el par de firewalls de Casa Matriz. La navegación sale inspeccionada por central.</a:t>
            </a:r>
          </a:p>
        </p:txBody>
      </p:sp>
    </p:spTree>
    <p:extLst>
      <p:ext uri="{BB962C8B-B14F-4D97-AF65-F5344CB8AC3E}">
        <p14:creationId xmlns:p14="http://schemas.microsoft.com/office/powerpoint/2010/main" val="9696517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B503FEEB-1584-451B-B7C1-D2ECB0CF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Alternativas de equipamiento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0572C7A-2BA2-4F8A-9255-FC7AEF8A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A6FFDD-F939-4CC1-9C84-458E10812083}"/>
              </a:ext>
            </a:extLst>
          </p:cNvPr>
          <p:cNvGraphicFramePr/>
          <p:nvPr/>
        </p:nvGraphicFramePr>
        <p:xfrm>
          <a:off xmlns:a="http://schemas.openxmlformats.org/drawingml/2006/main" x="609600" y="1495425"/>
          <a:ext xmlns:a="http://schemas.openxmlformats.org/drawingml/2006/main" cx="1097280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4238625"/>
                <a:gridCol w="4210050"/>
              </a:tblGrid>
              <a:tr h="7905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Función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A: Cisco / Palo Alto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B: MikroTik / OPNsense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Routers remotos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C1121X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 reutilizados y 37 nuevos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42 CCR2004 y 2 RB5009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Switches remotos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C9200L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17 reutilizados y 27 nuevos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CRS328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Firewalls centrales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PA-1410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DEC3852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Distribución WAN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 hEX E50UG y 1 CRS310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 hEX E50UG y 1 CRS310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48770BC2-9BCD-49FE-B907-D140BA72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Ambas conservan 2 C9200L centrales, PCs, teléfonos y hosts existentes. B usa LACP/RSTP/VRRP, sin StackWise.</a:t>
            </a:r>
          </a:p>
        </p:txBody>
      </p:sp>
    </p:spTree>
    <p:extLst>
      <p:ext uri="{BB962C8B-B14F-4D97-AF65-F5344CB8AC3E}">
        <p14:creationId xmlns:p14="http://schemas.microsoft.com/office/powerpoint/2010/main" val="5818099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54799513-7A3D-4348-B658-34F05001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Segmentación y permisos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916F03B-48F4-4883-B911-0003EC8E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C63C48-8A4B-46D8-849B-A2C42C70B683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3524250"/>
                <a:gridCol w="4495800"/>
              </a:tblGrid>
              <a:tr h="8001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Segmento o servicio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Dirección de ejemplo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Política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Datos S06, VLAN 10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10.70.6.0/25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Gateway 10.70.6.1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Usuarios acceden a APP por HTTPS.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y BD, VLAN 50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10.70.200.10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BD 10.70.200.11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TCP 443 a APP. TCP 5432 a BD solo desde APP.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Voz, VLAN 20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PBX 10.70.200.20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Señalización TLS 5061 y medios autorizados.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Invitados / gestión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VLAN 40 / VLAN 130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Invitados aislados. Administración desde NOC.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088E488D-964E-4335-8B21-E49B1DF2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Las VLAN son locales. Sus subredes IP se enrutan por IPsec. APP/BD requieren también filtros de host.</a:t>
            </a:r>
          </a:p>
        </p:txBody>
      </p:sp>
    </p:spTree>
    <p:extLst>
      <p:ext uri="{BB962C8B-B14F-4D97-AF65-F5344CB8AC3E}">
        <p14:creationId xmlns:p14="http://schemas.microsoft.com/office/powerpoint/2010/main" val="17461629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727886E3-7B5C-4B4C-89D2-5EC10D58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Alta disponibilidad de los servicios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BF3DB2A-3E08-47FF-8270-3259FF4D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51DD794-8DCF-4AA7-86A1-32D35A14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Recuperación entre dos hosts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F490D54-9642-4B8E-8B42-DCB1082E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DC-01 y DC-02 conservan los Dell R740.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DC-02 aumenta a 64 GiB y 3.840 GB útiles. Ambos hosts conectan a los dos switches.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B5F0578B-B712-42EB-BEB7-226871E1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43050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Condiciones de recuperación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636CD48-5BD6-4395-8F38-0C9FF24D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Réplica ZFS utilizable, testigo en BKP y dos de tres votos.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Aislamiento del host fallado antes de reiniciar las VMs en el superviviente.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E9385689-DA2F-4377-8FD1-0384FEB5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Metas: pérdida de datos ≤60 s y recuperación ≤300 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7238FC74-7C06-493A-843E-B7E4785C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Ejercicio base: RTO observado 50 s y RPO 30 s de tiempo virtual. Objetivos de diseño: 300 s y 60 s.</a:t>
            </a:r>
          </a:p>
        </p:txBody>
      </p:sp>
    </p:spTree>
    <p:extLst>
      <p:ext uri="{BB962C8B-B14F-4D97-AF65-F5344CB8AC3E}">
        <p14:creationId xmlns:p14="http://schemas.microsoft.com/office/powerpoint/2010/main" val="11928921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B064DFD7-B409-4E4B-AE30-7425D02A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Demostración del prototipo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77155C4-8753-499C-A5FC-B6C6FF44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A14FC-45EF-4ACA-8AFA-7B6D6FDDC395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6400800"/>
              </a:tblGrid>
              <a:tr h="7429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Escenario implementado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Comportamiento comprobable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ANTES: cortar el MPLS de S06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La sucursal pierde su único camino hacia central.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DESPUÉS: cortar transporte o router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 selecciona otro camino cuando sus dependencias están disponibles.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Acceso a servicios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permitida, BD restringida e invitados sin acceso interno.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Caída de host o central completa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Recuperación condicionada del host. CM completa caída deja servicios indisponibles.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61037176-034C-4E05-BA7F-8E5A0EE9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d480fa0fbb52441d"/>
              </a:rPr>
              <a:t>Abrir simulador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3EE3AE0C-E48E-4659-B48E-3AAB87D7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 animación y las pruebas del navegador representan la lógica del modelo. El video de demostración está pendiente.</a:t>
            </a:r>
          </a:p>
        </p:txBody>
      </p:sp>
    </p:spTree>
    <p:extLst>
      <p:ext uri="{BB962C8B-B14F-4D97-AF65-F5344CB8AC3E}">
        <p14:creationId xmlns:p14="http://schemas.microsoft.com/office/powerpoint/2010/main" val="13961558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C2A51BF8-B013-42EC-B64E-D69CAC86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Pruebas de operación del prototipo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3742027-275A-4073-8720-EAC4C645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D3DA6D02-ECE0-4928-8B20-02A9A9EB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60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914D401-62FC-43D1-9DB5-07B36758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85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pruebas públicas de modelo aprobadas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93068BE-625C-45FB-9444-B09AF9FD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3830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52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765DC43-037D-4B95-B599-3EDF46A7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62250"/>
            <a:ext cx="5000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casos de interfaz publicados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E283F77-C0A4-41F5-B43C-105FCC7A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9.900 combinaciones WAN dentro de las pruebas de modelo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8DB7A137-EAC3-4D55-9E86-A1F609F1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1087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Interfaces, OSPF, VPN, permisos, servicios y recuperación.</a:t>
            </a:r>
          </a:p>
          <a:p xmlns:a="http://schemas.openxmlformats.org/drawingml/2006/main">
            <a: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El cierre vigente conserva resultados y comandos reproducibles.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EEAD08A1-C3F9-49BE-A470-17E8D767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99,99 % core y 99,95 % sucursal son metas anuales. El mapa muestra conectividad del escenario, no disponibilidad medida.</a:t>
            </a:r>
          </a:p>
        </p:txBody>
      </p:sp>
    </p:spTree>
    <p:extLst>
      <p:ext uri="{BB962C8B-B14F-4D97-AF65-F5344CB8AC3E}">
        <p14:creationId xmlns:p14="http://schemas.microsoft.com/office/powerpoint/2010/main" val="7020760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83659B90-63F0-433C-B384-B228C33C0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Presupuesto del alcance a cinco años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3D3AB8D-C88A-4311-9007-94A4C7B3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907D4D-1B45-4976-BA55-0156874B67FF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86300"/>
                <a:gridCol w="3143250"/>
                <a:gridCol w="3143250"/>
              </a:tblGrid>
              <a:tr h="7429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CLP con IVA supuesto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Alternativa 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Alternativa B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Inversión inicial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793.126.897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281.194.478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WAN por 60 meses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660.607.380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660.607.380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Reserva operativa por 5 años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50.000.000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25.000.000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Total del alcance a 60 meses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1.503.734.277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966.801.858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66D9DA5B-54C5-482C-A550-64E8529D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Ambas superan la referencia original de CLP 160 millones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C6169EE3-4C58-432B-9760-C22A7A20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Incluye el inicial una vez. WAN común: CLP </a:t>
            </a: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11.010.123</a:t>
            </a: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/mes. Valores referenciales, no contratos ni compras ejecutadas.</a:t>
            </a:r>
          </a:p>
        </p:txBody>
      </p:sp>
    </p:spTree>
    <p:extLst>
      <p:ext uri="{BB962C8B-B14F-4D97-AF65-F5344CB8AC3E}">
        <p14:creationId xmlns:p14="http://schemas.microsoft.com/office/powerpoint/2010/main" val="2623377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6DF6B4EA-8FD5-46D4-AD2C-1E04282F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Revisión final y límites del diseño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C9C7C00-F39A-4DF8-A6F8-FA995BDF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11ABEFA-822F-4AA3-ABE2-F7E34FA8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Cuatro accesos de extremo a extremo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8776B12-3345-4857-A9C7-FE0D0877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Casa Matriz también tiene Starlink, Leo, Entel y WOM. El diseño conserva camino con un acceso disponible en cada extremo, incluso de distinto proveedor.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5930B70-6D0D-4458-A33A-69EB9455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Capacidad de central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BA6F7C28-F113-495F-B4C3-FE987683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Política del diseño: hasta 30 terminales remotos y 3 en CM con video. Subida calculada: 966 de 1.000 Mbps. En contingencia se suspende el video.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85D1EDDE-6CD2-41D2-9CF6-4FEAE645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Supuestos comerciales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4FCDF9ED-0BE1-44FC-824E-3AE051AE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Leo, cobertura en sedes extremas, caudales y descuentos pertenecen al escenario ficticio. La comparación económica debe conservar esas condiciones visibles.</a:t>
            </a:r>
          </a:p>
        </p:txBody>
      </p:sp>
    </p:spTree>
    <p:extLst>
      <p:ext uri="{BB962C8B-B14F-4D97-AF65-F5344CB8AC3E}">
        <p14:creationId xmlns:p14="http://schemas.microsoft.com/office/powerpoint/2010/main" val="1345501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E5CDC38B-9FAE-46F9-9918-AA693946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Plan de implantación de la propuesta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D767768-4107-45E1-99C6-4236D1D3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D4C787-CB2E-4A00-836A-D3517C0F335F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8858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Periodo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Actividad prevista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 1: doce semanas de implantación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Piloto CM/S01, tres olas de seis sucursales y cierre de S20/S21/S22. Mantener MPLS transitorio hasta aceptación.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Años 2–4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Operación, parches, revisión de capacidad, ejercicios de restauración y mantenimiento.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 5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Evaluación de indicadores y plan de renovación del siguiente ciclo.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CAD99BF4-D821-49A9-ADA3-AD188291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Plan de una implementación hipotética. Las seis aperturas futuras requieren su propia fase y presupuesto.</a:t>
            </a:r>
          </a:p>
        </p:txBody>
      </p:sp>
    </p:spTree>
    <p:extLst>
      <p:ext uri="{BB962C8B-B14F-4D97-AF65-F5344CB8AC3E}">
        <p14:creationId xmlns:p14="http://schemas.microsoft.com/office/powerpoint/2010/main" val="27981598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27F0AC76-9E38-4C29-BA48-3400BB4E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Plan de entrega al 30 de octubre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EE9687B-3EBB-4A9F-BBC6-1D6DD56A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7CF428-0419-4CEB-8A57-750DA211087C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6683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Fecha propuesta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Resultado esperado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23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Repositorio docente y PowerPoint de avance preparados.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24–25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Cambio WAN de A cerrado. Revisar el recorrido de la grabación.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26–28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Grabar el video con la demostración del simulador.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29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Revisar audio, legibilidad y coherencia entre video y PPT.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Viernes 30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Enviar ambos archivos por AVA y comprobar la recepción.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D1069FF-3C94-49DD-AA0C-5442E4E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 entrega revisa avances reales. La grabación y el envío por AVA aún no se han realizado.</a:t>
            </a:r>
          </a:p>
        </p:txBody>
      </p:sp>
    </p:spTree>
    <p:extLst>
      <p:ext uri="{BB962C8B-B14F-4D97-AF65-F5344CB8AC3E}">
        <p14:creationId xmlns:p14="http://schemas.microsoft.com/office/powerpoint/2010/main" val="19775423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3FF9DA87-A473-40FB-92B3-974B8014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6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6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6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6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6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6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6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6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6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Para finalizar</a:t>
            </a:r>
          </a:p>
        </p:txBody>
      </p:sp>
      <p:sp>
        <p:nvSpPr>
          <p:cNvPr id="2" name="closing-statement">
            <a:extLst xmlns:a="http://schemas.openxmlformats.org/drawingml/2006/main">
              <a:ext uri="{FF2B5EF4-FFF2-40B4-BE49-F238E27FC236}">
                <a16:creationId xmlns:a16="http://schemas.microsoft.com/office/drawing/2014/main" id="{777CE9EA-FBE8-4C7B-BEDA-5B7FDF0E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Continuidad con alternativas y control</a:t>
            </a:r>
          </a:p>
        </p:txBody>
      </p:sp>
      <p:sp>
        <p:nvSpPr>
          <p:cNvPr id="3" name="closing-body">
            <a:extLst xmlns:a="http://schemas.openxmlformats.org/drawingml/2006/main">
              <a:ext uri="{FF2B5EF4-FFF2-40B4-BE49-F238E27FC236}">
                <a16:creationId xmlns:a16="http://schemas.microsoft.com/office/drawing/2014/main" id="{E61E9815-14B6-4414-A1AE-DD61E472D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1047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La propuesta busca sostener la atención con caminos alternativos, permisos por servicio y recuperación condicionada de los sistemas centrales.</a:t>
            </a:r>
          </a:p>
        </p:txBody>
      </p:sp>
      <p:sp>
        <p:nvSpPr>
          <p:cNvPr id="4" name="closing-scope">
            <a:extLst xmlns:a="http://schemas.openxmlformats.org/drawingml/2006/main">
              <a:ext uri="{FF2B5EF4-FFF2-40B4-BE49-F238E27FC236}">
                <a16:creationId xmlns:a16="http://schemas.microsoft.com/office/drawing/2014/main" id="{C6E1F466-672D-45D3-869E-DF623654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23 sedes · 650 puestos · alternativas A y B</a:t>
            </a:r>
          </a:p>
        </p:txBody>
      </p:sp>
      <p:sp>
        <p:nvSpPr>
          <p:cNvPr id="5" name="closing-questions">
            <a:extLst xmlns:a="http://schemas.openxmlformats.org/drawingml/2006/main">
              <a:ext uri="{FF2B5EF4-FFF2-40B4-BE49-F238E27FC236}">
                <a16:creationId xmlns:a16="http://schemas.microsoft.com/office/drawing/2014/main" id="{225DF9F7-0582-4F24-AFE8-05AE603C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Muchas gracias. Preguntas y demostración del simulador.</a:t>
            </a:r>
          </a:p>
        </p:txBody>
      </p:sp>
      <p:sp>
        <p:nvSpPr>
          <p:cNvPr id="6" name="closing-number">
            <a:extLst xmlns:a="http://schemas.openxmlformats.org/drawingml/2006/main">
              <a:ext uri="{FF2B5EF4-FFF2-40B4-BE49-F238E27FC236}">
                <a16:creationId xmlns:a16="http://schemas.microsoft.com/office/drawing/2014/main" id="{3370B82D-7EE5-4225-8E2E-231FD3F3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846217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2026-10-28T07:51:34.2370000Z</dcterms:created>
  <dcterms:modified xsi:type="dcterms:W3CDTF">2026-10-28T07:51:34.2370000Z</dcterms:modified>
</coreProperties>
</file>