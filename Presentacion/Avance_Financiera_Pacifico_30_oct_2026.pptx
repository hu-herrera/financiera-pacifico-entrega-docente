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51d3ec83dd42f3" /><Relationship Type="http://schemas.openxmlformats.org/officeDocument/2006/relationships/extended-properties" Target="/docProps/app.xml" Id="Rec62595121374ed6" /><Relationship Type="http://schemas.openxmlformats.org/officeDocument/2006/relationships/officeDocument" Target="/ppt/presentation.xml" Id="Rab9c8b4f3e8745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edd6450ccd40d6"/>
  </p:sldMasterIdLst>
  <p:notesMasterIdLst>
    <p:notesMasterId xmlns:r="http://schemas.openxmlformats.org/officeDocument/2006/relationships" r:id="R953f345dcaf0404d"/>
  </p:notesMasterIdLst>
  <p:sldIdLst>
    <p:sldId xmlns:r="http://schemas.openxmlformats.org/officeDocument/2006/relationships" id="256" r:id="Ra856f2d00bd74be9"/>
    <p:sldId xmlns:r="http://schemas.openxmlformats.org/officeDocument/2006/relationships" id="257" r:id="R68b131b883854d92"/>
    <p:sldId xmlns:r="http://schemas.openxmlformats.org/officeDocument/2006/relationships" id="258" r:id="Re9c7cde5b6a54b2a"/>
    <p:sldId xmlns:r="http://schemas.openxmlformats.org/officeDocument/2006/relationships" id="259" r:id="R7192eb24cf9f4b22"/>
    <p:sldId xmlns:r="http://schemas.openxmlformats.org/officeDocument/2006/relationships" id="260" r:id="Rcddc9b0f67e44cb1"/>
    <p:sldId xmlns:r="http://schemas.openxmlformats.org/officeDocument/2006/relationships" id="261" r:id="R18a06094ded34315"/>
    <p:sldId xmlns:r="http://schemas.openxmlformats.org/officeDocument/2006/relationships" id="262" r:id="R5b39cce0966a4c63"/>
    <p:sldId xmlns:r="http://schemas.openxmlformats.org/officeDocument/2006/relationships" id="263" r:id="R152a117971554bdc"/>
    <p:sldId xmlns:r="http://schemas.openxmlformats.org/officeDocument/2006/relationships" id="264" r:id="R933a6dea615a4c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8bb581d2d04185" /><Relationship Type="http://schemas.openxmlformats.org/officeDocument/2006/relationships/slideMaster" Target="/ppt/slideMasters/slideMaster1.xml" Id="R64edd6450ccd40d6" /><Relationship Type="http://schemas.openxmlformats.org/officeDocument/2006/relationships/notesMaster" Target="/ppt/notesMasters/notesMaster1.xml" Id="R953f345dcaf0404d" /><Relationship Type="http://schemas.openxmlformats.org/officeDocument/2006/relationships/presProps" Target="/ppt/presProps.xml" Id="Ra00a4770f1eb4c9f" /><Relationship Type="http://schemas.openxmlformats.org/officeDocument/2006/relationships/tableStyles" Target="/ppt/tableStyles.xml" Id="R5a8fdecdb9084ca8" /><Relationship Type="http://schemas.openxmlformats.org/officeDocument/2006/relationships/slide" Target="/ppt/slides/slide1.xml" Id="Ra856f2d00bd74be9" /><Relationship Type="http://schemas.openxmlformats.org/officeDocument/2006/relationships/slide" Target="/ppt/slides/slide2.xml" Id="R68b131b883854d92" /><Relationship Type="http://schemas.openxmlformats.org/officeDocument/2006/relationships/slide" Target="/ppt/slides/slide3.xml" Id="Re9c7cde5b6a54b2a" /><Relationship Type="http://schemas.openxmlformats.org/officeDocument/2006/relationships/slide" Target="/ppt/slides/slide4.xml" Id="R7192eb24cf9f4b22" /><Relationship Type="http://schemas.openxmlformats.org/officeDocument/2006/relationships/slide" Target="/ppt/slides/slide5.xml" Id="Rcddc9b0f67e44cb1" /><Relationship Type="http://schemas.openxmlformats.org/officeDocument/2006/relationships/slide" Target="/ppt/slides/slide6.xml" Id="R18a06094ded34315" /><Relationship Type="http://schemas.openxmlformats.org/officeDocument/2006/relationships/slide" Target="/ppt/slides/slide7.xml" Id="R5b39cce0966a4c63" /><Relationship Type="http://schemas.openxmlformats.org/officeDocument/2006/relationships/slide" Target="/ppt/slides/slide8.xml" Id="R152a117971554bdc" /><Relationship Type="http://schemas.openxmlformats.org/officeDocument/2006/relationships/slide" Target="/ppt/slides/slide9.xml" Id="R933a6dea615a4c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201eb15de448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ea45f9c7b84508" /><Relationship Type="http://schemas.openxmlformats.org/officeDocument/2006/relationships/notesMaster" Target="/ppt/notesMasters/notesMaster1.xml" Id="Rf3459cc1c98d49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9cfcdbce86431e" /><Relationship Type="http://schemas.openxmlformats.org/officeDocument/2006/relationships/notesMaster" Target="/ppt/notesMasters/notesMaster1.xml" Id="R33d6b855fcf745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3803199498484e" /><Relationship Type="http://schemas.openxmlformats.org/officeDocument/2006/relationships/notesMaster" Target="/ppt/notesMasters/notesMaster1.xml" Id="R1da19473e85240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c64fb9c1d04024" /><Relationship Type="http://schemas.openxmlformats.org/officeDocument/2006/relationships/notesMaster" Target="/ppt/notesMasters/notesMaster1.xml" Id="R139465ad3e914b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055e7b090340c0" /><Relationship Type="http://schemas.openxmlformats.org/officeDocument/2006/relationships/notesMaster" Target="/ppt/notesMasters/notesMaster1.xml" Id="R8188388ad7d04c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307c64e41b488c" /><Relationship Type="http://schemas.openxmlformats.org/officeDocument/2006/relationships/notesMaster" Target="/ppt/notesMasters/notesMaster1.xml" Id="R12eb088c807148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380ba0d6db14ef9" /><Relationship Type="http://schemas.openxmlformats.org/officeDocument/2006/relationships/notesMaster" Target="/ppt/notesMasters/notesMaster1.xml" Id="R17badf4454a441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60c219559a4c7e" /><Relationship Type="http://schemas.openxmlformats.org/officeDocument/2006/relationships/notesMaster" Target="/ppt/notesMasters/notesMaster1.xml" Id="R698ebe666c52402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16a680d32546d8" /><Relationship Type="http://schemas.openxmlformats.org/officeDocument/2006/relationships/notesMaster" Target="/ppt/notesMasters/notesMaster1.xml" Id="R0eb9b94d788f41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1 de 9. El avance del proyecto. El avance reúne la propuesta de red, sus costos y las pruebas de funcionamiento.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2 de 9. El problema de la red actual. Seguimos una comunicación desde Arica y después interrumpimos su enlace MPLS.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3 de 9. La solución propuesta. WAN-A reúne Starlink y Entel; WAN-B, Leo y WOM. Ambos conectan a los dos routers.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4 de 9. Una falla con respaldo. Comparamos una comunicación normal con otra después de interrumpir Starlink en Arica.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5 de 9. Acceso seguro a los servicios. La aplicación atiende al usuario; la base de datos recibe consultas de la aplicación.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6 de 9. Recuperación de la aplicación. El ejercicio aplica la caída de DC-01 y comprueba las condiciones para continuar en DC-02.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7 de 9. Capacidad y puesta en marcha. La oficina tipo demanda 26,4 Mbps frente a 100 Mbps de MPLS. Central concentra el tráfico de las sedes y la navegación.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8 de 9. Dos alternativas de inversión. La comparación incluye la inversión inicial, cinco años de conectividad y reservas de operación.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Diapositiva 9 de 9. Para finalizar. Una base de diseño y pruebas para evaluar la solución antes de implementarla.</a:t>
            </a:r>
          </a:p>
          <a:p xmlns:a="http://schemas.openxmlformats.org/drawingml/2006/main">
            <a:r>
              <a:t>Fuente: simulador network/client-story.js y documentación de Financiera Pacífico. Corte C5-BREVE-20261029. La narración personal se entrega separadamente.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a73f44586641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649b1622948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77d5efc8b842f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64c2fae9c74c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c08e9303294cc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c31add2b7746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e64e5aeb8747c2" /><Relationship Type="http://schemas.openxmlformats.org/officeDocument/2006/relationships/slideLayout" Target="/ppt/slideLayouts/slideLayout1.xml" Id="R3db3dd38145a4144" /><Relationship Type="http://schemas.openxmlformats.org/officeDocument/2006/relationships/slideLayout" Target="/ppt/slideLayouts/slideLayout2.xml" Id="Raf0a174bd84d4a6c" /><Relationship Type="http://schemas.openxmlformats.org/officeDocument/2006/relationships/slideLayout" Target="/ppt/slideLayouts/slideLayout3.xml" Id="Rf1dd8e55878c40d7" /><Relationship Type="http://schemas.openxmlformats.org/officeDocument/2006/relationships/slideLayout" Target="/ppt/slideLayouts/slideLayout4.xml" Id="R2d8bdac3efd04d1f" /><Relationship Type="http://schemas.openxmlformats.org/officeDocument/2006/relationships/slideLayout" Target="/ppt/slideLayouts/slideLayout5.xml" Id="Rd205688013a1426e" /><Relationship Type="http://schemas.openxmlformats.org/officeDocument/2006/relationships/slideLayout" Target="/ppt/slideLayouts/slideLayout6.xml" Id="R8cb0c20a6db142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b3dd38145a4144"/>
    <p:sldLayoutId xmlns:r="http://schemas.openxmlformats.org/officeDocument/2006/relationships" id="2147483650" r:id="Raf0a174bd84d4a6c"/>
    <p:sldLayoutId xmlns:r="http://schemas.openxmlformats.org/officeDocument/2006/relationships" id="2147483651" r:id="Rf1dd8e55878c40d7"/>
    <p:sldLayoutId xmlns:r="http://schemas.openxmlformats.org/officeDocument/2006/relationships" id="2147483652" r:id="R2d8bdac3efd04d1f"/>
    <p:sldLayoutId xmlns:r="http://schemas.openxmlformats.org/officeDocument/2006/relationships" id="2147483653" r:id="Rd205688013a1426e"/>
    <p:sldLayoutId xmlns:r="http://schemas.openxmlformats.org/officeDocument/2006/relationships" id="2147483654" r:id="R8cb0c20a6db142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ab4283162d4960" /><Relationship Type="http://schemas.openxmlformats.org/officeDocument/2006/relationships/notesSlide" Target="/ppt/notesSlides/notesSlide1.xml" Id="Rbb0b1127957f47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eea057f40242b7" /><Relationship Type="http://schemas.openxmlformats.org/officeDocument/2006/relationships/notesSlide" Target="/ppt/notesSlides/notesSlide2.xml" Id="R93ed2a4aba374a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4950220c2a41bc" /><Relationship Type="http://schemas.openxmlformats.org/officeDocument/2006/relationships/image" Target="/ppt/media/image.png" Id="R62f0a43ac1824e8f" /><Relationship Type="http://schemas.openxmlformats.org/officeDocument/2006/relationships/notesSlide" Target="/ppt/notesSlides/notesSlide3.xml" Id="Rd63985a026a84b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cbf0a01230424c" /><Relationship Type="http://schemas.openxmlformats.org/officeDocument/2006/relationships/notesSlide" Target="/ppt/notesSlides/notesSlide4.xml" Id="Rc0ede871236e44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cef775b1a14547" /><Relationship Type="http://schemas.openxmlformats.org/officeDocument/2006/relationships/notesSlide" Target="/ppt/notesSlides/notesSlide5.xml" Id="Rae54589ef34a4a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df47e3f9f94837" /><Relationship Type="http://schemas.openxmlformats.org/officeDocument/2006/relationships/notesSlide" Target="/ppt/notesSlides/notesSlide6.xml" Id="R23731b5871d649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d40dc2730a488c" /><Relationship Type="http://schemas.openxmlformats.org/officeDocument/2006/relationships/notesSlide" Target="/ppt/notesSlides/notesSlide7.xml" Id="Rdbe1499921cd47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5c45ad63374394" /><Relationship Type="http://schemas.openxmlformats.org/officeDocument/2006/relationships/notesSlide" Target="/ppt/notesSlides/notesSlide8.xml" Id="R2663c28dd4204e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6e8ca57acb44ca" /><Relationship Type="http://schemas.openxmlformats.org/officeDocument/2006/relationships/notesSlide" Target="/ppt/notesSlides/notesSlide9.xml" Id="Ra5c0183265bd49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6B3C7FC-ACBA-4FD6-83E9-95125BBE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avance del proyecto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683F8CE6-BBAF-4C50-8FD9-E4BDD2F3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Una red que permita seguir atendiendo cuando algo falla.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397F5EE4-3232-44BE-BAC1-9D2473EC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01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86781C4F-2082-4453-AAE7-5C745264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scope">
            <a:extLst xmlns:a="http://schemas.openxmlformats.org/drawingml/2006/main">
              <a:ext uri="{FF2B5EF4-FFF2-40B4-BE49-F238E27FC236}">
                <a16:creationId xmlns:a16="http://schemas.microsoft.com/office/drawing/2014/main" id="{9EB52A16-7747-4C1B-AC41-41EB522A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23 sedes / 650 puestos</a:t>
            </a:r>
          </a:p>
        </p:txBody>
      </p:sp>
      <p:sp>
        <p:nvSpPr>
          <p:cNvPr id="6" name="status">
            <a:extLst xmlns:a="http://schemas.openxmlformats.org/drawingml/2006/main">
              <a:ext uri="{FF2B5EF4-FFF2-40B4-BE49-F238E27FC236}">
                <a16:creationId xmlns:a16="http://schemas.microsoft.com/office/drawing/2014/main" id="{1097D828-40F3-490C-8E65-51C16241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Diseño de red, simulador, inventario y presupuesto.</a:t>
            </a:r>
          </a:p>
        </p:txBody>
      </p:sp>
      <p:sp>
        <p:nvSpPr>
          <p:cNvPr id="7" name="scope-note">
            <a:extLst xmlns:a="http://schemas.openxmlformats.org/drawingml/2006/main">
              <a:ext uri="{FF2B5EF4-FFF2-40B4-BE49-F238E27FC236}">
                <a16:creationId xmlns:a16="http://schemas.microsoft.com/office/drawing/2014/main" id="{7DEB03D0-160D-45A3-86A6-C9EE3DA5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Ficha original: 22 sedes. Seis aperturas futuras por separado.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42D774F1-4CF8-4504-872E-7A178351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Hugo Eduardo Herrera Inostroza / Avance al 29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4866366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CAD3B46-36C7-4AA4-8605-DADAEED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problema de la red actual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555EDEC8-AAD3-4E60-B42A-93B98AAA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Una sola conexión deja a la sucursal sin otra salida.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F52DC531-FCDD-4B34-BC36-97D5E5C9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02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9CD096EC-A845-4A5A-A52C-CC228BFE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71AE0-E147-4C6A-AFFA-BBCF08CB03C9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6972300"/>
              </a:tblGrid>
              <a:tr h="825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misma sucursal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MPLS disponible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solicitud llega y recibe respuesta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MPLS interrumpido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 hay otra salida hacia central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pacity">
            <a:extLst xmlns:a="http://schemas.openxmlformats.org/drawingml/2006/main">
              <a:ext uri="{FF2B5EF4-FFF2-40B4-BE49-F238E27FC236}">
                <a16:creationId xmlns:a16="http://schemas.microsoft.com/office/drawing/2014/main" id="{E3AE60A5-CCC6-43A9-8D87-98E3FB68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Oficina tipo: 26,4 Mbps de carga normal / 100 Mbps de enlace.</a:t>
            </a:r>
          </a:p>
        </p:txBody>
      </p:sp>
    </p:spTree>
    <p:extLst>
      <p:ext uri="{BB962C8B-B14F-4D97-AF65-F5344CB8AC3E}">
        <p14:creationId xmlns:p14="http://schemas.microsoft.com/office/powerpoint/2010/main" val="1825738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32A05DA-538F-498F-8962-73D98FB6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La solución propuesta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8163158F-BFEF-45DB-8A85-AD8A0D4B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Agregar respaldo en los enlaces y en los equipos del camino.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20093435-6DCA-4288-B9BB-48FEBC16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03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3D6E5F35-78F9-48E0-B0A8-CF452337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transport">
            <a:extLst xmlns:a="http://schemas.openxmlformats.org/drawingml/2006/main">
              <a:ext uri="{FF2B5EF4-FFF2-40B4-BE49-F238E27FC236}">
                <a16:creationId xmlns:a16="http://schemas.microsoft.com/office/drawing/2014/main" id="{9BEA9119-6C9E-4DAD-9D42-5FC672CB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WAN-A: Starlink y Entel</a:t>
            </a:r>
          </a:p>
          <a:p xmlns:a="http://schemas.openxmlformats.org/drawingml/2006/main">
            <a: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WAN-B: Leo y WOM</a:t>
            </a:r>
          </a:p>
        </p:txBody>
      </p:sp>
      <p:sp>
        <p:nvSpPr>
          <p:cNvPr id="6" name="redundancy">
            <a:extLst xmlns:a="http://schemas.openxmlformats.org/drawingml/2006/main">
              <a:ext uri="{FF2B5EF4-FFF2-40B4-BE49-F238E27FC236}">
                <a16:creationId xmlns:a16="http://schemas.microsoft.com/office/drawing/2014/main" id="{A26866CB-405F-4744-AE73-9DE404EE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1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Dos routers y dos switches.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VPN IPsec y seguridad centralizada.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Wi-Fi como acceso alternativo del puesto.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92513-DB2A-42F2-9AEA-0390A48F35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f0a43ac1824e8f"/>
          <a:stretch xmlns:a="http://schemas.openxmlformats.org/drawingml/2006/main"/>
        </p:blipFill>
        <p:spPr>
          <a:xfrm xmlns:a="http://schemas.openxmlformats.org/drawingml/2006/main">
            <a:off x="4476750" y="2462632"/>
            <a:ext cx="7096125" cy="365676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80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4676F29-5CB3-45E7-84A5-04BB07B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Una falla con respaldo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CDA0AA5A-3C6F-4DF1-8B9F-E37BA418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La sucursal conserva otra salida cuando pierde Starlink.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67923830-9F6D-4957-91AF-4A8AA940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04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0C7C97E3-535D-490B-A01E-EE30137F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D1C50-8997-43E7-ACA9-08BEFF710AB8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571750"/>
                <a:gridCol w="3829050"/>
              </a:tblGrid>
              <a:tr h="825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Estado del ejemplo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Salida de Arica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Sin falla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Respuesta recibida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 interrumpido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Leo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Respuesta por el respaldo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mit">
            <a:extLst xmlns:a="http://schemas.openxmlformats.org/drawingml/2006/main">
              <a:ext uri="{FF2B5EF4-FFF2-40B4-BE49-F238E27FC236}">
                <a16:creationId xmlns:a16="http://schemas.microsoft.com/office/drawing/2014/main" id="{398E6ADD-7DD3-4342-ADCF-2B0216F8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El respaldo necesita un acceso disponible y capacidad para la carga.</a:t>
            </a:r>
          </a:p>
        </p:txBody>
      </p:sp>
    </p:spTree>
    <p:extLst>
      <p:ext uri="{BB962C8B-B14F-4D97-AF65-F5344CB8AC3E}">
        <p14:creationId xmlns:p14="http://schemas.microsoft.com/office/powerpoint/2010/main" val="20761526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59B6341-7462-4B9D-9B5C-541D3F93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Acceso seguro a los servicios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45D0FF0D-44DF-4265-9226-B8184D58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Poder conectarse no significa tener permiso para entrar a todo.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7E96C9AA-A6C3-4FD6-80DA-CE9C1B18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05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17942313-FBF1-4ADA-A210-F71C348B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47573-EBF6-48F7-BAC1-76EC6CAB4886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810500"/>
                <a:gridCol w="3162300"/>
              </a:tblGrid>
              <a:tr h="825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Intento del colaborador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Abrir la aplicación por HTTPS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Permitido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Entrar directamente a la base de datos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Bloqueado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policy">
            <a:extLst xmlns:a="http://schemas.openxmlformats.org/drawingml/2006/main">
              <a:ext uri="{FF2B5EF4-FFF2-40B4-BE49-F238E27FC236}">
                <a16:creationId xmlns:a16="http://schemas.microsoft.com/office/drawing/2014/main" id="{A99C9C40-B455-47B7-85FE-DE9ECC48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Los permisos se mantienen al cambiar de enlace.</a:t>
            </a:r>
          </a:p>
        </p:txBody>
      </p:sp>
    </p:spTree>
    <p:extLst>
      <p:ext uri="{BB962C8B-B14F-4D97-AF65-F5344CB8AC3E}">
        <p14:creationId xmlns:p14="http://schemas.microsoft.com/office/powerpoint/2010/main" val="17756938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8B1FF9A-1281-41FF-A98D-DD7ACAA9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Recuperación de la aplicación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4F511003-81DE-4290-8395-1DDB2908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El servidor alternativo también necesita datos que se puedan recuperar.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063DABFE-684F-449E-9F6E-A0974249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06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1335214A-0571-42CB-8CA8-A2906902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0E7DC-536C-4E30-B013-03AA1B8EC15E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143250"/>
                <a:gridCol w="3257550"/>
              </a:tblGrid>
              <a:tr h="7143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Operaciones generadas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 la copia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Por conciliar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checks">
            <a:extLst xmlns:a="http://schemas.openxmlformats.org/drawingml/2006/main">
              <a:ext uri="{FF2B5EF4-FFF2-40B4-BE49-F238E27FC236}">
                <a16:creationId xmlns:a16="http://schemas.microsoft.com/office/drawing/2014/main" id="{2048C455-2B5C-41A2-925A-22469431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Mayoría de votos, aislamiento, recursos, copia válida y aplicación.</a:t>
            </a:r>
          </a:p>
        </p:txBody>
      </p:sp>
      <p:sp>
        <p:nvSpPr>
          <p:cNvPr id="7" name="results">
            <a:extLst xmlns:a="http://schemas.openxmlformats.org/drawingml/2006/main">
              <a:ext uri="{FF2B5EF4-FFF2-40B4-BE49-F238E27FC236}">
                <a16:creationId xmlns:a16="http://schemas.microsoft.com/office/drawing/2014/main" id="{06FCBB57-8EBC-4BA6-87FF-B8A2B054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53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Ejercicio: recuperación en 50 s / RPO de 30 s del reloj virtual.</a:t>
            </a:r>
          </a:p>
          <a:p xmlns:a="http://schemas.openxmlformats.org/drawingml/2006/main">
            <a: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Objetivos del diseño: 300 s / 60 s.</a:t>
            </a:r>
          </a:p>
        </p:txBody>
      </p:sp>
    </p:spTree>
    <p:extLst>
      <p:ext uri="{BB962C8B-B14F-4D97-AF65-F5344CB8AC3E}">
        <p14:creationId xmlns:p14="http://schemas.microsoft.com/office/powerpoint/2010/main" val="16512967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691303A-A694-44DE-890E-42D48047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Capacidad y puesta en marcha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D95DB9E4-C7BB-496B-8620-39198E3B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El respaldo permite continuar, ajustando la carga disponible.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74313F7F-E852-42C0-B388-7BCFB6B6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07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684282B9-2EA5-474D-A16A-A6740125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D9EB3-4FC4-404B-BAFC-61F4CF5130B6}"/>
              </a:ext>
            </a:extLst>
          </p:cNvPr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2524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905750"/>
                <a:gridCol w="3067050"/>
              </a:tblGrid>
              <a:tr h="631031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Dimensionamiento de Casa Matriz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Subida objetivo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Sin video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647,4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 video limitado a 30 remotos y 3 centrales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965,6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Principal propuesto, por sentido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1.000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contingency">
            <a:extLst xmlns:a="http://schemas.openxmlformats.org/drawingml/2006/main">
              <a:ext uri="{FF2B5EF4-FFF2-40B4-BE49-F238E27FC236}">
                <a16:creationId xmlns:a16="http://schemas.microsoft.com/office/drawing/2014/main" id="{D200EB3E-9A60-4CBB-B326-1709213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En contingencia: aplicación y voz primero; video y cargas grandes esperan.</a:t>
            </a:r>
          </a:p>
        </p:txBody>
      </p:sp>
      <p:sp>
        <p:nvSpPr>
          <p:cNvPr id="7" name="plan">
            <a:extLst xmlns:a="http://schemas.openxmlformats.org/drawingml/2006/main">
              <a:ext uri="{FF2B5EF4-FFF2-40B4-BE49-F238E27FC236}">
                <a16:creationId xmlns:a16="http://schemas.microsoft.com/office/drawing/2014/main" id="{F3FEDEF4-3BA7-4E2C-9B34-24A646E5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Doce semanas: piloto y migración por grupos. Aperturas futuras: recalcular demanda.</a:t>
            </a:r>
          </a:p>
        </p:txBody>
      </p:sp>
    </p:spTree>
    <p:extLst>
      <p:ext uri="{BB962C8B-B14F-4D97-AF65-F5344CB8AC3E}">
        <p14:creationId xmlns:p14="http://schemas.microsoft.com/office/powerpoint/2010/main" val="12189438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723E18B-AE93-419C-81AC-BB0521E6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Dos alternativas de inversión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97FB2908-3138-4C7F-B31D-9CD68042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El diseño también tiene que poder financiarse.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184B9BB2-ADC8-472F-8807-28D35E61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08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519ADF4F-EA60-48DB-A63E-0FBABD45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0B8F46-6E1A-4C6C-BF4A-531401A85DED}"/>
              </a:ext>
            </a:extLst>
          </p:cNvPr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3152775"/>
                <a:gridCol w="3152775"/>
              </a:tblGrid>
              <a:tr h="690563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CLP, IVA supuesto incluido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A: Cisco / Palo Alto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B: MikroTik / OPNsense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$793,1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$281,2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mensual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$11,0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$11,0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a cinco años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$1.503,7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$966,8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budget">
            <a:extLst xmlns:a="http://schemas.openxmlformats.org/drawingml/2006/main">
              <a:ext uri="{FF2B5EF4-FFF2-40B4-BE49-F238E27FC236}">
                <a16:creationId xmlns:a16="http://schemas.microsoft.com/office/drawing/2014/main" id="{107FDF54-38CC-464D-872B-C141BD2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Ambas superan los $160 millones de referencia.</a:t>
            </a:r>
          </a:p>
        </p:txBody>
      </p:sp>
      <p:sp>
        <p:nvSpPr>
          <p:cNvPr id="7" name="scope">
            <a:extLst xmlns:a="http://schemas.openxmlformats.org/drawingml/2006/main">
              <a:ext uri="{FF2B5EF4-FFF2-40B4-BE49-F238E27FC236}">
                <a16:creationId xmlns:a16="http://schemas.microsoft.com/office/drawing/2014/main" id="{E2D48713-56C5-4D5F-A873-65792D0A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total incluye el inicial una vez, 60 meses WAN y reservas de operación.</a:t>
            </a:r>
          </a:p>
        </p:txBody>
      </p:sp>
    </p:spTree>
    <p:extLst>
      <p:ext uri="{BB962C8B-B14F-4D97-AF65-F5344CB8AC3E}">
        <p14:creationId xmlns:p14="http://schemas.microsoft.com/office/powerpoint/2010/main" val="2102119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012F17-8B6E-4C5A-8CE3-D524D0FE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Para finalizar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F4B8C5C1-3467-4247-A3F3-6D798C77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El avance permite explicar la propuesta y comprobar sus respuestas.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0F93894B-1B28-4192-B07B-7F34BC73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09 / 9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39A3FF27-29B9-417A-809D-73A99723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closing">
            <a:extLst xmlns:a="http://schemas.openxmlformats.org/drawingml/2006/main">
              <a:ext uri="{FF2B5EF4-FFF2-40B4-BE49-F238E27FC236}">
                <a16:creationId xmlns:a16="http://schemas.microsoft.com/office/drawing/2014/main" id="{B4061EB8-AEFE-49A9-BD3E-3854C4A8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Una propuesta que ya se puede poner a prueba</a:t>
            </a:r>
          </a:p>
        </p:txBody>
      </p:sp>
      <p:sp>
        <p:nvSpPr>
          <p:cNvPr id="6" name="contribution">
            <a:extLst xmlns:a="http://schemas.openxmlformats.org/drawingml/2006/main">
              <a:ext uri="{FF2B5EF4-FFF2-40B4-BE49-F238E27FC236}">
                <a16:creationId xmlns:a16="http://schemas.microsoft.com/office/drawing/2014/main" id="{45332849-82D7-4313-980E-F9C8CA9B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Diseño, simulador y costos coherentes.</a:t>
            </a:r>
          </a:p>
          <a:p xmlns:a="http://schemas.openxmlformats.org/drawingml/2006/main">
            <a: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Pruebas de conectividad, permisos y recuperación.</a:t>
            </a:r>
          </a:p>
        </p:txBody>
      </p:sp>
      <p:sp>
        <p:nvSpPr>
          <p:cNvPr id="7" name="next">
            <a:extLst xmlns:a="http://schemas.openxmlformats.org/drawingml/2006/main">
              <a:ext uri="{FF2B5EF4-FFF2-40B4-BE49-F238E27FC236}">
                <a16:creationId xmlns:a16="http://schemas.microsoft.com/office/drawing/2014/main" id="{898C045F-44F8-4AB0-A3AC-5696097D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Siguiente paso: validar las condiciones en un piloto.</a:t>
            </a:r>
          </a:p>
        </p:txBody>
      </p:sp>
      <p:sp>
        <p:nvSpPr>
          <p:cNvPr id="8" name="thanks">
            <a:extLst xmlns:a="http://schemas.openxmlformats.org/drawingml/2006/main">
              <a:ext uri="{FF2B5EF4-FFF2-40B4-BE49-F238E27FC236}">
                <a16:creationId xmlns:a16="http://schemas.microsoft.com/office/drawing/2014/main" id="{37B30888-6807-4F10-9EC1-6555161D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Muchas gracias, profesor.</a:t>
            </a:r>
          </a:p>
        </p:txBody>
      </p:sp>
    </p:spTree>
    <p:extLst>
      <p:ext uri="{BB962C8B-B14F-4D97-AF65-F5344CB8AC3E}">
        <p14:creationId xmlns:p14="http://schemas.microsoft.com/office/powerpoint/2010/main" val="869383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2026-10-29T06:32:39.9620000Z</dcterms:created>
  <dcterms:modified xsi:type="dcterms:W3CDTF">2026-10-29T06:32:39.9620000Z</dcterms:modified>
</coreProperties>
</file>