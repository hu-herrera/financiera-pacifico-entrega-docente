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ba2281d8c0460a" /><Relationship Type="http://schemas.openxmlformats.org/officeDocument/2006/relationships/extended-properties" Target="/docProps/app.xml" Id="R835361e239f645bc" /><Relationship Type="http://schemas.openxmlformats.org/officeDocument/2006/relationships/officeDocument" Target="/ppt/presentation.xml" Id="R621c7ae828d842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2f9272c6bb434a"/>
  </p:sldMasterIdLst>
  <p:notesMasterIdLst>
    <p:notesMasterId xmlns:r="http://schemas.openxmlformats.org/officeDocument/2006/relationships" r:id="R3106c8f0b4a54b6f"/>
  </p:notesMasterIdLst>
  <p:sldIdLst>
    <p:sldId xmlns:r="http://schemas.openxmlformats.org/officeDocument/2006/relationships" id="256" r:id="Rd829d8430e794587"/>
    <p:sldId xmlns:r="http://schemas.openxmlformats.org/officeDocument/2006/relationships" id="257" r:id="R176f519287c04e47"/>
    <p:sldId xmlns:r="http://schemas.openxmlformats.org/officeDocument/2006/relationships" id="258" r:id="R27fd7ce9a9754f68"/>
    <p:sldId xmlns:r="http://schemas.openxmlformats.org/officeDocument/2006/relationships" id="259" r:id="R752dd25d43754577"/>
    <p:sldId xmlns:r="http://schemas.openxmlformats.org/officeDocument/2006/relationships" id="260" r:id="Rc8342c362c6d4071"/>
    <p:sldId xmlns:r="http://schemas.openxmlformats.org/officeDocument/2006/relationships" id="261" r:id="R9810e706f807423f"/>
    <p:sldId xmlns:r="http://schemas.openxmlformats.org/officeDocument/2006/relationships" id="262" r:id="R07ac87d9ea6e4b39"/>
    <p:sldId xmlns:r="http://schemas.openxmlformats.org/officeDocument/2006/relationships" id="263" r:id="Rb852caad8670469a"/>
    <p:sldId xmlns:r="http://schemas.openxmlformats.org/officeDocument/2006/relationships" id="264" r:id="R887fd7d002e64b29"/>
    <p:sldId xmlns:r="http://schemas.openxmlformats.org/officeDocument/2006/relationships" id="265" r:id="R41fc2de77b99475b"/>
    <p:sldId xmlns:r="http://schemas.openxmlformats.org/officeDocument/2006/relationships" id="266" r:id="R342cfb1d42a146f4"/>
    <p:sldId xmlns:r="http://schemas.openxmlformats.org/officeDocument/2006/relationships" id="267" r:id="R2b9f794e8b24474a"/>
    <p:sldId xmlns:r="http://schemas.openxmlformats.org/officeDocument/2006/relationships" id="268" r:id="R7ae9ba0844e6433d"/>
    <p:sldId xmlns:r="http://schemas.openxmlformats.org/officeDocument/2006/relationships" id="269" r:id="Rdc72062108a642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abab2b7106434f" /><Relationship Type="http://schemas.openxmlformats.org/officeDocument/2006/relationships/slideMaster" Target="/ppt/slideMasters/slideMaster1.xml" Id="R062f9272c6bb434a" /><Relationship Type="http://schemas.openxmlformats.org/officeDocument/2006/relationships/notesMaster" Target="/ppt/notesMasters/notesMaster1.xml" Id="R3106c8f0b4a54b6f" /><Relationship Type="http://schemas.openxmlformats.org/officeDocument/2006/relationships/presProps" Target="/ppt/presProps.xml" Id="Rf8aecea667ce4727" /><Relationship Type="http://schemas.openxmlformats.org/officeDocument/2006/relationships/tableStyles" Target="/ppt/tableStyles.xml" Id="Rdd692a6ca2114878" /><Relationship Type="http://schemas.openxmlformats.org/officeDocument/2006/relationships/slide" Target="/ppt/slides/slide1.xml" Id="Rd829d8430e794587" /><Relationship Type="http://schemas.openxmlformats.org/officeDocument/2006/relationships/slide" Target="/ppt/slides/slide2.xml" Id="R176f519287c04e47" /><Relationship Type="http://schemas.openxmlformats.org/officeDocument/2006/relationships/slide" Target="/ppt/slides/slide3.xml" Id="R27fd7ce9a9754f68" /><Relationship Type="http://schemas.openxmlformats.org/officeDocument/2006/relationships/slide" Target="/ppt/slides/slide4.xml" Id="R752dd25d43754577" /><Relationship Type="http://schemas.openxmlformats.org/officeDocument/2006/relationships/slide" Target="/ppt/slides/slide5.xml" Id="Rc8342c362c6d4071" /><Relationship Type="http://schemas.openxmlformats.org/officeDocument/2006/relationships/slide" Target="/ppt/slides/slide6.xml" Id="R9810e706f807423f" /><Relationship Type="http://schemas.openxmlformats.org/officeDocument/2006/relationships/slide" Target="/ppt/slides/slide7.xml" Id="R07ac87d9ea6e4b39" /><Relationship Type="http://schemas.openxmlformats.org/officeDocument/2006/relationships/slide" Target="/ppt/slides/slide8.xml" Id="Rb852caad8670469a" /><Relationship Type="http://schemas.openxmlformats.org/officeDocument/2006/relationships/slide" Target="/ppt/slides/slide9.xml" Id="R887fd7d002e64b29" /><Relationship Type="http://schemas.openxmlformats.org/officeDocument/2006/relationships/slide" Target="/ppt/slides/slide10.xml" Id="R41fc2de77b99475b" /><Relationship Type="http://schemas.openxmlformats.org/officeDocument/2006/relationships/slide" Target="/ppt/slides/slide11.xml" Id="R342cfb1d42a146f4" /><Relationship Type="http://schemas.openxmlformats.org/officeDocument/2006/relationships/slide" Target="/ppt/slides/slide12.xml" Id="R2b9f794e8b24474a" /><Relationship Type="http://schemas.openxmlformats.org/officeDocument/2006/relationships/slide" Target="/ppt/slides/slide13.xml" Id="R7ae9ba0844e6433d" /><Relationship Type="http://schemas.openxmlformats.org/officeDocument/2006/relationships/slide" Target="/ppt/slides/slide14.xml" Id="Rdc72062108a642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f9dd6c0eaa4d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b87db36cbb47a7" /><Relationship Type="http://schemas.openxmlformats.org/officeDocument/2006/relationships/notesMaster" Target="/ppt/notesMasters/notesMaster1.xml" Id="R06043435582145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1cc50cd93624578" /><Relationship Type="http://schemas.openxmlformats.org/officeDocument/2006/relationships/notesMaster" Target="/ppt/notesMasters/notesMaster1.xml" Id="R83cb17fae4ee48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b00cfb6f434de4" /><Relationship Type="http://schemas.openxmlformats.org/officeDocument/2006/relationships/notesMaster" Target="/ppt/notesMasters/notesMaster1.xml" Id="R0778399a346e40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27f07725194926" /><Relationship Type="http://schemas.openxmlformats.org/officeDocument/2006/relationships/notesMaster" Target="/ppt/notesMasters/notesMaster1.xml" Id="R50c56b3d84d140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1c410eb8ad42cb" /><Relationship Type="http://schemas.openxmlformats.org/officeDocument/2006/relationships/notesMaster" Target="/ppt/notesMasters/notesMaster1.xml" Id="R29e1fea9aebc4e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fca6a1b3404fb1" /><Relationship Type="http://schemas.openxmlformats.org/officeDocument/2006/relationships/notesMaster" Target="/ppt/notesMasters/notesMaster1.xml" Id="R7c3983484ec848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812cd08c1a24ea1" /><Relationship Type="http://schemas.openxmlformats.org/officeDocument/2006/relationships/notesMaster" Target="/ppt/notesMasters/notesMaster1.xml" Id="R7fc3160aea7d4d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63b00ecefb47ec" /><Relationship Type="http://schemas.openxmlformats.org/officeDocument/2006/relationships/notesMaster" Target="/ppt/notesMasters/notesMaster1.xml" Id="Rc6388a5afe0949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37bf5d182e498d" /><Relationship Type="http://schemas.openxmlformats.org/officeDocument/2006/relationships/notesMaster" Target="/ppt/notesMasters/notesMaster1.xml" Id="Rfab4bd9eab8c49c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be66f4edd2447a" /><Relationship Type="http://schemas.openxmlformats.org/officeDocument/2006/relationships/notesMaster" Target="/ppt/notesMasters/notesMaster1.xml" Id="Rda322e16f3bf49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0eb4b7775994079" /><Relationship Type="http://schemas.openxmlformats.org/officeDocument/2006/relationships/notesMaster" Target="/ppt/notesMasters/notesMaster1.xml" Id="R03620c826c314a5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6d27a1840144fe3" /><Relationship Type="http://schemas.openxmlformats.org/officeDocument/2006/relationships/notesMaster" Target="/ppt/notesMasters/notesMaster1.xml" Id="Rac362ea659554dc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7fcca5da00c4ca0" /><Relationship Type="http://schemas.openxmlformats.org/officeDocument/2006/relationships/notesMaster" Target="/ppt/notesMasters/notesMaster1.xml" Id="R3cee9227a4854ab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a80509efcb94305" /><Relationship Type="http://schemas.openxmlformats.org/officeDocument/2006/relationships/notesMaster" Target="/ppt/notesMasters/notesMaster1.xml" Id="Rbfbb85886a7c43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https://github.com/hu-herrera/fin/blob/main/docs/entrega-profesor-fuentes/01_Informe_Diagnostico_Propuesta.md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https://github.com/hu-herrera/fin/blob/main/docs/entrega-profesor-fuentes/Entregable-6.md y https://github.com/hu-herrera/fin/blob/main/docs/entrega-profesor-fuentes/03_Bitacora.md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https://github.com/hu-herrera/fin/blob/main/docs/entrega-profesor-fuentes/00_Caso_Oficial.md y https://github.com/hu-herrera/fin/blob/main/docs/entrega-profesor-fuentes/01_Informe_Diagnostico_Propuesta.md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https://github.com/hu-herrera/fin/blob/main/docs/entrega-profesor-fuentes/Entregable-1.md y https://github.com/hu-herrera/fin/blob/main/docs/entrega-profesor-fuentes/Entregable-3.md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https://github.com/hu-herrera/fin/blob/main/docs/entrega-profesor-fuentes/Entregable-3.md. Extracto del plano S06, alternativa B, Anexos/Topologias_ANTES_A_B.pdf.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https://github.com/hu-herrera/fin/blob/main/docs/entrega-profesor-fuentes/Entregable-2.md y https://github.com/hu-herrera/fin/blob/main/docs/entrega-profesor-fuentes/Entregable-7.md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https://github.com/hu-herrera/fin/blob/main/docs/entrega-profesor-fuentes/Entregable-4.md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https://github.com/hu-herrera/fin/blob/main/docs/entrega-profesor-fuentes/Entregable-3.md y https://github.com/hu-herrera/fin/blob/main/docs/entrega-profesor-fuentes/Entregable-4.md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https://github.com/hu-herrera/fin/blob/main/docs/entrega-profesor-fuentes/Entregable-5.md y https://github.com/hu-herrera/fin/blob/main/docs/entrega-profesor-fuentes/Entregable-6.md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https://github.com/hu-herrera/fin/blob/main/docs/entrega-profesor-fuentes/Entregable-6.md. Commit de red 228ec2674d2b784b4cb67dab1128e969f681d3aa.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https://github.com/hu-herrera/fin/blob/main/docs/entrega-profesor-fuentes/Entregable-7.md y Anexos/Presupuesto_Inventario.xlsx.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https://github.com/hu-herrera/fin/blob/main/docs/entrega-profesor-fuentes/Entregable-3.md, https://github.com/hu-herrera/fin/blob/main/docs/entrega-profesor-fuentes/Entregable-7.md y solicitud de distribuidores de otra marca en ambas opciones.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https://github.com/hu-herrera/fin/blob/main/docs/entrega-profesor-fuentes/Entregable-7.md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Aviso docente recibido el 23/10/2026: video y PPT por AVA, plazo viernes 30/10/2026. Fechas intermedias propuestas para organizar el trabajo.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fa466237174af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f6820384ee4ff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c8c79c268b45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00e3a9494747d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a7e900c3af497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551f31db4243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F0C6E2-7E90-4AB7-A1CD-E62C976F48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89974A-8308-48A6-ADB7-627686EC5F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CCEB1EB-CCC9-4511-9C44-B47A47C97C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246A8F-DA40-450A-966C-E0975E97B1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DCE6A6-32F6-4A13-9E77-B5E9F30FD8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3B74B6-D944-485C-8AC2-861667628E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FBCD97-1D37-4D55-850C-52F4C3A77E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77D2D1-E0C8-4B75-9CA1-AEB06645B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5E2CC7-F6A9-4E28-B129-C0934DF908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5F9C98-C1C2-47F9-B049-5EC59312CE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90054fb2404a84" /><Relationship Type="http://schemas.openxmlformats.org/officeDocument/2006/relationships/slideLayout" Target="/ppt/slideLayouts/slideLayout1.xml" Id="Rdb03e854affc4273" /><Relationship Type="http://schemas.openxmlformats.org/officeDocument/2006/relationships/slideLayout" Target="/ppt/slideLayouts/slideLayout2.xml" Id="Rc871822e10874281" /><Relationship Type="http://schemas.openxmlformats.org/officeDocument/2006/relationships/slideLayout" Target="/ppt/slideLayouts/slideLayout3.xml" Id="Rc5895bdcaa3c4231" /><Relationship Type="http://schemas.openxmlformats.org/officeDocument/2006/relationships/slideLayout" Target="/ppt/slideLayouts/slideLayout4.xml" Id="R2ea8dcc544604720" /><Relationship Type="http://schemas.openxmlformats.org/officeDocument/2006/relationships/slideLayout" Target="/ppt/slideLayouts/slideLayout5.xml" Id="Rb0ce696c0efa47bc" /><Relationship Type="http://schemas.openxmlformats.org/officeDocument/2006/relationships/slideLayout" Target="/ppt/slideLayouts/slideLayout6.xml" Id="Rf39054bb223742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03e854affc4273"/>
    <p:sldLayoutId xmlns:r="http://schemas.openxmlformats.org/officeDocument/2006/relationships" id="2147483650" r:id="Rc871822e10874281"/>
    <p:sldLayoutId xmlns:r="http://schemas.openxmlformats.org/officeDocument/2006/relationships" id="2147483651" r:id="Rc5895bdcaa3c4231"/>
    <p:sldLayoutId xmlns:r="http://schemas.openxmlformats.org/officeDocument/2006/relationships" id="2147483652" r:id="R2ea8dcc544604720"/>
    <p:sldLayoutId xmlns:r="http://schemas.openxmlformats.org/officeDocument/2006/relationships" id="2147483653" r:id="Rb0ce696c0efa47bc"/>
    <p:sldLayoutId xmlns:r="http://schemas.openxmlformats.org/officeDocument/2006/relationships" id="2147483654" r:id="Rf39054bb223742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5acf8d77da4224" /><Relationship Type="http://schemas.openxmlformats.org/officeDocument/2006/relationships/notesSlide" Target="/ppt/notesSlides/notesSlide1.xml" Id="Rbca22fc3cba040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c7dbb23fd8471c" /><Relationship Type="http://schemas.openxmlformats.org/officeDocument/2006/relationships/notesSlide" Target="/ppt/notesSlides/notesSlide2.xml" Id="R0f5c2e0c259b4c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0d58187f164ad4" /><Relationship Type="http://schemas.openxmlformats.org/officeDocument/2006/relationships/notesSlide" Target="/ppt/notesSlides/notesSlide3.xml" Id="R51ede32d721945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c9ac75afcd4ad7" /><Relationship Type="http://schemas.openxmlformats.org/officeDocument/2006/relationships/notesSlide" Target="/ppt/notesSlides/notesSlide4.xml" Id="R4301a975cc1947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6fc484c28848d7" /><Relationship Type="http://schemas.openxmlformats.org/officeDocument/2006/relationships/image" Target="/ppt/media/image.png" Id="R7c2cd2e13e814a17" /><Relationship Type="http://schemas.openxmlformats.org/officeDocument/2006/relationships/notesSlide" Target="/ppt/notesSlides/notesSlide5.xml" Id="R892d069294314d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aab74a1292437c" /><Relationship Type="http://schemas.openxmlformats.org/officeDocument/2006/relationships/notesSlide" Target="/ppt/notesSlides/notesSlide6.xml" Id="R8d981dff3b1e46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50f4fffbc84d4a" /><Relationship Type="http://schemas.openxmlformats.org/officeDocument/2006/relationships/notesSlide" Target="/ppt/notesSlides/notesSlide7.xml" Id="R19e2e6b16a9a43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ca4912a7204b89" /><Relationship Type="http://schemas.openxmlformats.org/officeDocument/2006/relationships/notesSlide" Target="/ppt/notesSlides/notesSlide8.xml" Id="R31f7f2ff7fa64d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260ad546124263" /><Relationship Type="http://schemas.openxmlformats.org/officeDocument/2006/relationships/hyperlink" Target="https://hu-herrera.github.io/fin/" TargetMode="External" Id="R7dee3f55b8854e8f" /><Relationship Type="http://schemas.openxmlformats.org/officeDocument/2006/relationships/notesSlide" Target="/ppt/notesSlides/notesSlide9.xml" Id="R1ca5dcc68c684f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418a931087474a" /><Relationship Type="http://schemas.openxmlformats.org/officeDocument/2006/relationships/notesSlide" Target="/ppt/notesSlides/notesSlide10.xml" Id="Ra6ee2ca46ec041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b4ef8bf0d6493f" /><Relationship Type="http://schemas.openxmlformats.org/officeDocument/2006/relationships/notesSlide" Target="/ppt/notesSlides/notesSlide11.xml" Id="R97991b6c447949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e012669c6d487d" /><Relationship Type="http://schemas.openxmlformats.org/officeDocument/2006/relationships/notesSlide" Target="/ppt/notesSlides/notesSlide12.xml" Id="R298b43307d7447e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10df6d927d4b3f" /><Relationship Type="http://schemas.openxmlformats.org/officeDocument/2006/relationships/notesSlide" Target="/ppt/notesSlides/notesSlide13.xml" Id="R5c19da18d49e499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146adbb52c4c1f" /><Relationship Type="http://schemas.openxmlformats.org/officeDocument/2006/relationships/notesSlide" Target="/ppt/notesSlides/notesSlide14.xml" Id="Rfc94ee4197664d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6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10C233B5-9DDC-4683-9997-EDF895CE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CE3486B-E8DB-459E-AB43-210D30C5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F082752-0A06-44DB-8B28-6BAFFB70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287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Continuidad y seguridad</a:t>
            </a:r>
          </a:p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entre sucursales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502132F-AB64-4B90-9693-E7B310FB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rPr>
              <a:t>Avance Capstone al 24 de octubre de 2026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51557CB-D290-4D86-9D77-7B2928DB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Hugo Eduardo Herrera Inostroza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Proyecto de Título APT</a:t>
            </a:r>
          </a:p>
        </p:txBody>
      </p:sp>
    </p:spTree>
    <p:extLst>
      <p:ext uri="{BB962C8B-B14F-4D97-AF65-F5344CB8AC3E}">
        <p14:creationId xmlns:p14="http://schemas.microsoft.com/office/powerpoint/2010/main" val="15780532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A4464EB4-9F0D-4D9D-984C-A362AAD2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Estado actual del proyecto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F3D0EC9-5E26-4ED1-9AD6-6141FF65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7205840-C11A-4F2E-A349-501AFDFA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519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Prototipo implementado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11B92CC-326B-4EEE-AE03-DDEC560F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Simulador web con ANTES y rediseño A/B.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Dispositivos con modelo, IP, VLAN, interfaces y puertos.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BBF4EC9-2AA4-4F07-9DB9-600345E4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28775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Documentación consolidada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F102EE6D-B0D7-40CE-974F-74B28EA2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33600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Caso, diagnóstico y propuesta, entregables 1–7, bitácora y anexos.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Inventario y costos conciliados por alternativa.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B69C443B-0F2F-4658-8A37-31373C6D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81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Pruebas de caminos, políticas de acceso y fallas registradas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F2FEB201-C350-482D-92A6-DD5F234E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Pendientes de esta entrega: grabación y revisión del video, envío de video y PPT por AVA.</a:t>
            </a:r>
          </a:p>
        </p:txBody>
      </p:sp>
    </p:spTree>
    <p:extLst>
      <p:ext uri="{BB962C8B-B14F-4D97-AF65-F5344CB8AC3E}">
        <p14:creationId xmlns:p14="http://schemas.microsoft.com/office/powerpoint/2010/main" val="6723010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AC9DA80F-C300-4939-8D0B-CECB5257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Alcance oficial y escenario adoptado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8B20E09-0F2F-4D75-8505-ED42E477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A10B46E-4642-4E5B-9C16-C8562F44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Ficha oficial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DAEBF1F-74DF-40BB-8662-415F2C29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780 trabajadores y unos 650 usuarios TI.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22 sedes: Casa Matriz y 21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Problema: falta de contingencia remota y cambios manuales.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929D680-EF56-49F5-BE4E-55FC4FB6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Adaptación del proyecto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7DECEA33-B2C8-4391-80D0-35DE1A58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6692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23 sedes: Casa Matriz y 22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650 PCs y 650 teléfonos existentes adoptados como inventario.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Seis futuras aperturas con presupuesto separado.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55BCB47-CC8B-4430-8997-CF187B10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Modelos, carga, direccionamiento y condiciones comerciales son supuestos explícitos del caso ficticio.</a:t>
            </a:r>
          </a:p>
        </p:txBody>
      </p:sp>
    </p:spTree>
    <p:extLst>
      <p:ext uri="{BB962C8B-B14F-4D97-AF65-F5344CB8AC3E}">
        <p14:creationId xmlns:p14="http://schemas.microsoft.com/office/powerpoint/2010/main" val="5716691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65C969E9-7E24-43F4-9F3D-1541EA4D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Diagnóstico de la red anterior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F23105E-659B-4255-986E-063D1AAB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97678-3B5E-4A7A-8457-D26809B1EAD8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705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0"/>
                <a:gridCol w="5734050"/>
              </a:tblGrid>
              <a:tr h="92630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Dependencia adoptada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Consecuencia de una falla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Sucursal: un router, un switch y un MPLS de 100 Mbps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Puede perder acceso a aplicación financiera y telefonía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Central: dos MPLS de 1 Gbps, dos ISP de 500 Mbps y un firewall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Hay redundancia de enlaces, pero el firewall sigue siendo único.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DC-01 con aplicación/BD y DC-02 con voz/servicios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Los roles separados no recuperan automáticamente una VM en el otro host.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613C4B0-A5C1-475D-B0F4-684DCAF9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100 Mbps cubren la carga normal calculada de unos 26,4 Mbps en una sucursal de 30 puestos.</a:t>
            </a:r>
          </a:p>
        </p:txBody>
      </p:sp>
    </p:spTree>
    <p:extLst>
      <p:ext uri="{BB962C8B-B14F-4D97-AF65-F5344CB8AC3E}">
        <p14:creationId xmlns:p14="http://schemas.microsoft.com/office/powerpoint/2010/main" val="9563738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318142DD-5E09-4FF5-A23C-BDAAC46E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Arquitectura de una sucursal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60EBB74-998D-410F-BDF6-37B68EF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D7E6B0-B2ED-4D10-94AC-764A18C45A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2cd2e13e814a17"/>
          <a:stretch xmlns:a="http://schemas.openxmlformats.org/drawingml/2006/main"/>
        </p:blipFill>
        <p:spPr>
          <a:xfrm xmlns:a="http://schemas.openxmlformats.org/drawingml/2006/main">
            <a:off x="1723159" y="1476375"/>
            <a:ext cx="8745682" cy="3848100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F3FCFA-A0E6-451F-8295-D0D58979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715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Cuatro transportes y dos dominios WAN independientes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B7EB25AB-AE7D-4314-BF59-0080EF98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VPN hacia el par de firewalls de Casa Matriz. La navegación sale inspeccionada por central.</a:t>
            </a:r>
          </a:p>
        </p:txBody>
      </p:sp>
    </p:spTree>
    <p:extLst>
      <p:ext uri="{BB962C8B-B14F-4D97-AF65-F5344CB8AC3E}">
        <p14:creationId xmlns:p14="http://schemas.microsoft.com/office/powerpoint/2010/main" val="9696517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B503FEEB-1584-451B-B7C1-D2ECB0CF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Alternativas de equipamiento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0572C7A-2BA2-4F8A-9255-FC7AEF8A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C67B83-FD8C-4F2E-9754-1E494ACEB33D}"/>
              </a:ext>
            </a:extLst>
          </p:cNvPr>
          <p:cNvGraphicFramePr/>
          <p:nvPr/>
        </p:nvGraphicFramePr>
        <p:xfrm>
          <a:off xmlns:a="http://schemas.openxmlformats.org/drawingml/2006/main" x="609600" y="1495425"/>
          <a:ext xmlns:a="http://schemas.openxmlformats.org/drawingml/2006/main" cx="109728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238625"/>
                <a:gridCol w="4210050"/>
              </a:tblGrid>
              <a:tr h="7905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Función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A: Cisco / Palo Alto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B: MikroTik / OPNsense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Routers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C1121X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 reutilizados y 37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42 CCR2004 y 2 RB5009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Switches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C9200L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17 reutilizados y 27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CRS328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Firewalls centrales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PA-1410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DEC3852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Distribución WAN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hEX E50UG y 1 CRS310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hEX E50UG y 1 CRS310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48770BC2-9BCD-49FE-B907-D140BA72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Ambas conservan 2 C9200L centrales, PCs, teléfonos y hosts existentes. B usa LACP/RSTP/VRRP, sin StackWise.</a:t>
            </a:r>
          </a:p>
        </p:txBody>
      </p:sp>
    </p:spTree>
    <p:extLst>
      <p:ext uri="{BB962C8B-B14F-4D97-AF65-F5344CB8AC3E}">
        <p14:creationId xmlns:p14="http://schemas.microsoft.com/office/powerpoint/2010/main" val="5818099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54799513-7A3D-4348-B658-34F05001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Segmentación y permisos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916F03B-48F4-4883-B911-0003EC8E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328E5-A076-49A7-9CDC-2C5617152A55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3524250"/>
                <a:gridCol w="4495800"/>
              </a:tblGrid>
              <a:tr h="8001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Segmento o servicio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Dirección de ejemplo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Política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Datos S06, VLAN 10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10.70.6.0/25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Gateway 10.70.6.1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Usuarios acceden a APP por HTTPS.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y BD, VLAN 50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10.70.200.10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BD 10.70.200.11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TCP 443 a APP. TCP 5432 a BD solo desde APP.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Voz, VLAN 20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PBX 10.70.200.20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Señalización TLS 5061 y medios autorizados.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/ gestión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VLAN 40 / VLAN 130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aislados. Administración desde NOC.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088E488D-964E-4335-8B21-E49B1DF2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Las VLAN son locales. Sus subredes IP se enrutan por IPsec. APP/BD requieren también filtros de host.</a:t>
            </a:r>
          </a:p>
        </p:txBody>
      </p:sp>
    </p:spTree>
    <p:extLst>
      <p:ext uri="{BB962C8B-B14F-4D97-AF65-F5344CB8AC3E}">
        <p14:creationId xmlns:p14="http://schemas.microsoft.com/office/powerpoint/2010/main" val="17461629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727886E3-7B5C-4B4C-89D2-5EC10D58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Alta disponibilidad de los servicios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BF3DB2A-3E08-47FF-8270-3259FF4D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51DD794-8DCF-4AA7-86A1-32D35A14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Recuperación entre dos hosts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F490D54-9642-4B8E-8B42-DCB1082E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DC-01 y DC-02 conservan los Dell R740.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DC-02 aumenta a 64 GiB y 3.840 GB útiles. Ambos hosts conectan a los dos switches.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B5F0578B-B712-42EB-BEB7-226871E1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4305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Condiciones de recuperación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636CD48-5BD6-4395-8F38-0C9FF24D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Réplica ZFS utilizable, testigo en BKP y dos de tres votos.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Aislamiento del host fallado antes de reiniciar las VMs en el superviviente.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E9385689-DA2F-4377-8FD1-0384FEB5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Metas: pérdida de datos ≤60 s y recuperación ≤300 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7238FC74-7C06-493A-843E-B7E4785C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RPO y recuperación son objetivos del diseño. El modelo no garantiza sesiones ni recuperación ante pérdida de toda CM.</a:t>
            </a:r>
          </a:p>
        </p:txBody>
      </p:sp>
    </p:spTree>
    <p:extLst>
      <p:ext uri="{BB962C8B-B14F-4D97-AF65-F5344CB8AC3E}">
        <p14:creationId xmlns:p14="http://schemas.microsoft.com/office/powerpoint/2010/main" val="11928921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B064DFD7-B409-4E4B-AE30-7425D02A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Demostración del prototipo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77155C4-8753-499C-A5FC-B6C6FF44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09310D-657B-4D94-81D2-7BD013D32E95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6400800"/>
              </a:tblGrid>
              <a:tr h="7429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Escenario implementado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Comportamiento comprobable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ANTES: cortar el MPLS de S06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La sucursal pierde su único camino hacia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DESPUÉS: cortar transporte o router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 selecciona otro camino cuando sus dependencias están 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Acceso a 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permitida, BD restringida e invitados sin acceso interno.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Caída de host o central completa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Recuperación condicionada del host. CM completa caída deja servicios indisponibles.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1037176-034C-4E05-BA7F-8E5A0EE9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7dee3f55b8854e8f"/>
              </a:rPr>
              <a:t>Abrir simulador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3EE3AE0C-E48E-4659-B48E-3AAB87D7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animación y las pruebas del navegador representan la lógica del modelo. El video de demostración está pendiente.</a:t>
            </a:r>
          </a:p>
        </p:txBody>
      </p:sp>
    </p:spTree>
    <p:extLst>
      <p:ext uri="{BB962C8B-B14F-4D97-AF65-F5344CB8AC3E}">
        <p14:creationId xmlns:p14="http://schemas.microsoft.com/office/powerpoint/2010/main" val="13961558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C2A51BF8-B013-42EC-B64E-D69CAC86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Evidencia y límites de los resultados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3742027-275A-4073-8720-EAC4C645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3DA6D02-ECE0-4928-8B20-02A9A9EB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79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914D401-62FC-43D1-9DB5-07B36758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pruebas de lógica aprobadas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93068BE-625C-45FB-9444-B09AF9FD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144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765DC43-037D-4B95-B599-3EDF46A7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622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pruebas de navegador en la pasada general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E283F77-C0A4-41F5-B43C-105FCC7A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1.351 comprobaciones adicionales de caminos A/B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8DB7A137-EAC3-4D55-9E86-A1F609F1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108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La revisión final repite 31 pruebas del alcance general.</a:t>
            </a:r>
          </a:p>
          <a:p xmlns:a="http://schemas.openxmlformats.org/drawingml/2006/main">
            <a: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Los resultados corresponden al software y sus reglas.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EEAD08A1-C3F9-49BE-A470-17E8D767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99,99 % core y 99,95 % sucursal son metas anuales. El mapa muestra conectividad del escenario, no disponibilidad medida.</a:t>
            </a:r>
          </a:p>
        </p:txBody>
      </p:sp>
    </p:spTree>
    <p:extLst>
      <p:ext uri="{BB962C8B-B14F-4D97-AF65-F5344CB8AC3E}">
        <p14:creationId xmlns:p14="http://schemas.microsoft.com/office/powerpoint/2010/main" val="7020760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83659B90-63F0-433C-B384-B228C33C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Presupuesto del alcance a cinco años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3D3AB8D-C88A-4311-9007-94A4C7B3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8D7F6-8752-43DA-84B1-1E5BA9392AA3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86300"/>
                <a:gridCol w="3143250"/>
                <a:gridCol w="3143250"/>
              </a:tblGrid>
              <a:tr h="7429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CLP con IVA supuesto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B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Inversión inicial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792.550.011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280.617.592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WAN por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658.885.320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658.885.320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 operativa por 5 años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50.000.000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Total del alcance a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1.501.435.331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964.502.912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6D9DA5B-54C5-482C-A550-64E8529D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Ambas superan la referencia original de CLP 160 millones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C6169EE3-4C58-432B-9760-C22A7A20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Incluye el inicial una vez. WAN común: CLP 10.981.422/mes. Valores referenciales, no contratos ni compras ejecutadas.</a:t>
            </a:r>
          </a:p>
        </p:txBody>
      </p:sp>
    </p:spTree>
    <p:extLst>
      <p:ext uri="{BB962C8B-B14F-4D97-AF65-F5344CB8AC3E}">
        <p14:creationId xmlns:p14="http://schemas.microsoft.com/office/powerpoint/2010/main" val="2623377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6DF6B4EA-8FD5-46D4-AD2C-1E04282F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Revisión final y límites del diseño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C9C7C00-F39A-4DF8-A6F8-FA995BDF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11ABEFA-822F-4AA3-ABE2-F7E34FA8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Ajuste WAN cerrado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8776B12-3345-4857-A9C7-FE0D0877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 y B ya usan distribuidores MikroTik. La revisión WAN-2 concilia modelos, puertos, inventario y presupuesto.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5930B70-6D0D-4458-A33A-69EB9455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Capacidad de central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BA6F7C28-F113-495F-B4C3-FE987683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El pico calculado con video llega a 1.088 Mbps de subida frente a 1.000 Mbps del principal. Se requiere admisión de video y revisión antes de crecer.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85D1EDDE-6CD2-41D2-9CF6-4FEAE645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Supuestos comerciales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4FCDF9ED-0BE1-44FC-824E-3AE051AE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Leo, cobertura en sedes extremas, caudales y descuentos pertenecen al escenario ficticio. La comparación económica debe conservar esas condiciones visibles.</a:t>
            </a:r>
          </a:p>
        </p:txBody>
      </p:sp>
    </p:spTree>
    <p:extLst>
      <p:ext uri="{BB962C8B-B14F-4D97-AF65-F5344CB8AC3E}">
        <p14:creationId xmlns:p14="http://schemas.microsoft.com/office/powerpoint/2010/main" val="1345501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E5CDC38B-9FAE-46F9-9918-AA693946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implantación de la propuesta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D767768-4107-45E1-99C6-4236D1D3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540FED-14EA-4B1C-944C-4073CA6C4F0D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8858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Periodo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Actividad prevista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1: doce semanas de implantación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Piloto CM/S01, tres olas de seis sucursales y cierre de S20/S21/S22. Mantener MPLS transitorio hasta aceptación.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Años 2–4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Operación, parches, revisión de capacidad, ejercicios de restauración y mantenimiento.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5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Evaluación de indicadores y plan de renovación del siguiente ciclo.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CAD99BF4-D821-49A9-ADA3-AD188291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Plan de una implementación hipotética. Las seis aperturas futuras requieren su propia fase y presupuesto.</a:t>
            </a:r>
          </a:p>
        </p:txBody>
      </p:sp>
    </p:spTree>
    <p:extLst>
      <p:ext uri="{BB962C8B-B14F-4D97-AF65-F5344CB8AC3E}">
        <p14:creationId xmlns:p14="http://schemas.microsoft.com/office/powerpoint/2010/main" val="27981598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27F0AC76-9E38-4C29-BA48-3400BB4E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entrega al 30 de octubre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EE9687B-3EBB-4A9F-BBC6-1D6DD56A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C11D2E-A2D0-4FFC-897E-8DF656F1A88A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683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Fecha propuesta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 esperado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23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Repositorio docente y PowerPoint de avance preparados.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24–25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Cambio WAN de A cerrado. Revisar el recorrido de la grabación.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26–28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Grabar el video con la demostración del simulador.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29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Revisar audio, legibilidad y coherencia entre video y PPT.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Viernes 30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Enviar ambos archivos por AVA y comprobar la recepción.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D1069FF-3C94-49DD-AA0C-5442E4E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entrega revisa avances reales. La grabación y el envío por AVA aún no se han realizado.</a:t>
            </a:r>
          </a:p>
        </p:txBody>
      </p:sp>
    </p:spTree>
    <p:extLst>
      <p:ext uri="{BB962C8B-B14F-4D97-AF65-F5344CB8AC3E}">
        <p14:creationId xmlns:p14="http://schemas.microsoft.com/office/powerpoint/2010/main" val="19775423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2026-10-24T03:18:05.9440000Z</dcterms:created>
  <dcterms:modified xsi:type="dcterms:W3CDTF">2026-10-24T03:18:05.9440000Z</dcterms:modified>
</coreProperties>
</file>