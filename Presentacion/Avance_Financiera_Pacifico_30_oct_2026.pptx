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0623f1f9154777" /><Relationship Type="http://schemas.openxmlformats.org/officeDocument/2006/relationships/extended-properties" Target="/docProps/app.xml" Id="R2e106f8e31b1480b" /><Relationship Type="http://schemas.openxmlformats.org/officeDocument/2006/relationships/officeDocument" Target="/ppt/presentation.xml" Id="R2a65630cae4140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0a8a683aaa4bcd"/>
  </p:sldMasterIdLst>
  <p:notesMasterIdLst>
    <p:notesMasterId xmlns:r="http://schemas.openxmlformats.org/officeDocument/2006/relationships" r:id="Rb96ba321e5544be0"/>
  </p:notesMasterIdLst>
  <p:sldIdLst>
    <p:sldId xmlns:r="http://schemas.openxmlformats.org/officeDocument/2006/relationships" id="256" r:id="R8556fd0d80c64104"/>
    <p:sldId xmlns:r="http://schemas.openxmlformats.org/officeDocument/2006/relationships" id="257" r:id="Ra7da00e1db74438e"/>
    <p:sldId xmlns:r="http://schemas.openxmlformats.org/officeDocument/2006/relationships" id="258" r:id="Rf53c22501d1c46e7"/>
    <p:sldId xmlns:r="http://schemas.openxmlformats.org/officeDocument/2006/relationships" id="259" r:id="Re450e42c8d2a49e0"/>
    <p:sldId xmlns:r="http://schemas.openxmlformats.org/officeDocument/2006/relationships" id="260" r:id="R525f13047a77482b"/>
    <p:sldId xmlns:r="http://schemas.openxmlformats.org/officeDocument/2006/relationships" id="261" r:id="Reb40a7bb87b54e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6d373a5c36442c" /><Relationship Type="http://schemas.openxmlformats.org/officeDocument/2006/relationships/slideMaster" Target="/ppt/slideMasters/slideMaster1.xml" Id="Rfa0a8a683aaa4bcd" /><Relationship Type="http://schemas.openxmlformats.org/officeDocument/2006/relationships/notesMaster" Target="/ppt/notesMasters/notesMaster1.xml" Id="Rb96ba321e5544be0" /><Relationship Type="http://schemas.openxmlformats.org/officeDocument/2006/relationships/presProps" Target="/ppt/presProps.xml" Id="R373c60b104d342bf" /><Relationship Type="http://schemas.openxmlformats.org/officeDocument/2006/relationships/tableStyles" Target="/ppt/tableStyles.xml" Id="R64bab0de2d934472" /><Relationship Type="http://schemas.openxmlformats.org/officeDocument/2006/relationships/slide" Target="/ppt/slides/slide1.xml" Id="R8556fd0d80c64104" /><Relationship Type="http://schemas.openxmlformats.org/officeDocument/2006/relationships/slide" Target="/ppt/slides/slide2.xml" Id="Ra7da00e1db74438e" /><Relationship Type="http://schemas.openxmlformats.org/officeDocument/2006/relationships/slide" Target="/ppt/slides/slide3.xml" Id="Rf53c22501d1c46e7" /><Relationship Type="http://schemas.openxmlformats.org/officeDocument/2006/relationships/slide" Target="/ppt/slides/slide4.xml" Id="Re450e42c8d2a49e0" /><Relationship Type="http://schemas.openxmlformats.org/officeDocument/2006/relationships/slide" Target="/ppt/slides/slide5.xml" Id="R525f13047a77482b" /><Relationship Type="http://schemas.openxmlformats.org/officeDocument/2006/relationships/slide" Target="/ppt/slides/slide6.xml" Id="Reb40a7bb87b54e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c8d2f86a9141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be73c5b6824123" /><Relationship Type="http://schemas.openxmlformats.org/officeDocument/2006/relationships/notesMaster" Target="/ppt/notesMasters/notesMaster1.xml" Id="R24c5777eddbf4d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8de3b908de4a21" /><Relationship Type="http://schemas.openxmlformats.org/officeDocument/2006/relationships/notesMaster" Target="/ppt/notesMasters/notesMaster1.xml" Id="R07352fca699541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5a97ae2c1540c8" /><Relationship Type="http://schemas.openxmlformats.org/officeDocument/2006/relationships/notesMaster" Target="/ppt/notesMasters/notesMaster1.xml" Id="R1fe9d9dd2f9741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eb65c4c27a4ca7" /><Relationship Type="http://schemas.openxmlformats.org/officeDocument/2006/relationships/notesMaster" Target="/ppt/notesMasters/notesMaster1.xml" Id="R5ef2a771ea5a4a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181ad9ce334215" /><Relationship Type="http://schemas.openxmlformats.org/officeDocument/2006/relationships/notesMaster" Target="/ppt/notesMasters/notesMaster1.xml" Id="Rb536f6d2ea5649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f40a4da0574b73" /><Relationship Type="http://schemas.openxmlformats.org/officeDocument/2006/relationships/notesMaster" Target="/ppt/notesMasters/notesMaster1.xml" Id="Rb475710857ad4d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diseño, inventario y presupuesto de Financiera Pacífico. Simulador network/client-story.js. Avance del 29 de octubre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0f02ce33d94bc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a068320f44f2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60244fd4174f7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d51080a0874fb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f20e0eba14ac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45ed8f004947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8442c01e3244f9" /><Relationship Type="http://schemas.openxmlformats.org/officeDocument/2006/relationships/slideLayout" Target="/ppt/slideLayouts/slideLayout1.xml" Id="R87bfae4efd83402b" /><Relationship Type="http://schemas.openxmlformats.org/officeDocument/2006/relationships/slideLayout" Target="/ppt/slideLayouts/slideLayout2.xml" Id="R5c83f40baeeb426f" /><Relationship Type="http://schemas.openxmlformats.org/officeDocument/2006/relationships/slideLayout" Target="/ppt/slideLayouts/slideLayout3.xml" Id="Rb5f6cc96b5534604" /><Relationship Type="http://schemas.openxmlformats.org/officeDocument/2006/relationships/slideLayout" Target="/ppt/slideLayouts/slideLayout4.xml" Id="R83819e3fe8ec42ae" /><Relationship Type="http://schemas.openxmlformats.org/officeDocument/2006/relationships/slideLayout" Target="/ppt/slideLayouts/slideLayout5.xml" Id="R4eedcec1dbb24378" /><Relationship Type="http://schemas.openxmlformats.org/officeDocument/2006/relationships/slideLayout" Target="/ppt/slideLayouts/slideLayout6.xml" Id="R498413f120ca49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bfae4efd83402b"/>
    <p:sldLayoutId xmlns:r="http://schemas.openxmlformats.org/officeDocument/2006/relationships" id="2147483650" r:id="R5c83f40baeeb426f"/>
    <p:sldLayoutId xmlns:r="http://schemas.openxmlformats.org/officeDocument/2006/relationships" id="2147483651" r:id="Rb5f6cc96b5534604"/>
    <p:sldLayoutId xmlns:r="http://schemas.openxmlformats.org/officeDocument/2006/relationships" id="2147483652" r:id="R83819e3fe8ec42ae"/>
    <p:sldLayoutId xmlns:r="http://schemas.openxmlformats.org/officeDocument/2006/relationships" id="2147483653" r:id="R4eedcec1dbb24378"/>
    <p:sldLayoutId xmlns:r="http://schemas.openxmlformats.org/officeDocument/2006/relationships" id="2147483654" r:id="R498413f120ca49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ef17ce14c94158" /><Relationship Type="http://schemas.openxmlformats.org/officeDocument/2006/relationships/notesSlide" Target="/ppt/notesSlides/notesSlide1.xml" Id="Rdbea8f0c38d84e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b9226e44584cbf" /><Relationship Type="http://schemas.openxmlformats.org/officeDocument/2006/relationships/notesSlide" Target="/ppt/notesSlides/notesSlide2.xml" Id="Raedf6c879bbf40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267349412c4d32" /><Relationship Type="http://schemas.openxmlformats.org/officeDocument/2006/relationships/image" Target="/ppt/media/image.png" Id="Ra340cf38ce7e4bd2" /><Relationship Type="http://schemas.openxmlformats.org/officeDocument/2006/relationships/notesSlide" Target="/ppt/notesSlides/notesSlide3.xml" Id="R8b872000022e4c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d81788847f4c8f" /><Relationship Type="http://schemas.openxmlformats.org/officeDocument/2006/relationships/notesSlide" Target="/ppt/notesSlides/notesSlide4.xml" Id="Rafa20d6c02d142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ac96ff2b2e4292" /><Relationship Type="http://schemas.openxmlformats.org/officeDocument/2006/relationships/notesSlide" Target="/ppt/notesSlides/notesSlide5.xml" Id="R389cc355d7104a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f7e02ab3f14b50" /><Relationship Type="http://schemas.openxmlformats.org/officeDocument/2006/relationships/notesSlide" Target="/ppt/notesSlides/notesSlide6.xml" Id="R542f1198a11549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6B3C7FC-ACBA-4FD6-83E9-95125BBE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Financiera Pacífico hoy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683F8CE6-BBAF-4C50-8FD9-E4BDD2F3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La atención de las sucursales depende de los servicios de Casa Matriz.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397F5EE4-3232-44BE-BAC1-9D2473EC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01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86781C4F-2082-4453-AAE7-5C745264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scope">
            <a:extLst xmlns:a="http://schemas.openxmlformats.org/drawingml/2006/main">
              <a:ext uri="{FF2B5EF4-FFF2-40B4-BE49-F238E27FC236}">
                <a16:creationId xmlns:a16="http://schemas.microsoft.com/office/drawing/2014/main" id="{9EB52A16-7747-4C1B-AC41-41EB522A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23 sedes / 650 puestos</a:t>
            </a:r>
          </a:p>
        </p:txBody>
      </p:sp>
      <p:sp>
        <p:nvSpPr>
          <p:cNvPr id="6" name="status">
            <a:extLst xmlns:a="http://schemas.openxmlformats.org/drawingml/2006/main">
              <a:ext uri="{FF2B5EF4-FFF2-40B4-BE49-F238E27FC236}">
                <a16:creationId xmlns:a16="http://schemas.microsoft.com/office/drawing/2014/main" id="{1097D828-40F3-490C-8E65-51C16241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Diseño y prototipo desarrollados para revisar el enfoque.</a:t>
            </a:r>
          </a:p>
        </p:txBody>
      </p:sp>
      <p:sp>
        <p:nvSpPr>
          <p:cNvPr id="7" name="scope-note">
            <a:extLst xmlns:a="http://schemas.openxmlformats.org/drawingml/2006/main">
              <a:ext uri="{FF2B5EF4-FFF2-40B4-BE49-F238E27FC236}">
                <a16:creationId xmlns:a16="http://schemas.microsoft.com/office/drawing/2014/main" id="{7DEB03D0-160D-45A3-86A6-C9EE3DA5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Ficha original: 22 sedes. Seis aperturas futuras por separado.</a:t>
            </a:r>
          </a:p>
        </p:txBody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42D774F1-4CF8-4504-872E-7A178351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Hugo Eduardo Herrera Inostroza / Avance al 29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4866366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9CAD3B46-36C7-4AA4-8605-DADAEED7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problema de la red actual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555EDEC8-AAD3-4E60-B42A-93B98AAA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Cada sucursal depende de una sola salida hacia central.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F52DC531-FCDD-4B34-BC36-97D5E5C9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02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9CD096EC-A845-4A5A-A52C-CC228BFE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EDF21-D1AA-4C86-B66E-ECB93B409F99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6972300"/>
              </a:tblGrid>
              <a:tr h="825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Elemento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Dependencia actual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Salida de la sucursal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 solo enlace MPLS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Equipos de acceso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 router y un switch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apacity">
            <a:extLst xmlns:a="http://schemas.openxmlformats.org/drawingml/2006/main">
              <a:ext uri="{FF2B5EF4-FFF2-40B4-BE49-F238E27FC236}">
                <a16:creationId xmlns:a16="http://schemas.microsoft.com/office/drawing/2014/main" id="{E3AE60A5-CCC6-43A9-8D87-98E3FB68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Oficina tipo: 26,4 Mbps de carga normal / 100 Mbps de enlace.</a:t>
            </a:r>
          </a:p>
        </p:txBody>
      </p:sp>
    </p:spTree>
    <p:extLst>
      <p:ext uri="{BB962C8B-B14F-4D97-AF65-F5344CB8AC3E}">
        <p14:creationId xmlns:p14="http://schemas.microsoft.com/office/powerpoint/2010/main" val="1825738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32A05DA-538F-498F-8962-73D98FB6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La solución propuesta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8163158F-BFEF-45DB-8A85-AD8A0D4B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Agregar respaldo en los enlaces y en los equipos del camino.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20093435-6DCA-4288-B9BB-48FEBC16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03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3D6E5F35-78F9-48E0-B0A8-CF452337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transport">
            <a:extLst xmlns:a="http://schemas.openxmlformats.org/drawingml/2006/main">
              <a:ext uri="{FF2B5EF4-FFF2-40B4-BE49-F238E27FC236}">
                <a16:creationId xmlns:a16="http://schemas.microsoft.com/office/drawing/2014/main" id="{9BEA9119-6C9E-4DAD-9D42-5FC672CB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WAN-A: Starlink y Entel</a:t>
            </a:r>
          </a:p>
          <a:p xmlns:a="http://schemas.openxmlformats.org/drawingml/2006/main">
            <a: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WAN-B: Leo y WOM</a:t>
            </a:r>
          </a:p>
        </p:txBody>
      </p:sp>
      <p:sp>
        <p:nvSpPr>
          <p:cNvPr id="6" name="redundancy">
            <a:extLst xmlns:a="http://schemas.openxmlformats.org/drawingml/2006/main">
              <a:ext uri="{FF2B5EF4-FFF2-40B4-BE49-F238E27FC236}">
                <a16:creationId xmlns:a16="http://schemas.microsoft.com/office/drawing/2014/main" id="{A26866CB-405F-4744-AE73-9DE404EE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71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Dos routers y dos switches.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VPN IPsec y seguridad centralizada.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Wi-Fi como acceso alternativo del puesto.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1C70E-B139-4057-B52F-FE907E6ED8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0cf38ce7e4bd2"/>
          <a:stretch xmlns:a="http://schemas.openxmlformats.org/drawingml/2006/main"/>
        </p:blipFill>
        <p:spPr>
          <a:xfrm xmlns:a="http://schemas.openxmlformats.org/drawingml/2006/main">
            <a:off x="4476750" y="2462632"/>
            <a:ext cx="7096125" cy="365676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80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4676F29-5CB3-45E7-84A5-04BB07B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Una falla con respaldo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CDA0AA5A-3C6F-4DF1-8B9F-E37BA418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Una solicitud utiliza Leo mientras Starlink está interrumpido.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67923830-9F6D-4957-91AF-4A8AA940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04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0C7C97E3-535D-490B-A01E-EE30137F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0DE47C-794A-44B5-8C8D-E8EA895BF9D6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10972800" cy="165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571750"/>
                <a:gridCol w="3829050"/>
              </a:tblGrid>
              <a:tr h="825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Caso del ejemplo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Salida de Arica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Starlink interrumpido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Leo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Respuesta recibida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mit">
            <a:extLst xmlns:a="http://schemas.openxmlformats.org/drawingml/2006/main">
              <a:ext uri="{FF2B5EF4-FFF2-40B4-BE49-F238E27FC236}">
                <a16:creationId xmlns:a16="http://schemas.microsoft.com/office/drawing/2014/main" id="{398E6ADD-7DD3-4342-ADCF-2B0216F8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El respaldo necesita un acceso disponible y capacidad para la carga.</a:t>
            </a:r>
          </a:p>
        </p:txBody>
      </p:sp>
    </p:spTree>
    <p:extLst>
      <p:ext uri="{BB962C8B-B14F-4D97-AF65-F5344CB8AC3E}">
        <p14:creationId xmlns:p14="http://schemas.microsoft.com/office/powerpoint/2010/main" val="20761526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723E18B-AE93-419C-81AC-BB0521E6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Alternativas A y B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97FB2908-3138-4C7F-B31D-9CD68042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El mismo objetivo de continuidad, con equipos e inversiones diferentes.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184B9BB2-ADC8-472F-8807-28D35E61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05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519ADF4F-EA60-48DB-A63E-0FBABD45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51E75-B6F0-46B6-AF11-07449C426412}"/>
              </a:ext>
            </a:extLst>
          </p:cNvPr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414337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67250"/>
                <a:gridCol w="3152775"/>
                <a:gridCol w="3152775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Concepto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T w="9525">
                      <a:solidFill>
                        <a:srgbClr val="C6D7D7"/>
                      </a:solidFill>
                      <a:prstDash val="solid"/>
                    </a:lnT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11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Routers de sucursal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Cisco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MikroTik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Firewall central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Palo Alto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OPNsense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$793,1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$281,2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mensual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$11,0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$11,0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a cinco años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7D7"/>
                      </a:solidFill>
                      <a:prstDash val="solid"/>
                    </a:lnL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$1.503,7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2A3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$966,8 millones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7D7"/>
                      </a:solidFill>
                      <a:prstDash val="solid"/>
                    </a:lnR>
                    <a:lnB w="9525">
                      <a:solidFill>
                        <a:srgbClr val="C6D7D7"/>
                      </a:solidFill>
                      <a:prstDash val="solid"/>
                    </a:lnB>
                    <a:solidFill>
                      <a:srgbClr val="EDF4F2"/>
                    </a:solidFill>
                  </a:tcPr>
                </a:tc>
              </a:tr>
            </a:tbl>
          </a:graphicData>
        </a:graphic>
      </p:graphicFrame>
      <p:sp>
        <p:nvSpPr>
          <p:cNvPr id="6" name="budget">
            <a:extLst xmlns:a="http://schemas.openxmlformats.org/drawingml/2006/main">
              <a:ext uri="{FF2B5EF4-FFF2-40B4-BE49-F238E27FC236}">
                <a16:creationId xmlns:a16="http://schemas.microsoft.com/office/drawing/2014/main" id="{107FDF54-38CC-464D-872B-C141BD2F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Ambas superan los $160 millones de referencia.</a:t>
            </a:r>
          </a:p>
        </p:txBody>
      </p:sp>
      <p:sp>
        <p:nvSpPr>
          <p:cNvPr id="7" name="scope">
            <a:extLst xmlns:a="http://schemas.openxmlformats.org/drawingml/2006/main">
              <a:ext uri="{FF2B5EF4-FFF2-40B4-BE49-F238E27FC236}">
                <a16:creationId xmlns:a16="http://schemas.microsoft.com/office/drawing/2014/main" id="{E2D48713-56C5-4D5F-A873-65792D0A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El total incluye el inicial una vez, 60 meses WAN y reservas de operación.</a:t>
            </a:r>
          </a:p>
        </p:txBody>
      </p:sp>
    </p:spTree>
    <p:extLst>
      <p:ext uri="{BB962C8B-B14F-4D97-AF65-F5344CB8AC3E}">
        <p14:creationId xmlns:p14="http://schemas.microsoft.com/office/powerpoint/2010/main" val="2102119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012F17-8B6E-4C5A-8CE3-D524D0FE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Para finalizar</a:t>
            </a:r>
          </a:p>
        </p:txBody>
      </p:sp>
      <p:sp>
        <p:nvSpPr>
          <p:cNvPr id="2" name="message">
            <a:extLst xmlns:a="http://schemas.openxmlformats.org/drawingml/2006/main">
              <a:ext uri="{FF2B5EF4-FFF2-40B4-BE49-F238E27FC236}">
                <a16:creationId xmlns:a16="http://schemas.microsoft.com/office/drawing/2014/main" id="{F4B8C5C1-3467-4247-A3F3-6D798C77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31515E"/>
                </a:solidFill>
                <a:latin typeface="DejaVu Sans"/>
                <a:ea typeface="DejaVu Sans"/>
                <a:cs typeface="DejaVu Sans"/>
              </a:rPr>
              <a:t>Estado del avance y decisiones para revisar con el profesor.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0F93894B-1B28-4192-B07B-7F34BC73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48425"/>
            <a:ext cx="1123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06 / 6</a:t>
            </a:r>
          </a:p>
        </p:txBody>
      </p:sp>
      <p:sp>
        <p:nvSpPr>
          <p:cNvPr id="4" name="project">
            <a:extLst xmlns:a="http://schemas.openxmlformats.org/drawingml/2006/main">
              <a:ext uri="{FF2B5EF4-FFF2-40B4-BE49-F238E27FC236}">
                <a16:creationId xmlns:a16="http://schemas.microsoft.com/office/drawing/2014/main" id="{39A3FF27-29B9-417A-809D-73A99723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456278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5" name="closing">
            <a:extLst xmlns:a="http://schemas.openxmlformats.org/drawingml/2006/main">
              <a:ext uri="{FF2B5EF4-FFF2-40B4-BE49-F238E27FC236}">
                <a16:creationId xmlns:a16="http://schemas.microsoft.com/office/drawing/2014/main" id="{B4061EB8-AEFE-49A9-BD3E-3854C4A8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Aspectos para revisar con el profesor</a:t>
            </a:r>
          </a:p>
        </p:txBody>
      </p:sp>
      <p:sp>
        <p:nvSpPr>
          <p:cNvPr id="6" name="contribution">
            <a:extLst xmlns:a="http://schemas.openxmlformats.org/drawingml/2006/main">
              <a:ext uri="{FF2B5EF4-FFF2-40B4-BE49-F238E27FC236}">
                <a16:creationId xmlns:a16="http://schemas.microsoft.com/office/drawing/2014/main" id="{45332849-82D7-4313-980E-F9C8CA9B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Prioridades y alcance de la propuesta.</a:t>
            </a:r>
          </a:p>
          <a:p xmlns:a="http://schemas.openxmlformats.org/drawingml/2006/main">
            <a:pPr>
              <a:buNone/>
              <a:def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Alternativa de equipos e inversión.</a:t>
            </a:r>
          </a:p>
        </p:txBody>
      </p:sp>
      <p:sp>
        <p:nvSpPr>
          <p:cNvPr id="7" name="next">
            <a:extLst xmlns:a="http://schemas.openxmlformats.org/drawingml/2006/main">
              <a:ext uri="{FF2B5EF4-FFF2-40B4-BE49-F238E27FC236}">
                <a16:creationId xmlns:a16="http://schemas.microsoft.com/office/drawing/2014/main" id="{898C045F-44F8-4AB0-A3AC-5696097D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12A3A"/>
                </a:solidFill>
                <a:latin typeface="DejaVu Sans"/>
                <a:ea typeface="DejaVu Sans"/>
                <a:cs typeface="DejaVu Sans"/>
              </a:rPr>
              <a:t>Continuación: ajustar la propuesta con las observaciones recibidas.</a:t>
            </a:r>
          </a:p>
        </p:txBody>
      </p:sp>
      <p:sp>
        <p:nvSpPr>
          <p:cNvPr id="8" name="thanks">
            <a:extLst xmlns:a="http://schemas.openxmlformats.org/drawingml/2006/main">
              <a:ext uri="{FF2B5EF4-FFF2-40B4-BE49-F238E27FC236}">
                <a16:creationId xmlns:a16="http://schemas.microsoft.com/office/drawing/2014/main" id="{37B30888-6807-4F10-9EC1-6555161D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888A"/>
                </a:solidFill>
                <a:latin typeface="DejaVu Sans"/>
                <a:ea typeface="DejaVu Sans"/>
                <a:cs typeface="DejaVu Sans"/>
              </a:rPr>
              <a:t>Muchas gracias, profesor.</a:t>
            </a:r>
          </a:p>
        </p:txBody>
      </p:sp>
    </p:spTree>
    <p:extLst>
      <p:ext uri="{BB962C8B-B14F-4D97-AF65-F5344CB8AC3E}">
        <p14:creationId xmlns:p14="http://schemas.microsoft.com/office/powerpoint/2010/main" val="8693836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2026-10-29T09:44:35.9770000Z</dcterms:created>
  <dcterms:modified xsi:type="dcterms:W3CDTF">2026-10-29T09:44:35.9770000Z</dcterms:modified>
</coreProperties>
</file>