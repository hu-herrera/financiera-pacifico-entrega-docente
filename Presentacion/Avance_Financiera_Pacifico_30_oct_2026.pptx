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8672689afd4fe4" /><Relationship Type="http://schemas.openxmlformats.org/officeDocument/2006/relationships/extended-properties" Target="/docProps/app.xml" Id="Rf91011b660474d3d" /><Relationship Type="http://schemas.openxmlformats.org/officeDocument/2006/relationships/officeDocument" Target="/ppt/presentation.xml" Id="Rd6ab5cced6504f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91275748da485c"/>
  </p:sldMasterIdLst>
  <p:notesMasterIdLst>
    <p:notesMasterId xmlns:r="http://schemas.openxmlformats.org/officeDocument/2006/relationships" r:id="R1cbb7853a37445fa"/>
  </p:notesMasterIdLst>
  <p:sldIdLst>
    <p:sldId xmlns:r="http://schemas.openxmlformats.org/officeDocument/2006/relationships" id="256" r:id="R4f552c9edfb44d52"/>
    <p:sldId xmlns:r="http://schemas.openxmlformats.org/officeDocument/2006/relationships" id="257" r:id="R16a231152ffb41bc"/>
    <p:sldId xmlns:r="http://schemas.openxmlformats.org/officeDocument/2006/relationships" id="258" r:id="Rcdc700b8a9844340"/>
    <p:sldId xmlns:r="http://schemas.openxmlformats.org/officeDocument/2006/relationships" id="259" r:id="R59816c09bea64735"/>
    <p:sldId xmlns:r="http://schemas.openxmlformats.org/officeDocument/2006/relationships" id="260" r:id="R2ba69c60362942e4"/>
    <p:sldId xmlns:r="http://schemas.openxmlformats.org/officeDocument/2006/relationships" id="261" r:id="R25d05cbf43434994"/>
    <p:sldId xmlns:r="http://schemas.openxmlformats.org/officeDocument/2006/relationships" id="262" r:id="Rf832605835e64b98"/>
    <p:sldId xmlns:r="http://schemas.openxmlformats.org/officeDocument/2006/relationships" id="263" r:id="Rc77c1b2274164cb4"/>
    <p:sldId xmlns:r="http://schemas.openxmlformats.org/officeDocument/2006/relationships" id="264" r:id="R3063a2431c39480e"/>
    <p:sldId xmlns:r="http://schemas.openxmlformats.org/officeDocument/2006/relationships" id="265" r:id="R870a895a208c42de"/>
    <p:sldId xmlns:r="http://schemas.openxmlformats.org/officeDocument/2006/relationships" id="266" r:id="R420d33b728354f1d"/>
    <p:sldId xmlns:r="http://schemas.openxmlformats.org/officeDocument/2006/relationships" id="267" r:id="R726d88f4a8fd4a62"/>
    <p:sldId xmlns:r="http://schemas.openxmlformats.org/officeDocument/2006/relationships" id="268" r:id="Rd4739c7a5fe941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234841b1fd46b8" /><Relationship Type="http://schemas.openxmlformats.org/officeDocument/2006/relationships/slideMaster" Target="/ppt/slideMasters/slideMaster1.xml" Id="R5d91275748da485c" /><Relationship Type="http://schemas.openxmlformats.org/officeDocument/2006/relationships/notesMaster" Target="/ppt/notesMasters/notesMaster1.xml" Id="R1cbb7853a37445fa" /><Relationship Type="http://schemas.openxmlformats.org/officeDocument/2006/relationships/presProps" Target="/ppt/presProps.xml" Id="R77c601d545e14fba" /><Relationship Type="http://schemas.openxmlformats.org/officeDocument/2006/relationships/tableStyles" Target="/ppt/tableStyles.xml" Id="Rea9d627c7d6f4539" /><Relationship Type="http://schemas.openxmlformats.org/officeDocument/2006/relationships/slide" Target="/ppt/slides/slide1.xml" Id="R4f552c9edfb44d52" /><Relationship Type="http://schemas.openxmlformats.org/officeDocument/2006/relationships/slide" Target="/ppt/slides/slide2.xml" Id="R16a231152ffb41bc" /><Relationship Type="http://schemas.openxmlformats.org/officeDocument/2006/relationships/slide" Target="/ppt/slides/slide3.xml" Id="Rcdc700b8a9844340" /><Relationship Type="http://schemas.openxmlformats.org/officeDocument/2006/relationships/slide" Target="/ppt/slides/slide4.xml" Id="R59816c09bea64735" /><Relationship Type="http://schemas.openxmlformats.org/officeDocument/2006/relationships/slide" Target="/ppt/slides/slide5.xml" Id="R2ba69c60362942e4" /><Relationship Type="http://schemas.openxmlformats.org/officeDocument/2006/relationships/slide" Target="/ppt/slides/slide6.xml" Id="R25d05cbf43434994" /><Relationship Type="http://schemas.openxmlformats.org/officeDocument/2006/relationships/slide" Target="/ppt/slides/slide7.xml" Id="Rf832605835e64b98" /><Relationship Type="http://schemas.openxmlformats.org/officeDocument/2006/relationships/slide" Target="/ppt/slides/slide8.xml" Id="Rc77c1b2274164cb4" /><Relationship Type="http://schemas.openxmlformats.org/officeDocument/2006/relationships/slide" Target="/ppt/slides/slide9.xml" Id="R3063a2431c39480e" /><Relationship Type="http://schemas.openxmlformats.org/officeDocument/2006/relationships/slide" Target="/ppt/slides/slide10.xml" Id="R870a895a208c42de" /><Relationship Type="http://schemas.openxmlformats.org/officeDocument/2006/relationships/slide" Target="/ppt/slides/slide11.xml" Id="R420d33b728354f1d" /><Relationship Type="http://schemas.openxmlformats.org/officeDocument/2006/relationships/slide" Target="/ppt/slides/slide12.xml" Id="R726d88f4a8fd4a62" /><Relationship Type="http://schemas.openxmlformats.org/officeDocument/2006/relationships/slide" Target="/ppt/slides/slide13.xml" Id="Rd4739c7a5fe941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3bd3b846bc4e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897e49c85347b1" /><Relationship Type="http://schemas.openxmlformats.org/officeDocument/2006/relationships/notesMaster" Target="/ppt/notesMasters/notesMaster1.xml" Id="R3cb979bb4ec94c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bf315b134446de" /><Relationship Type="http://schemas.openxmlformats.org/officeDocument/2006/relationships/notesMaster" Target="/ppt/notesMasters/notesMaster1.xml" Id="R45fdbfb4aea04d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955adffe764ea9" /><Relationship Type="http://schemas.openxmlformats.org/officeDocument/2006/relationships/notesMaster" Target="/ppt/notesMasters/notesMaster1.xml" Id="Rbeb9ab5817404a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1bcd9bec1244bc" /><Relationship Type="http://schemas.openxmlformats.org/officeDocument/2006/relationships/notesMaster" Target="/ppt/notesMasters/notesMaster1.xml" Id="Rb254434efbc743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8d4ee1bdb14e0f" /><Relationship Type="http://schemas.openxmlformats.org/officeDocument/2006/relationships/notesMaster" Target="/ppt/notesMasters/notesMaster1.xml" Id="R747827f8c2ad4d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ee2353e24a42c5" /><Relationship Type="http://schemas.openxmlformats.org/officeDocument/2006/relationships/notesMaster" Target="/ppt/notesMasters/notesMaster1.xml" Id="R165eb0534de142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59a74c9f2747bf" /><Relationship Type="http://schemas.openxmlformats.org/officeDocument/2006/relationships/notesMaster" Target="/ppt/notesMasters/notesMaster1.xml" Id="R65db1fddc0634b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87eb2083444462" /><Relationship Type="http://schemas.openxmlformats.org/officeDocument/2006/relationships/notesMaster" Target="/ppt/notesMasters/notesMaster1.xml" Id="Re4505d14076845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49a3028d5e4b89" /><Relationship Type="http://schemas.openxmlformats.org/officeDocument/2006/relationships/notesMaster" Target="/ppt/notesMasters/notesMaster1.xml" Id="Rf584080a59e9495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a061cd420a41c6" /><Relationship Type="http://schemas.openxmlformats.org/officeDocument/2006/relationships/notesMaster" Target="/ppt/notesMasters/notesMaster1.xml" Id="R2b996958f77043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eeaa7f95a04883" /><Relationship Type="http://schemas.openxmlformats.org/officeDocument/2006/relationships/notesMaster" Target="/ppt/notesMasters/notesMaster1.xml" Id="R0ffc9fca1d964b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d2beceebf94b3a" /><Relationship Type="http://schemas.openxmlformats.org/officeDocument/2006/relationships/notesMaster" Target="/ppt/notesMasters/notesMaster1.xml" Id="R5fb5be0f130e44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8417647c2574be2" /><Relationship Type="http://schemas.openxmlformats.org/officeDocument/2006/relationships/notesMaster" Target="/ppt/notesMasters/notesMaster1.xml" Id="R86e62acfc26e4f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1 de 13. Continuidad operativa. Simulador y documentación preparados. La verificación del corte operativo incluye 60 pruebas de modelo y 52 de interfaz. La bitácora es un aporte personal complementario.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2 de 13. La red anterior en operación. El ejemplo muestra una comunicación normal entre S06 y S20. Todavía no aplicamos ninguna falla.</a:t>
            </a:r>
          </a:p>
          <a:p xmlns:a="http://schemas.openxmlformats.org/drawingml/2006/main">
            <a:r>
              <a:t>Etapas del ejemplo: Situación / Camino inicial / Qué aprendemos.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3 de 13. El corte de una conexión. Se interrumpe el MPLS de S06. El resto de las sedes permanece en su estado inicial.</a:t>
            </a:r>
          </a:p>
          <a:p xmlns:a="http://schemas.openxmlformats.org/drawingml/2006/main">
            <a:r>
              <a:t>Etapas del ejemplo: Situación / Camino inicial / Fallo y respuesta / Qué aprendemos.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4 de 13. Dependencias del acceso. Los 100 Mbps corresponden a una sucursal. Casa Matriz concentra tráfico de muchas oficinas y se dimensiona por separado.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5 de 13. La red propuesta. WAN-A distribuye Starlink y Entel. WAN-B distribuye Leo y WOM. Ambos distribuidores conectan a ambos routers. Central controla la VPN y la navegación.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6 de 13. Una conexión alternativa. Central conserva sus accesos. Comparamos primero el camino normal y después la pérdida de uno, dos, tres y cuatro transportes de S06.</a:t>
            </a:r>
          </a:p>
          <a:p xmlns:a="http://schemas.openxmlformats.org/drawingml/2006/main">
            <a:r>
              <a:t>Etapas del ejemplo: Situación / Camino inicial / Fallo y respuesta / Satelitales caídos / Último respaldo / Sin ningún acceso / Qué aprendemos.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7 de 13. Un router alternativo. R1 y R2 conectan los dos grupos de accesos con los switches. La nueva ruta debe evitar el router apagado.</a:t>
            </a:r>
          </a:p>
          <a:p xmlns:a="http://schemas.openxmlformats.org/drawingml/2006/main">
            <a:r>
              <a:t>Etapas del ejemplo: Situación / Camino inicial / Fallo y respuesta / Qué aprendemos.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8 de 13. Respaldo Wi-Fi del puesto. El computador utiliza su dirección Wi-Fi de contingencia. El AP necesita cobertura, autenticación y un camino hasta central.</a:t>
            </a:r>
          </a:p>
          <a:p xmlns:a="http://schemas.openxmlformats.org/drawingml/2006/main">
            <a:r>
              <a:t>Etapas del ejemplo: Situación / Camino inicial / Fallo y respuesta / Qué aprendemos.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9 de 13. Control de acceso con ACL. Las ACL son reglas de acceso. Tener un camino no concede permiso para todos los servicios. Los bloqueos deben conservarse al usar un respaldo.</a:t>
            </a:r>
          </a:p>
          <a:p xmlns:a="http://schemas.openxmlformats.org/drawingml/2006/main">
            <a:r>
              <a:t>Etapas del ejemplo: Trabajo autorizado / Acceso restringido / Invitado aislado.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10 de 13. Firewall y recuperación del datacenter. El firewall controla el acceso. El servidor ejecuta la aplicación. Mantener la conexión no basta cuando el servicio o sus datos están indisponibles.</a:t>
            </a:r>
          </a:p>
          <a:p xmlns:a="http://schemas.openxmlformats.org/drawingml/2006/main">
            <a:r>
              <a:t>Etapas del ejemplo: Situación / Camino inicial / Fallo y respuesta / Qué aprendemos / Servidor alternativo / Qué datos vuelven / Antes de reabrir / Réplica antigua / Copia inconsistente / Límite del sitio.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11 de 13. Inversión y alternativas. El total a cinco años cuenta la inversión inicial una vez, 60 mensualidades WAN y las reservas de operación. La WAN común cuesta unos 11 millones al mes.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12 de 13. Crecimiento y operación. 20 Mbps de demanda compiten por una subida de 10 Mbps. El ejercicio reserva el 90 %: 9 Mbps para repartir por prioridad. Estas cifras son del ejemplo, no del agregado de central.</a:t>
            </a:r>
          </a:p>
          <a:p xmlns:a="http://schemas.openxmlformats.org/drawingml/2006/main">
            <a:r>
              <a:t>Etapas del ejemplo: Demanda concurrente / Reparto por prioridad / Operación degradada.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13 de 13. Para finalizar. Comprobar qué camino conserva una oficina, qué accesos siguen restringidos y cuándo puede recuperarse el servicio central.</a:t>
            </a:r>
          </a:p>
          <a:p xmlns:a="http://schemas.openxmlformats.org/drawingml/2006/main">
            <a:r>
              <a:t>Fuentes: simulador network/client-story.js y client-presentation.js, corte C5-GRABACION-20261029; documentación técnica de Financiera Pacífico.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b7d55e9b59496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5b56840c2d4d3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c97a57f7e74ae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ccebcbc3694c5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3f6bc137df4bc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4c3471dbb247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0C6E2-7E90-4AB7-A1CD-E62C976F4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9974A-8308-48A6-ADB7-627686EC5F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CCEB1EB-CCC9-4511-9C44-B47A47C97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246A8F-DA40-450A-966C-E0975E97B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DCE6A6-32F6-4A13-9E77-B5E9F30FD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3B74B6-D944-485C-8AC2-861667628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FBCD97-1D37-4D55-850C-52F4C3A77E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77D2D1-E0C8-4B75-9CA1-AEB06645B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5E2CC7-F6A9-4E28-B129-C0934DF90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F9C98-C1C2-47F9-B049-5EC59312C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e0b124440848f0" /><Relationship Type="http://schemas.openxmlformats.org/officeDocument/2006/relationships/slideLayout" Target="/ppt/slideLayouts/slideLayout1.xml" Id="Rfb2db50a74354f12" /><Relationship Type="http://schemas.openxmlformats.org/officeDocument/2006/relationships/slideLayout" Target="/ppt/slideLayouts/slideLayout2.xml" Id="R9a386e7202fa4b7e" /><Relationship Type="http://schemas.openxmlformats.org/officeDocument/2006/relationships/slideLayout" Target="/ppt/slideLayouts/slideLayout3.xml" Id="R0b184198665f4edc" /><Relationship Type="http://schemas.openxmlformats.org/officeDocument/2006/relationships/slideLayout" Target="/ppt/slideLayouts/slideLayout4.xml" Id="R9cc16d88c7da44f6" /><Relationship Type="http://schemas.openxmlformats.org/officeDocument/2006/relationships/slideLayout" Target="/ppt/slideLayouts/slideLayout5.xml" Id="R365c805363974b71" /><Relationship Type="http://schemas.openxmlformats.org/officeDocument/2006/relationships/slideLayout" Target="/ppt/slideLayouts/slideLayout6.xml" Id="Rdc53e54c3d3d4a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2db50a74354f12"/>
    <p:sldLayoutId xmlns:r="http://schemas.openxmlformats.org/officeDocument/2006/relationships" id="2147483650" r:id="R9a386e7202fa4b7e"/>
    <p:sldLayoutId xmlns:r="http://schemas.openxmlformats.org/officeDocument/2006/relationships" id="2147483651" r:id="R0b184198665f4edc"/>
    <p:sldLayoutId xmlns:r="http://schemas.openxmlformats.org/officeDocument/2006/relationships" id="2147483652" r:id="R9cc16d88c7da44f6"/>
    <p:sldLayoutId xmlns:r="http://schemas.openxmlformats.org/officeDocument/2006/relationships" id="2147483653" r:id="R365c805363974b71"/>
    <p:sldLayoutId xmlns:r="http://schemas.openxmlformats.org/officeDocument/2006/relationships" id="2147483654" r:id="Rdc53e54c3d3d4a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36be53c5c245bb" /><Relationship Type="http://schemas.openxmlformats.org/officeDocument/2006/relationships/notesSlide" Target="/ppt/notesSlides/notesSlide1.xml" Id="Re6478a4042ca44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371314d4b04eee" /><Relationship Type="http://schemas.openxmlformats.org/officeDocument/2006/relationships/notesSlide" Target="/ppt/notesSlides/notesSlide2.xml" Id="R164c1061f2a34a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7ae77261a34637" /><Relationship Type="http://schemas.openxmlformats.org/officeDocument/2006/relationships/image" Target="/ppt/media/image.png" Id="Rc81f6e4351f34728" /><Relationship Type="http://schemas.openxmlformats.org/officeDocument/2006/relationships/notesSlide" Target="/ppt/notesSlides/notesSlide3.xml" Id="R299d5816632f4d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bc31afb91048d2" /><Relationship Type="http://schemas.openxmlformats.org/officeDocument/2006/relationships/notesSlide" Target="/ppt/notesSlides/notesSlide4.xml" Id="R1f4a2d524a5b4e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dd4b342329444e" /><Relationship Type="http://schemas.openxmlformats.org/officeDocument/2006/relationships/image" Target="/ppt/media/image2.png" Id="R833367daeb4d426e" /><Relationship Type="http://schemas.openxmlformats.org/officeDocument/2006/relationships/notesSlide" Target="/ppt/notesSlides/notesSlide5.xml" Id="R10c6ae4d05204e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50aa62db92460d" /><Relationship Type="http://schemas.openxmlformats.org/officeDocument/2006/relationships/notesSlide" Target="/ppt/notesSlides/notesSlide6.xml" Id="Rb1919fa5773542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3e4fc834794aef" /><Relationship Type="http://schemas.openxmlformats.org/officeDocument/2006/relationships/image" Target="/ppt/media/image3.png" Id="R0f5ddf261a664b69" /><Relationship Type="http://schemas.openxmlformats.org/officeDocument/2006/relationships/notesSlide" Target="/ppt/notesSlides/notesSlide7.xml" Id="R607cca91928043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d9e1dca8a24e42" /><Relationship Type="http://schemas.openxmlformats.org/officeDocument/2006/relationships/image" Target="/ppt/media/image4.png" Id="Rcf22c7529d274a1e" /><Relationship Type="http://schemas.openxmlformats.org/officeDocument/2006/relationships/notesSlide" Target="/ppt/notesSlides/notesSlide8.xml" Id="R5b43f31854924b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50152acb23483a" /><Relationship Type="http://schemas.openxmlformats.org/officeDocument/2006/relationships/notesSlide" Target="/ppt/notesSlides/notesSlide9.xml" Id="R75e093c2073144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7426c758994e93" /><Relationship Type="http://schemas.openxmlformats.org/officeDocument/2006/relationships/notesSlide" Target="/ppt/notesSlides/notesSlide10.xml" Id="R9f3944b348424d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cad377e5094f4e" /><Relationship Type="http://schemas.openxmlformats.org/officeDocument/2006/relationships/notesSlide" Target="/ppt/notesSlides/notesSlide11.xml" Id="Re403b8e2bbab44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cb1742766f484e" /><Relationship Type="http://schemas.openxmlformats.org/officeDocument/2006/relationships/notesSlide" Target="/ppt/notesSlides/notesSlide12.xml" Id="R5a82206aa7964f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08e2327df345c4" /><Relationship Type="http://schemas.openxmlformats.org/officeDocument/2006/relationships/notesSlide" Target="/ppt/notesSlides/notesSlide13.xml" Id="Rd880f30502f341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80D60D50-0990-42BE-9A20-0DF0378F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Continuidad operativa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AF472F12-4308-48B1-9035-18C5396D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El proyecto busca mantener el acceso de las sucursales a los servicios centrales.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B391B356-90E7-4CB7-9AB3-D0B19D43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01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30B76536-1EC1-4AE7-AE7F-B11558C3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scope">
            <a:extLst xmlns:a="http://schemas.openxmlformats.org/drawingml/2006/main">
              <a:ext uri="{FF2B5EF4-FFF2-40B4-BE49-F238E27FC236}">
                <a16:creationId xmlns:a16="http://schemas.microsoft.com/office/drawing/2014/main" id="{46B49BA3-BA1D-4969-BE8F-D3B1E9FE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23 sedes y 650 puestos en el escenario adoptado</a:t>
            </a:r>
          </a:p>
        </p:txBody>
      </p:sp>
      <p:sp>
        <p:nvSpPr>
          <p:cNvPr id="6" name="official">
            <a:extLst xmlns:a="http://schemas.openxmlformats.org/drawingml/2006/main">
              <a:ext uri="{FF2B5EF4-FFF2-40B4-BE49-F238E27FC236}">
                <a16:creationId xmlns:a16="http://schemas.microsoft.com/office/drawing/2014/main" id="{5D854D84-BF92-4A24-B8B4-65F136D1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Ficha oficial: 22 sedes. Seis aperturas futuras por separado.</a:t>
            </a:r>
          </a:p>
        </p:txBody>
      </p:sp>
      <p:sp>
        <p:nvSpPr>
          <p:cNvPr id="7" name="status">
            <a:extLst xmlns:a="http://schemas.openxmlformats.org/drawingml/2006/main">
              <a:ext uri="{FF2B5EF4-FFF2-40B4-BE49-F238E27FC236}">
                <a16:creationId xmlns:a16="http://schemas.microsoft.com/office/drawing/2014/main" id="{BCF72334-908C-4C2C-890C-0ABB7A70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Prototipo, entregables, inventario y presupuesto preparados.</a:t>
            </a:r>
          </a:p>
          <a:p xmlns:a="http://schemas.openxmlformats.org/drawingml/2006/main">
            <a: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Bitácora personal como aporte complementario.</a:t>
            </a:r>
          </a:p>
        </p:txBody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ECD69BDD-24D7-4C5A-A45C-19001490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Hugo Eduardo Herrera Inostroza / Avance al 29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4874481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DD46373-DF2E-45C1-9685-3D9E78F3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La red anterior en operación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563D4BF9-3CF9-4896-A50C-9FA34B88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Seguimos una prueba de Arica a Punta Arenas, pasando por Casa Matriz.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353AD510-D17B-4FD5-BC41-E573673A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02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49139F53-4CA2-44CE-882E-63D1635F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74EA2D-CA1C-494C-BAD8-D039EEC89969}"/>
              </a:ext>
            </a:extLst>
          </p:cNvPr>
          <p:cNvGraphicFramePr/>
          <p:nvPr/>
        </p:nvGraphicFramePr>
        <p:xfrm>
          <a:off xmlns:a="http://schemas.openxmlformats.org/drawingml/2006/main" x="609600" y="255270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7924800"/>
              </a:tblGrid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Parte del recorrido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Estado antes de la falla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Origen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S06 Arica: enlace MPLS, router y switch disponibles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Tránsito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Casa Matriz comunica las sedes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Destino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S20 Punta Arenas y camino de respuesta disponibles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result">
            <a:extLst xmlns:a="http://schemas.openxmlformats.org/drawingml/2006/main">
              <a:ext uri="{FF2B5EF4-FFF2-40B4-BE49-F238E27FC236}">
                <a16:creationId xmlns:a16="http://schemas.microsoft.com/office/drawing/2014/main" id="{3D7DCEDD-7064-43B7-B095-076A9224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Resultado del ejemplo: camino de ida y respuesta disponible.</a:t>
            </a:r>
          </a:p>
        </p:txBody>
      </p:sp>
    </p:spTree>
    <p:extLst>
      <p:ext uri="{BB962C8B-B14F-4D97-AF65-F5344CB8AC3E}">
        <p14:creationId xmlns:p14="http://schemas.microsoft.com/office/powerpoint/2010/main" val="15802593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AD0D687-314F-491D-A307-8C2024E7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corte de una conexión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453454A2-E65C-47A9-B611-699F6A9D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Cortamos el único enlace MPLS de la sucursal de origen.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9C6FFBA6-8186-4217-84D7-2FD22BD6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03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F8E3D217-7B5A-4BD3-B4ED-0592BBA8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point-0">
            <a:extLst xmlns:a="http://schemas.openxmlformats.org/drawingml/2006/main">
              <a:ext uri="{FF2B5EF4-FFF2-40B4-BE49-F238E27FC236}">
                <a16:creationId xmlns:a16="http://schemas.microsoft.com/office/drawing/2014/main" id="{109172DF-A9FF-4426-A42E-470FE60D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puesto puede seguir encendido.</a:t>
            </a:r>
          </a:p>
        </p:txBody>
      </p:sp>
      <p:sp>
        <p:nvSpPr>
          <p:cNvPr id="6" name="point-1">
            <a:extLst xmlns:a="http://schemas.openxmlformats.org/drawingml/2006/main">
              <a:ext uri="{FF2B5EF4-FFF2-40B4-BE49-F238E27FC236}">
                <a16:creationId xmlns:a16="http://schemas.microsoft.com/office/drawing/2014/main" id="{FDE827C7-0688-476B-941D-8B5842B7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acceso a central falla porque no existe otra salida remota.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6B540E-DBC9-4837-90C1-94024D4617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f6e4351f34728"/>
          <a:stretch xmlns:a="http://schemas.openxmlformats.org/drawingml/2006/main"/>
        </p:blipFill>
        <p:spPr>
          <a:xfrm xmlns:a="http://schemas.openxmlformats.org/drawingml/2006/main">
            <a:off x="5356890" y="2381250"/>
            <a:ext cx="5402521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7291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36F919A-13D1-4352-B6BA-E847A3EE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Dependencias del acceso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AFB7F769-3890-45B2-8E89-F53E45E7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La carga normal y la continuidad son problemas distintos.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996C5C32-D3B2-44EA-8A5A-C429A138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04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244AABC1-297A-46C9-ACDE-9C197533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118F6D-213E-40D5-B396-0E6FD8A8694D}"/>
              </a:ext>
            </a:extLst>
          </p:cNvPr>
          <p:cNvGraphicFramePr/>
          <p:nvPr/>
        </p:nvGraphicFramePr>
        <p:xfrm>
          <a:off xmlns:a="http://schemas.openxmlformats.org/drawingml/2006/main" x="609600" y="2552700"/>
          <a:ext xmlns:a="http://schemas.openxmlformats.org/drawingml/2006/main" cx="10972800" cy="2047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382000"/>
                <a:gridCol w="2590800"/>
              </a:tblGrid>
              <a:tr h="682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Comparación en la sucursal tipo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MPLS anterior de una oficina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Demanda normal estimada de 30 puestos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26,4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dependency">
            <a:extLst xmlns:a="http://schemas.openxmlformats.org/drawingml/2006/main">
              <a:ext uri="{FF2B5EF4-FFF2-40B4-BE49-F238E27FC236}">
                <a16:creationId xmlns:a16="http://schemas.microsoft.com/office/drawing/2014/main" id="{794C71FA-443B-4271-8B88-5C3677D0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La capacidad normal cabe. Un enlace, router o switch único mantiene el riesgo de interrupción.</a:t>
            </a:r>
          </a:p>
        </p:txBody>
      </p:sp>
      <p:sp>
        <p:nvSpPr>
          <p:cNvPr id="7" name="different">
            <a:extLst xmlns:a="http://schemas.openxmlformats.org/drawingml/2006/main">
              <a:ext uri="{FF2B5EF4-FFF2-40B4-BE49-F238E27FC236}">
                <a16:creationId xmlns:a16="http://schemas.microsoft.com/office/drawing/2014/main" id="{3576BA8E-02A6-4438-B6E2-89F1E05E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81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Casa Matriz se dimensiona aparte por su tráfico agregado.</a:t>
            </a:r>
          </a:p>
        </p:txBody>
      </p:sp>
    </p:spTree>
    <p:extLst>
      <p:ext uri="{BB962C8B-B14F-4D97-AF65-F5344CB8AC3E}">
        <p14:creationId xmlns:p14="http://schemas.microsoft.com/office/powerpoint/2010/main" val="2957650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7C1119E-CC3E-4F8F-9272-5ED85EE5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La red propuesta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48CB16D4-7A52-4EAB-9962-963D2F5D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Cada equipo adicional cubre una dependencia del camino.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6B68A959-8820-4C89-A187-FBB1482F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05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79921487-19DD-44ED-8E3D-0EE4769D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platforms">
            <a:extLst xmlns:a="http://schemas.openxmlformats.org/drawingml/2006/main">
              <a:ext uri="{FF2B5EF4-FFF2-40B4-BE49-F238E27FC236}">
                <a16:creationId xmlns:a16="http://schemas.microsoft.com/office/drawing/2014/main" id="{B6759CE9-7FEE-425C-BE79-F730FFCF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476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A: Cisco y Palo Alto</a:t>
            </a:r>
          </a:p>
          <a:p xmlns:a="http://schemas.openxmlformats.org/drawingml/2006/main">
            <a:pPr>
              <a:def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B: MikroTik y OPNsense</a:t>
            </a:r>
          </a:p>
        </p:txBody>
      </p:sp>
      <p:sp>
        <p:nvSpPr>
          <p:cNvPr id="6" name="wan-groups">
            <a:extLst xmlns:a="http://schemas.openxmlformats.org/drawingml/2006/main">
              <a:ext uri="{FF2B5EF4-FFF2-40B4-BE49-F238E27FC236}">
                <a16:creationId xmlns:a16="http://schemas.microsoft.com/office/drawing/2014/main" id="{494458CE-306D-43A2-9B70-7C1111D2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34766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WAN-A: Starlink y Entel</a:t>
            </a:r>
          </a:p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WAN-B: Leo y WOM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Ambos distribuidores conectan a ambos routers.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9BD43-A35C-4B70-9503-346BE2A974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3367daeb4d426e"/>
          <a:stretch xmlns:a="http://schemas.openxmlformats.org/drawingml/2006/main"/>
        </p:blipFill>
        <p:spPr>
          <a:xfrm xmlns:a="http://schemas.openxmlformats.org/drawingml/2006/main">
            <a:off x="5356890" y="2381250"/>
            <a:ext cx="5402521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0685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AFFC7A3-6083-4F84-A982-1718DA56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Una conexión alternativa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0ED393D1-18F7-4349-86B9-A325E79F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Interrumpimos los transportes de S06 de forma sucesiva.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A87E47FC-919A-4A5E-8B20-F6D4B07F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06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BDA06FBC-4F33-4867-8118-288FBFB4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4FE11-28D0-477A-B3DE-6F3208FE7866}"/>
              </a:ext>
            </a:extLst>
          </p:cNvPr>
          <p:cNvGraphicFramePr/>
          <p:nvPr/>
        </p:nvGraphicFramePr>
        <p:xfrm>
          <a:off xmlns:a="http://schemas.openxmlformats.org/drawingml/2006/main" x="609600" y="255270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524500"/>
                <a:gridCol w="2667000"/>
                <a:gridCol w="2781300"/>
              </a:tblGrid>
              <a:tr h="53181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Transportes caídos en S06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Salida del modelo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Conectividad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Ninguno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Starlink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Disponible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Starlink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Leo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Disponible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Starlink y Leo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Entel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Disponible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Starlink, Leo y Entel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WOM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Disponible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Los cuatro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Ninguna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Sin camino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central">
            <a:extLst xmlns:a="http://schemas.openxmlformats.org/drawingml/2006/main">
              <a:ext uri="{FF2B5EF4-FFF2-40B4-BE49-F238E27FC236}">
                <a16:creationId xmlns:a16="http://schemas.microsoft.com/office/drawing/2014/main" id="{FCD47CDB-EEFF-45DC-A268-D5916F96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Casa Matriz conserva sus accesos durante todo este ejemplo.</a:t>
            </a:r>
          </a:p>
        </p:txBody>
      </p:sp>
    </p:spTree>
    <p:extLst>
      <p:ext uri="{BB962C8B-B14F-4D97-AF65-F5344CB8AC3E}">
        <p14:creationId xmlns:p14="http://schemas.microsoft.com/office/powerpoint/2010/main" val="16678281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492F723-6236-4D05-983D-6175878C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Un router alternativo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E1CBE0BD-B6A9-425D-B4EE-20B3CBC0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Apagamos R1 en S06 y comprobamos el camino por R2.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74B0384A-328C-44C5-AF96-162DC79F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07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E7819D7B-FD8B-4A3D-A024-423DBFF1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point-0">
            <a:extLst xmlns:a="http://schemas.openxmlformats.org/drawingml/2006/main">
              <a:ext uri="{FF2B5EF4-FFF2-40B4-BE49-F238E27FC236}">
                <a16:creationId xmlns:a16="http://schemas.microsoft.com/office/drawing/2014/main" id="{9E66B643-64FE-4789-8852-C7A5D1D6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Dos conexiones sobre un solo router mantienen una dependencia de equipo.</a:t>
            </a:r>
          </a:p>
        </p:txBody>
      </p:sp>
      <p:sp>
        <p:nvSpPr>
          <p:cNvPr id="6" name="point-1">
            <a:extLst xmlns:a="http://schemas.openxmlformats.org/drawingml/2006/main">
              <a:ext uri="{FF2B5EF4-FFF2-40B4-BE49-F238E27FC236}">
                <a16:creationId xmlns:a16="http://schemas.microsoft.com/office/drawing/2014/main" id="{D5DE4CE5-E9A2-4AB9-B73F-A114544D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La prueba verifica una nueva comunicación después del fallo.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A6EA7-F359-4773-95B5-3D573C52EA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ddf261a664b69"/>
          <a:stretch xmlns:a="http://schemas.openxmlformats.org/drawingml/2006/main"/>
        </p:blipFill>
        <p:spPr>
          <a:xfrm xmlns:a="http://schemas.openxmlformats.org/drawingml/2006/main">
            <a:off x="5356890" y="2381250"/>
            <a:ext cx="5402521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358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F01D6FF-AC07-424C-B94D-37F90AA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Respaldo Wi-Fi del puesto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57842E9F-8CDD-46F1-9A9D-DA676E03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Apagamos el switch del puesto y comprobamos el acceso por el AP superviviente.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D2D808FA-52C8-4DEE-AA20-22B11E66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08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AF45E184-3155-4DF3-9179-2D04DCB6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point-0">
            <a:extLst xmlns:a="http://schemas.openxmlformats.org/drawingml/2006/main">
              <a:ext uri="{FF2B5EF4-FFF2-40B4-BE49-F238E27FC236}">
                <a16:creationId xmlns:a16="http://schemas.microsoft.com/office/drawing/2014/main" id="{9375C763-1A9F-4510-872D-9722D7EA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cable conectado al switch caído deja de servir.</a:t>
            </a:r>
          </a:p>
        </p:txBody>
      </p:sp>
      <p:sp>
        <p:nvSpPr>
          <p:cNvPr id="6" name="point-1">
            <a:extLst xmlns:a="http://schemas.openxmlformats.org/drawingml/2006/main">
              <a:ext uri="{FF2B5EF4-FFF2-40B4-BE49-F238E27FC236}">
                <a16:creationId xmlns:a16="http://schemas.microsoft.com/office/drawing/2014/main" id="{215151B1-701B-4378-BBED-FBAA3830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PC y teléfono necesitan su propio acceso inalámbrico y alimentación.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57D84-188F-47A8-92EA-650D8BB1AF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22c7529d274a1e"/>
          <a:stretch xmlns:a="http://schemas.openxmlformats.org/drawingml/2006/main"/>
        </p:blipFill>
        <p:spPr>
          <a:xfrm xmlns:a="http://schemas.openxmlformats.org/drawingml/2006/main">
            <a:off x="5356890" y="2381250"/>
            <a:ext cx="5402521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9313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C49F567E-B19D-42C9-9C65-C53F3AE4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Control de acceso con ACL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300BFDF9-FDF4-4FE0-93BC-008A5ABF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Comparamos acceso a la aplicación, a la base de datos y desde invitados.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EDD81DF5-8E06-41DC-BACF-7A0FB2EA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09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814D309C-DD4D-4F46-9EBE-42D3C05D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48EE9-E45C-41D4-9648-9C995B00951B}"/>
              </a:ext>
            </a:extLst>
          </p:cNvPr>
          <p:cNvGraphicFramePr/>
          <p:nvPr/>
        </p:nvGraphicFramePr>
        <p:xfrm>
          <a:off xmlns:a="http://schemas.openxmlformats.org/drawingml/2006/main" x="609600" y="2552700"/>
          <a:ext xmlns:a="http://schemas.openxmlformats.org/drawingml/2006/main" cx="109728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381500"/>
                <a:gridCol w="3162300"/>
              </a:tblGrid>
              <a:tr h="6905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Intento desde el puesto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Servicio o destino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Colaborador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Aplicación por HTTPS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Permitido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Colaborador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Base de datos directa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Bloqueado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Recursos internos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Bloqueado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policy">
            <a:extLst xmlns:a="http://schemas.openxmlformats.org/drawingml/2006/main">
              <a:ext uri="{FF2B5EF4-FFF2-40B4-BE49-F238E27FC236}">
                <a16:creationId xmlns:a16="http://schemas.microsoft.com/office/drawing/2014/main" id="{85A6AEC7-67D9-47A8-9859-B75B23F5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Las reglas se mantienen cuando cambia el transporte.</a:t>
            </a:r>
          </a:p>
        </p:txBody>
      </p:sp>
    </p:spTree>
    <p:extLst>
      <p:ext uri="{BB962C8B-B14F-4D97-AF65-F5344CB8AC3E}">
        <p14:creationId xmlns:p14="http://schemas.microsoft.com/office/powerpoint/2010/main" val="9237013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A692876-1982-4DB4-AF0D-76A49C77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Firewall y recuperación del datacenter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D0EA62B6-02AC-47C8-9BF9-3969BA5D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Primero falla FW-A. Después revisamos la recuperación de la aplicación y sus datos.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9CB4EA91-0714-4CD0-9D74-A5A16D8A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10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8E21033D-B012-461B-BB62-073CAECF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1D6DB4-8157-4CCC-95B5-54915D0DBC0A}"/>
              </a:ext>
            </a:extLst>
          </p:cNvPr>
          <p:cNvGraphicFramePr/>
          <p:nvPr/>
        </p:nvGraphicFramePr>
        <p:xfrm>
          <a:off xmlns:a="http://schemas.openxmlformats.org/drawingml/2006/main" x="609600" y="2552700"/>
          <a:ext xmlns:a="http://schemas.openxmlformats.org/drawingml/2006/main" cx="10972800" cy="1381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190750"/>
                <a:gridCol w="2190750"/>
                <a:gridCol w="2200275"/>
                <a:gridCol w="2200275"/>
              </a:tblGrid>
              <a:tr h="6905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Generadas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 copia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Por conciliar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RTO virtual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RPO virtual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 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30 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B94726CB-0F39-4218-9AD2-2EA7CE84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Fallo en t=157 s. Datos hasta t=120 s. Réplica completada en t=124 s.</a:t>
            </a:r>
          </a:p>
        </p:txBody>
      </p:sp>
      <p:sp>
        <p:nvSpPr>
          <p:cNvPr id="7" name="checks">
            <a:extLst xmlns:a="http://schemas.openxmlformats.org/drawingml/2006/main">
              <a:ext uri="{FF2B5EF4-FFF2-40B4-BE49-F238E27FC236}">
                <a16:creationId xmlns:a16="http://schemas.microsoft.com/office/drawing/2014/main" id="{7EDF7CEB-A091-4B15-8996-9DA974E8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Mayoría, aislamiento, recursos, réplica válida y aplicación.</a:t>
            </a:r>
          </a:p>
          <a:p xmlns:a="http://schemas.openxmlformats.org/drawingml/2006/main">
            <a: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Copia antigua o inconsistente: recuperación bloqueada.</a:t>
            </a:r>
          </a:p>
        </p:txBody>
      </p:sp>
      <p:sp>
        <p:nvSpPr>
          <p:cNvPr id="8" name="targets">
            <a:extLst xmlns:a="http://schemas.openxmlformats.org/drawingml/2006/main">
              <a:ext uri="{FF2B5EF4-FFF2-40B4-BE49-F238E27FC236}">
                <a16:creationId xmlns:a16="http://schemas.microsoft.com/office/drawing/2014/main" id="{BF1B5A8A-FF78-4023-9885-EBF21179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Objetivos del diseño: RTO 300 s y RPO 60 s.</a:t>
            </a:r>
          </a:p>
        </p:txBody>
      </p:sp>
    </p:spTree>
    <p:extLst>
      <p:ext uri="{BB962C8B-B14F-4D97-AF65-F5344CB8AC3E}">
        <p14:creationId xmlns:p14="http://schemas.microsoft.com/office/powerpoint/2010/main" val="7844085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4C2D581-3F0E-49C7-8917-A8321B79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Inversión y alternativas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A49C180F-A20A-4C0D-AFEC-A078492F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Comparamos el mismo alcance actual y un horizonte de cinco años.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4342DCD0-25E1-4126-9198-E280416C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11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D16A86E8-F450-4833-98BC-C41CE6C2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13586A-0478-43FC-AD6D-2A4A109542B6}"/>
              </a:ext>
            </a:extLst>
          </p:cNvPr>
          <p:cNvGraphicFramePr/>
          <p:nvPr/>
        </p:nvGraphicFramePr>
        <p:xfrm>
          <a:off xmlns:a="http://schemas.openxmlformats.org/drawingml/2006/main" x="609600" y="2286000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05150"/>
                <a:gridCol w="3105150"/>
              </a:tblGrid>
              <a:tr h="539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CLP, IVA supuesto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793.126.897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281.194.478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mensual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11.010.123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11.010.123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por 60 meses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660.607.380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660.607.380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 operativa por 5 años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50.000.000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25.000.000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Alcance a 60 meses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1.503.734.277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966.801.858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budget-scope">
            <a:extLst xmlns:a="http://schemas.openxmlformats.org/drawingml/2006/main">
              <a:ext uri="{FF2B5EF4-FFF2-40B4-BE49-F238E27FC236}">
                <a16:creationId xmlns:a16="http://schemas.microsoft.com/office/drawing/2014/main" id="{6F599F9D-134B-40A7-BE99-CF336BBF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108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total incluye el inicial una vez, WAN por 60 meses y reservas operativas. Ambas superan los 160 millones de referencia.</a:t>
            </a:r>
          </a:p>
        </p:txBody>
      </p:sp>
    </p:spTree>
    <p:extLst>
      <p:ext uri="{BB962C8B-B14F-4D97-AF65-F5344CB8AC3E}">
        <p14:creationId xmlns:p14="http://schemas.microsoft.com/office/powerpoint/2010/main" val="19349741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31C23D1-1765-4923-93F9-6B6EAB6A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Crecimiento y operación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9D01036C-0812-470E-A15E-D9A49838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Un respaldo disponible exige adaptar la carga a su capacidad.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E1BDFF73-2D95-4875-A556-713D662A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12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0BCCFECF-786B-4B99-89A1-D0ECD961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0D4DFB-DBD7-4375-861F-CC4FEE378670}"/>
              </a:ext>
            </a:extLst>
          </p:cNvPr>
          <p:cNvGraphicFramePr/>
          <p:nvPr/>
        </p:nvGraphicFramePr>
        <p:xfrm>
          <a:off xmlns:a="http://schemas.openxmlformats.org/drawingml/2006/main" x="609600" y="23431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00750"/>
                <a:gridCol w="2486025"/>
                <a:gridCol w="2486025"/>
              </a:tblGrid>
              <a:tr h="452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Demanda: 20 / subida: 10 Mbps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Solicitado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Asignado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Voz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1.5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1.5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Aplicación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4.0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Servicios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0.5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0.5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Copias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0.5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Tráfico general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2.5 Mbps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capacity">
            <a:extLst xmlns:a="http://schemas.openxmlformats.org/drawingml/2006/main">
              <a:ext uri="{FF2B5EF4-FFF2-40B4-BE49-F238E27FC236}">
                <a16:creationId xmlns:a16="http://schemas.microsoft.com/office/drawing/2014/main" id="{471A5600-E4E3-4A65-A073-AD873E42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0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CM: 647,4 Mbps de subida sin video. Con admisión de video: 965,6 Mbps sobre 1.000 por sentido.</a:t>
            </a:r>
          </a:p>
        </p:txBody>
      </p:sp>
      <p:sp>
        <p:nvSpPr>
          <p:cNvPr id="7" name="plan">
            <a:extLst xmlns:a="http://schemas.openxmlformats.org/drawingml/2006/main">
              <a:ext uri="{FF2B5EF4-FFF2-40B4-BE49-F238E27FC236}">
                <a16:creationId xmlns:a16="http://schemas.microsoft.com/office/drawing/2014/main" id="{3C5A3694-C31A-41CB-BB9D-814AEB15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0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Seis aperturas aparte. Piloto y migración en doce semanas. Operación y mantenimiento durante el horizonte de cinco años.</a:t>
            </a:r>
          </a:p>
        </p:txBody>
      </p:sp>
    </p:spTree>
    <p:extLst>
      <p:ext uri="{BB962C8B-B14F-4D97-AF65-F5344CB8AC3E}">
        <p14:creationId xmlns:p14="http://schemas.microsoft.com/office/powerpoint/2010/main" val="9038504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D8C1E66-E674-4219-B40B-301D67EA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Para finalizar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D4A11E89-8C5E-4B52-810F-6E4A55D9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La propuesta relaciona cada falla con una respuesta concreta.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A66E72CC-8951-4471-91FF-1515A7DE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13 / 13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24A0A6F8-ECD2-4999-8D27-61287363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closing">
            <a:extLst xmlns:a="http://schemas.openxmlformats.org/drawingml/2006/main">
              <a:ext uri="{FF2B5EF4-FFF2-40B4-BE49-F238E27FC236}">
                <a16:creationId xmlns:a16="http://schemas.microsoft.com/office/drawing/2014/main" id="{C13D15BE-BFA5-4436-AF60-5278D1C7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668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Continuidad con alternativas y control</a:t>
            </a:r>
          </a:p>
        </p:txBody>
      </p:sp>
      <p:sp>
        <p:nvSpPr>
          <p:cNvPr id="6" name="contribution">
            <a:extLst xmlns:a="http://schemas.openxmlformats.org/drawingml/2006/main">
              <a:ext uri="{FF2B5EF4-FFF2-40B4-BE49-F238E27FC236}">
                <a16:creationId xmlns:a16="http://schemas.microsoft.com/office/drawing/2014/main" id="{2D23940C-D144-42DE-BF08-619D176B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Conservar un camino y los permisos de acceso.</a:t>
            </a:r>
          </a:p>
          <a:p xmlns:a="http://schemas.openxmlformats.org/drawingml/2006/main">
            <a:pPr>
              <a:def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Recuperar servicios con control sobre los datos.</a:t>
            </a:r>
          </a:p>
        </p:txBody>
      </p:sp>
      <p:sp>
        <p:nvSpPr>
          <p:cNvPr id="7" name="evidence">
            <a:extLst xmlns:a="http://schemas.openxmlformats.org/drawingml/2006/main">
              <a:ext uri="{FF2B5EF4-FFF2-40B4-BE49-F238E27FC236}">
                <a16:creationId xmlns:a16="http://schemas.microsoft.com/office/drawing/2014/main" id="{81D2FD70-9F46-4DFF-8455-B3A8A9C4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Corte operativo: 60 pruebas de modelo y 52 de interfaz.</a:t>
            </a:r>
          </a:p>
          <a:p xmlns:a="http://schemas.openxmlformats.org/drawingml/2006/main">
            <a: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9.900 combinaciones WAN dentro del alcance del modelo.</a:t>
            </a:r>
          </a:p>
        </p:txBody>
      </p:sp>
      <p:sp>
        <p:nvSpPr>
          <p:cNvPr id="8" name="thanks">
            <a:extLst xmlns:a="http://schemas.openxmlformats.org/drawingml/2006/main">
              <a:ext uri="{FF2B5EF4-FFF2-40B4-BE49-F238E27FC236}">
                <a16:creationId xmlns:a16="http://schemas.microsoft.com/office/drawing/2014/main" id="{D48667B0-36D0-4CA3-8389-E27B0FE8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Muchas gracias. Preguntas y demostraciones.</a:t>
            </a:r>
          </a:p>
        </p:txBody>
      </p:sp>
    </p:spTree>
    <p:extLst>
      <p:ext uri="{BB962C8B-B14F-4D97-AF65-F5344CB8AC3E}">
        <p14:creationId xmlns:p14="http://schemas.microsoft.com/office/powerpoint/2010/main" val="4459509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2026-10-29T04:28:50.1500000Z</dcterms:created>
  <dcterms:modified xsi:type="dcterms:W3CDTF">2026-10-29T04:28:50.1500000Z</dcterms:modified>
</coreProperties>
</file>