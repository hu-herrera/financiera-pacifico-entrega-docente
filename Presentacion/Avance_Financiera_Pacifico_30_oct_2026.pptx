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67f91be3fdf494e" /><Relationship Type="http://schemas.openxmlformats.org/officeDocument/2006/relationships/extended-properties" Target="/docProps/app.xml" Id="R3cd9d8f989bd4ee2" /><Relationship Type="http://schemas.openxmlformats.org/officeDocument/2006/relationships/officeDocument" Target="/ppt/presentation.xml" Id="R60d9d4ffdcd0486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194250760f1496e"/>
  </p:sldMasterIdLst>
  <p:notesMasterIdLst>
    <p:notesMasterId xmlns:r="http://schemas.openxmlformats.org/officeDocument/2006/relationships" r:id="R6800d4dd78f74b75"/>
  </p:notesMasterIdLst>
  <p:sldIdLst>
    <p:sldId xmlns:r="http://schemas.openxmlformats.org/officeDocument/2006/relationships" id="256" r:id="Rdc8a833493c5495b"/>
    <p:sldId xmlns:r="http://schemas.openxmlformats.org/officeDocument/2006/relationships" id="257" r:id="Ra61ab16fc3c24ad1"/>
    <p:sldId xmlns:r="http://schemas.openxmlformats.org/officeDocument/2006/relationships" id="258" r:id="Rbea6848bb9694cc0"/>
    <p:sldId xmlns:r="http://schemas.openxmlformats.org/officeDocument/2006/relationships" id="259" r:id="Rc8490331ed0a4248"/>
    <p:sldId xmlns:r="http://schemas.openxmlformats.org/officeDocument/2006/relationships" id="260" r:id="R0d7f5b678c1943e3"/>
    <p:sldId xmlns:r="http://schemas.openxmlformats.org/officeDocument/2006/relationships" id="261" r:id="R9f46d9a3632442ba"/>
    <p:sldId xmlns:r="http://schemas.openxmlformats.org/officeDocument/2006/relationships" id="262" r:id="R6d854621f4bb48fe"/>
    <p:sldId xmlns:r="http://schemas.openxmlformats.org/officeDocument/2006/relationships" id="263" r:id="R980d1c69d5bd4119"/>
    <p:sldId xmlns:r="http://schemas.openxmlformats.org/officeDocument/2006/relationships" id="264" r:id="R109199951c134ff4"/>
    <p:sldId xmlns:r="http://schemas.openxmlformats.org/officeDocument/2006/relationships" id="265" r:id="Rb1c78414f18b43be"/>
    <p:sldId xmlns:r="http://schemas.openxmlformats.org/officeDocument/2006/relationships" id="266" r:id="Rc928f2831ece4646"/>
    <p:sldId xmlns:r="http://schemas.openxmlformats.org/officeDocument/2006/relationships" id="267" r:id="R72c9c9547ffa4959"/>
    <p:sldId xmlns:r="http://schemas.openxmlformats.org/officeDocument/2006/relationships" id="268" r:id="R268228a686b84254"/>
    <p:sldId xmlns:r="http://schemas.openxmlformats.org/officeDocument/2006/relationships" id="269" r:id="Rcd35af32d4b64e4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4e33c6994ba4e77" /><Relationship Type="http://schemas.openxmlformats.org/officeDocument/2006/relationships/slideMaster" Target="/ppt/slideMasters/slideMaster1.xml" Id="R4194250760f1496e" /><Relationship Type="http://schemas.openxmlformats.org/officeDocument/2006/relationships/notesMaster" Target="/ppt/notesMasters/notesMaster1.xml" Id="R6800d4dd78f74b75" /><Relationship Type="http://schemas.openxmlformats.org/officeDocument/2006/relationships/presProps" Target="/ppt/presProps.xml" Id="Rcbc9c1c798464c4f" /><Relationship Type="http://schemas.openxmlformats.org/officeDocument/2006/relationships/tableStyles" Target="/ppt/tableStyles.xml" Id="Rfc6f3b77df7743eb" /><Relationship Type="http://schemas.openxmlformats.org/officeDocument/2006/relationships/slide" Target="/ppt/slides/slide1.xml" Id="Rdc8a833493c5495b" /><Relationship Type="http://schemas.openxmlformats.org/officeDocument/2006/relationships/slide" Target="/ppt/slides/slide2.xml" Id="Ra61ab16fc3c24ad1" /><Relationship Type="http://schemas.openxmlformats.org/officeDocument/2006/relationships/slide" Target="/ppt/slides/slide3.xml" Id="Rbea6848bb9694cc0" /><Relationship Type="http://schemas.openxmlformats.org/officeDocument/2006/relationships/slide" Target="/ppt/slides/slide4.xml" Id="Rc8490331ed0a4248" /><Relationship Type="http://schemas.openxmlformats.org/officeDocument/2006/relationships/slide" Target="/ppt/slides/slide5.xml" Id="R0d7f5b678c1943e3" /><Relationship Type="http://schemas.openxmlformats.org/officeDocument/2006/relationships/slide" Target="/ppt/slides/slide6.xml" Id="R9f46d9a3632442ba" /><Relationship Type="http://schemas.openxmlformats.org/officeDocument/2006/relationships/slide" Target="/ppt/slides/slide7.xml" Id="R6d854621f4bb48fe" /><Relationship Type="http://schemas.openxmlformats.org/officeDocument/2006/relationships/slide" Target="/ppt/slides/slide8.xml" Id="R980d1c69d5bd4119" /><Relationship Type="http://schemas.openxmlformats.org/officeDocument/2006/relationships/slide" Target="/ppt/slides/slide9.xml" Id="R109199951c134ff4" /><Relationship Type="http://schemas.openxmlformats.org/officeDocument/2006/relationships/slide" Target="/ppt/slides/slide10.xml" Id="Rb1c78414f18b43be" /><Relationship Type="http://schemas.openxmlformats.org/officeDocument/2006/relationships/slide" Target="/ppt/slides/slide11.xml" Id="Rc928f2831ece4646" /><Relationship Type="http://schemas.openxmlformats.org/officeDocument/2006/relationships/slide" Target="/ppt/slides/slide12.xml" Id="R72c9c9547ffa4959" /><Relationship Type="http://schemas.openxmlformats.org/officeDocument/2006/relationships/slide" Target="/ppt/slides/slide13.xml" Id="R268228a686b84254" /><Relationship Type="http://schemas.openxmlformats.org/officeDocument/2006/relationships/slide" Target="/ppt/slides/slide14.xml" Id="Rcd35af32d4b64e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8d4c3f472c0460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aba19090694b32" /><Relationship Type="http://schemas.openxmlformats.org/officeDocument/2006/relationships/notesMaster" Target="/ppt/notesMasters/notesMaster1.xml" Id="R55bc8579d135475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812c6c481a14324" /><Relationship Type="http://schemas.openxmlformats.org/officeDocument/2006/relationships/notesMaster" Target="/ppt/notesMasters/notesMaster1.xml" Id="R196a1353e262478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0985e1187724f3b" /><Relationship Type="http://schemas.openxmlformats.org/officeDocument/2006/relationships/notesMaster" Target="/ppt/notesMasters/notesMaster1.xml" Id="Rd8468421d087415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56d6895bd584451" /><Relationship Type="http://schemas.openxmlformats.org/officeDocument/2006/relationships/notesMaster" Target="/ppt/notesMasters/notesMaster1.xml" Id="R40a0a4a9bcf44aa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75a2ab62ad04487" /><Relationship Type="http://schemas.openxmlformats.org/officeDocument/2006/relationships/notesMaster" Target="/ppt/notesMasters/notesMaster1.xml" Id="Rcfec335ca79f45a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81e0192dee84b20" /><Relationship Type="http://schemas.openxmlformats.org/officeDocument/2006/relationships/notesMaster" Target="/ppt/notesMasters/notesMaster1.xml" Id="R02bd86e5c733489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2bf07fd052d49d3" /><Relationship Type="http://schemas.openxmlformats.org/officeDocument/2006/relationships/notesMaster" Target="/ppt/notesMasters/notesMaster1.xml" Id="Rea56e2a529344c4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82eaa291bcc480c" /><Relationship Type="http://schemas.openxmlformats.org/officeDocument/2006/relationships/notesMaster" Target="/ppt/notesMasters/notesMaster1.xml" Id="Rf63976ab994840e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2b67219cfcc49aa" /><Relationship Type="http://schemas.openxmlformats.org/officeDocument/2006/relationships/notesMaster" Target="/ppt/notesMasters/notesMaster1.xml" Id="R28b30b4b20d8471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ca392721aac4e51" /><Relationship Type="http://schemas.openxmlformats.org/officeDocument/2006/relationships/notesMaster" Target="/ppt/notesMasters/notesMaster1.xml" Id="Rb49863e689c54b3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bd96891e02e4d29" /><Relationship Type="http://schemas.openxmlformats.org/officeDocument/2006/relationships/notesMaster" Target="/ppt/notesMasters/notesMaster1.xml" Id="R00841d1c35184f4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609f38f63164368" /><Relationship Type="http://schemas.openxmlformats.org/officeDocument/2006/relationships/notesMaster" Target="/ppt/notesMasters/notesMaster1.xml" Id="R2561207b9ab646c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88a9e5b667946ee" /><Relationship Type="http://schemas.openxmlformats.org/officeDocument/2006/relationships/notesMaster" Target="/ppt/notesMasters/notesMaster1.xml" Id="R245a3bad7ec7410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7f3573042b446c5" /><Relationship Type="http://schemas.openxmlformats.org/officeDocument/2006/relationships/notesMaster" Target="/ppt/notesMasters/notesMaster1.xml" Id="Ra2d7d2ff58c3477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https://github.com/hu-herrera/fin/blob/main/docs/entrega-profesor-fuentes/01_Informe_Diagnostico_Propuesta.md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https://github.com/hu-herrera/fin/blob/main/docs/entrega-profesor-fuentes/Entregable-6.md y https://github.com/hu-herrera/fin/blob/main/docs/entrega-profesor-fuentes/03_Bitacora.md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https://github.com/hu-herrera/fin/blob/main/docs/entrega-profesor-fuentes/00_Caso_Oficial.md y https://github.com/hu-herrera/fin/blob/main/docs/entrega-profesor-fuentes/01_Informe_Diagnostico_Propuesta.md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https://github.com/hu-herrera/fin/blob/main/docs/entrega-profesor-fuentes/Entregable-1.md y https://github.com/hu-herrera/fin/blob/main/docs/entrega-profesor-fuentes/Entregable-3.md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https://github.com/hu-herrera/fin/blob/main/docs/entrega-profesor-fuentes/Entregable-3.md. Extracto del plano S06, alternativa B, Anexos/Topologias_ANTES_A_B.pdf.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https://github.com/hu-herrera/fin/blob/main/docs/entrega-profesor-fuentes/Entregable-2.md y https://github.com/hu-herrera/fin/blob/main/docs/entrega-profesor-fuentes/Entregable-7.md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https://github.com/hu-herrera/fin/blob/main/docs/entrega-profesor-fuentes/Entregable-4.md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https://github.com/hu-herrera/fin/blob/main/docs/entrega-profesor-fuentes/Entregable-3.md y https://github.com/hu-herrera/fin/blob/main/docs/entrega-profesor-fuentes/Entregable-4.md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https://github.com/hu-herrera/fin/blob/main/docs/entrega-profesor-fuentes/Entregable-5.md y https://github.com/hu-herrera/fin/blob/main/docs/entrega-profesor-fuentes/Entregable-6.md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https://github.com/hu-herrera/fin/blob/main/docs/entrega-profesor-fuentes/Entregable-6.md. Commit de red 228ec2674d2b784b4cb67dab1128e969f681d3aa.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https://github.com/hu-herrera/fin/blob/main/docs/entrega-profesor-fuentes/Entregable-7.md y Anexos/Presupuesto_Inventario.xlsx.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https://github.com/hu-herrera/fin/blob/main/docs/entrega-profesor-fuentes/Entregable-3.md, https://github.com/hu-herrera/fin/blob/main/docs/entrega-profesor-fuentes/Entregable-7.md y solicitud de distribuidores de otra marca en ambas opciones.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https://github.com/hu-herrera/fin/blob/main/docs/entrega-profesor-fuentes/Entregable-7.md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Aviso docente recibido el 23/10/2026: video y PPT por AVA, plazo viernes 30/10/2026. Fechas intermedias propuestas para organizar el trabajo.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4a4254b052434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d2d606a8c5430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e1dda6ddb34a7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4c749519d0488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a17cc49b4f46d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f78e7733964fe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AF0C6E2-7E90-4AB7-A1CD-E62C976F48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589974A-8308-48A6-ADB7-627686EC5F9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CCEB1EB-CCC9-4511-9C44-B47A47C97C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D246A8F-DA40-450A-966C-E0975E97B1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5DCE6A6-32F6-4A13-9E77-B5E9F30FD8C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93B74B6-D944-485C-8AC2-861667628E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FBCD97-1D37-4D55-850C-52F4C3A77EB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D77D2D1-E0C8-4B75-9CA1-AEB06645B72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5E2CC7-F6A9-4E28-B129-C0934DF908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F5F9C98-C1C2-47F9-B049-5EC59312CE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e4bc6505e664669" /><Relationship Type="http://schemas.openxmlformats.org/officeDocument/2006/relationships/slideLayout" Target="/ppt/slideLayouts/slideLayout1.xml" Id="R8c9c75c0fa814769" /><Relationship Type="http://schemas.openxmlformats.org/officeDocument/2006/relationships/slideLayout" Target="/ppt/slideLayouts/slideLayout2.xml" Id="Re54f8c1ea9db4c01" /><Relationship Type="http://schemas.openxmlformats.org/officeDocument/2006/relationships/slideLayout" Target="/ppt/slideLayouts/slideLayout3.xml" Id="Rfaa6b279bd0649df" /><Relationship Type="http://schemas.openxmlformats.org/officeDocument/2006/relationships/slideLayout" Target="/ppt/slideLayouts/slideLayout4.xml" Id="R3ee270e1cac34c50" /><Relationship Type="http://schemas.openxmlformats.org/officeDocument/2006/relationships/slideLayout" Target="/ppt/slideLayouts/slideLayout5.xml" Id="R8c5ddb07b9514e1e" /><Relationship Type="http://schemas.openxmlformats.org/officeDocument/2006/relationships/slideLayout" Target="/ppt/slideLayouts/slideLayout6.xml" Id="R2bc3785d87234d5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c9c75c0fa814769"/>
    <p:sldLayoutId xmlns:r="http://schemas.openxmlformats.org/officeDocument/2006/relationships" id="2147483650" r:id="Re54f8c1ea9db4c01"/>
    <p:sldLayoutId xmlns:r="http://schemas.openxmlformats.org/officeDocument/2006/relationships" id="2147483651" r:id="Rfaa6b279bd0649df"/>
    <p:sldLayoutId xmlns:r="http://schemas.openxmlformats.org/officeDocument/2006/relationships" id="2147483652" r:id="R3ee270e1cac34c50"/>
    <p:sldLayoutId xmlns:r="http://schemas.openxmlformats.org/officeDocument/2006/relationships" id="2147483653" r:id="R8c5ddb07b9514e1e"/>
    <p:sldLayoutId xmlns:r="http://schemas.openxmlformats.org/officeDocument/2006/relationships" id="2147483654" r:id="R2bc3785d87234d5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f7d7384758444d" /><Relationship Type="http://schemas.openxmlformats.org/officeDocument/2006/relationships/notesSlide" Target="/ppt/notesSlides/notesSlide1.xml" Id="R7b85c5ec9ee4404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d546eea9d743a7" /><Relationship Type="http://schemas.openxmlformats.org/officeDocument/2006/relationships/notesSlide" Target="/ppt/notesSlides/notesSlide2.xml" Id="R563ae98038044a1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bbce32374b440e" /><Relationship Type="http://schemas.openxmlformats.org/officeDocument/2006/relationships/notesSlide" Target="/ppt/notesSlides/notesSlide3.xml" Id="Rcb3fed19d0b54b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c76e9b8c584087" /><Relationship Type="http://schemas.openxmlformats.org/officeDocument/2006/relationships/notesSlide" Target="/ppt/notesSlides/notesSlide4.xml" Id="Rff4aed310b52490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a0e8bf5eff483d" /><Relationship Type="http://schemas.openxmlformats.org/officeDocument/2006/relationships/image" Target="/ppt/media/image.png" Id="Rb644e37ffee04c07" /><Relationship Type="http://schemas.openxmlformats.org/officeDocument/2006/relationships/notesSlide" Target="/ppt/notesSlides/notesSlide5.xml" Id="R1538d61ec66d4c9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2ae2d970264b6d" /><Relationship Type="http://schemas.openxmlformats.org/officeDocument/2006/relationships/notesSlide" Target="/ppt/notesSlides/notesSlide6.xml" Id="Red704e5c5618459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ffe34f246d4374" /><Relationship Type="http://schemas.openxmlformats.org/officeDocument/2006/relationships/notesSlide" Target="/ppt/notesSlides/notesSlide7.xml" Id="R2b692a9673c94be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c775980bca4375" /><Relationship Type="http://schemas.openxmlformats.org/officeDocument/2006/relationships/notesSlide" Target="/ppt/notesSlides/notesSlide8.xml" Id="Rb2cc724c631d41e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3b86fcf9dc4a29" /><Relationship Type="http://schemas.openxmlformats.org/officeDocument/2006/relationships/hyperlink" Target="https://hu-herrera.github.io/fina/" TargetMode="External" Id="Rb40bdec3a1244a95" /><Relationship Type="http://schemas.openxmlformats.org/officeDocument/2006/relationships/notesSlide" Target="/ppt/notesSlides/notesSlide9.xml" Id="R4baea7652c1c42a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586fa086364fef" /><Relationship Type="http://schemas.openxmlformats.org/officeDocument/2006/relationships/notesSlide" Target="/ppt/notesSlides/notesSlide10.xml" Id="R8e9587d248374dd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8f652db1964275" /><Relationship Type="http://schemas.openxmlformats.org/officeDocument/2006/relationships/notesSlide" Target="/ppt/notesSlides/notesSlide11.xml" Id="Rf0c68bbcb8124a4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6b1f688c5c43f8" /><Relationship Type="http://schemas.openxmlformats.org/officeDocument/2006/relationships/notesSlide" Target="/ppt/notesSlides/notesSlide12.xml" Id="R647202571902495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79a465001a4fb1" /><Relationship Type="http://schemas.openxmlformats.org/officeDocument/2006/relationships/notesSlide" Target="/ppt/notesSlides/notesSlide13.xml" Id="R66e3de01be14426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b9b77714614cd5" /><Relationship Type="http://schemas.openxmlformats.org/officeDocument/2006/relationships/notesSlide" Target="/ppt/notesSlides/notesSlide14.xml" Id="Rd602c97f052a4b8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6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10C233B5-9DDC-4683-9997-EDF895CE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3CE3486B-E8DB-459E-AB43-210D30C5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9F082752-0A06-44DB-8B28-6BAFFB70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287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Continuidad y seguridad</a:t>
            </a:r>
          </a:p>
          <a:p xmlns:a="http://schemas.openxmlformats.org/drawingml/2006/main">
            <a: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entre sucursales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9502132F-AB64-4B90-9693-E7B310FB3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rPr>
              <a:t>Avance Capstone al 25 de octubre de 2026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F51557CB-D290-4D86-9D77-7B2928DBF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47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Hugo Eduardo Herrera Inostroza</a:t>
            </a:r>
          </a:p>
          <a:p xmlns:a="http://schemas.openxmlformats.org/drawingml/2006/main">
            <a: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Proyecto de Título APT</a:t>
            </a:r>
          </a:p>
        </p:txBody>
      </p:sp>
    </p:spTree>
    <p:extLst>
      <p:ext uri="{BB962C8B-B14F-4D97-AF65-F5344CB8AC3E}">
        <p14:creationId xmlns:p14="http://schemas.microsoft.com/office/powerpoint/2010/main" val="15780532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A4464EB4-9F0D-4D9D-984C-A362AAD2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Estado actual del proyecto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F3D0EC9-5E26-4ED1-9AD6-6141FF65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C7205840-C11A-4F2E-A349-501AFDFA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5191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Prototipo implementado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311B92CC-326B-4EEE-AE03-DDEC560F7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Simulador web con ANTES y rediseño A/B.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Dispositivos con modelo, IP, VLAN, interfaces y puertos.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3BBF4EC9-2AA4-4F07-9DB9-600345E41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28775"/>
            <a:ext cx="5162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Documentación consolidada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F102EE6D-B0D7-40CE-974F-74B28EA25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33600"/>
            <a:ext cx="51625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Caso, diagnóstico y propuesta, entregables 1–7, bitácora y anexos.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Inventario y costos conciliados por alternativa.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B69C443B-0F2F-4658-8A37-31373C6D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810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Pruebas de caminos, políticas de acceso y fallas registradas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F2FEB201-C350-482D-92A6-DD5F234E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Pendientes de esta entrega: grabación y revisión del video, envío de video y PPT por AVA.</a:t>
            </a:r>
          </a:p>
        </p:txBody>
      </p:sp>
    </p:spTree>
    <p:extLst>
      <p:ext uri="{BB962C8B-B14F-4D97-AF65-F5344CB8AC3E}">
        <p14:creationId xmlns:p14="http://schemas.microsoft.com/office/powerpoint/2010/main" val="6723010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AC9DA80F-C300-4939-8D0B-CECB52572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Alcance oficial y escenario adoptado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38B20E09-0F2F-4D75-8505-ED42E4778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8A10B46E-4642-4E5B-9C16-C8562F447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Ficha oficial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6DAEBF1F-74DF-40BB-8662-415F2C29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5143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780 trabajadores y unos 650 usuarios TI.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22 sedes: Casa Matriz y 21 sucursales.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Problema: falta de contingencia remota y cambios manuales.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9929D680-EF56-49F5-BE4E-55FC4FB6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62100"/>
            <a:ext cx="5162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Adaptación del proyecto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7DECEA33-B2C8-4391-80D0-35DE1A58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66925"/>
            <a:ext cx="51625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23 sedes: Casa Matriz y 22 sucursales.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650 PCs y 650 teléfonos existentes adoptados como inventario.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Seis futuras aperturas con presupuesto separado.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155BCB47-CC8B-4430-8997-CF187B10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Modelos, carga, direccionamiento y condiciones comerciales son supuestos explícitos del caso ficticio.</a:t>
            </a:r>
          </a:p>
        </p:txBody>
      </p:sp>
    </p:spTree>
    <p:extLst>
      <p:ext uri="{BB962C8B-B14F-4D97-AF65-F5344CB8AC3E}">
        <p14:creationId xmlns:p14="http://schemas.microsoft.com/office/powerpoint/2010/main" val="5716691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65C969E9-7E24-43F4-9F3D-1541EA4DE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Diagnóstico de la red anterior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DF23105E-659B-4255-986E-063D1AAB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C5E5EB-57C5-4CA5-8A6F-DC73F0627014}"/>
              </a:ext>
            </a:extLst>
          </p:cNvPr>
          <p:cNvGraphicFramePr/>
          <p:nvPr/>
        </p:nvGraphicFramePr>
        <p:xfrm>
          <a:off xmlns:a="http://schemas.openxmlformats.org/drawingml/2006/main" x="609600" y="1524000"/>
          <a:ext xmlns:a="http://schemas.openxmlformats.org/drawingml/2006/main" cx="10972800" cy="37052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238750"/>
                <a:gridCol w="5734050"/>
              </a:tblGrid>
              <a:tr h="92630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Dependencia adoptada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Consecuencia de una falla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9263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Sucursal: un router, un switch y un MPLS de 100 Mbps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Puede perder acceso a aplicación financiera y telefonía central.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263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Central: dos MPLS de 1 Gbps, dos ISP de 500 Mbps y un firewall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Hay redundancia de enlaces, pero el firewall sigue siendo único.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9263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DC-01 con aplicación/BD y DC-02 con voz/servicios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Los roles separados no recuperan automáticamente una VM en el otro host.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2613C4B0-A5C1-475D-B0F4-684DCAF93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100 Mbps cubren la carga normal calculada de unos 26,4 Mbps en una sucursal de 30 puestos.</a:t>
            </a:r>
          </a:p>
        </p:txBody>
      </p:sp>
    </p:spTree>
    <p:extLst>
      <p:ext uri="{BB962C8B-B14F-4D97-AF65-F5344CB8AC3E}">
        <p14:creationId xmlns:p14="http://schemas.microsoft.com/office/powerpoint/2010/main" val="9563738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318142DD-5E09-4FF5-A23C-BDAAC46EC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Arquitectura de una sucursal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260EBB74-998D-410F-BDF6-37B68EFC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D5990C-D816-46BD-98C1-E0F1D006D7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44e37ffee04c07"/>
          <a:stretch xmlns:a="http://schemas.openxmlformats.org/drawingml/2006/main"/>
        </p:blipFill>
        <p:spPr>
          <a:xfrm xmlns:a="http://schemas.openxmlformats.org/drawingml/2006/main">
            <a:off x="1723159" y="1476375"/>
            <a:ext cx="8745682" cy="3848100"/>
          </a:xfrm>
          <a:prstGeom xmlns:a="http://schemas.openxmlformats.org/drawingml/2006/main" prst="rect">
            <a:avLst/>
          </a:prstGeom>
        </p:spPr>
      </p:pic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54F3FCFA-A0E6-451F-8295-D0D58979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715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Cuatro transportes y dos dominios WAN independientes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B7EB25AB-AE7D-4314-BF59-0080EF98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VPN hacia el par de firewalls de Casa Matriz. La navegación sale inspeccionada por central.</a:t>
            </a:r>
          </a:p>
        </p:txBody>
      </p:sp>
    </p:spTree>
    <p:extLst>
      <p:ext uri="{BB962C8B-B14F-4D97-AF65-F5344CB8AC3E}">
        <p14:creationId xmlns:p14="http://schemas.microsoft.com/office/powerpoint/2010/main" val="9696517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B503FEEB-1584-451B-B7C1-D2ECB0CF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Alternativas de equipamiento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D0572C7A-2BA2-4F8A-9255-FC7AEF8A5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027567-6C69-49E5-9F15-F71E90F03BCC}"/>
              </a:ext>
            </a:extLst>
          </p:cNvPr>
          <p:cNvGraphicFramePr/>
          <p:nvPr/>
        </p:nvGraphicFramePr>
        <p:xfrm>
          <a:off xmlns:a="http://schemas.openxmlformats.org/drawingml/2006/main" x="609600" y="1495425"/>
          <a:ext xmlns:a="http://schemas.openxmlformats.org/drawingml/2006/main" cx="10972800" cy="3952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4238625"/>
                <a:gridCol w="4210050"/>
              </a:tblGrid>
              <a:tr h="79057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Función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A: Cisco / Palo Alto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B: MikroTik / OPNsense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Routers remotos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44 C1121X</a:t>
                      </a:r>
                    </a:p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 reutilizados y 37 nuevos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42 CCR2004 y 2 RB5009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Switches remotos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44 C9200L</a:t>
                      </a:r>
                    </a:p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17 reutilizados y 27 nuevos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44 CRS328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Firewalls centrales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 PA-1410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 DEC3852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Distribución WAN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45 hEX E50UG y 1 CRS310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45 hEX E50UG y 1 CRS310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48770BC2-9BCD-49FE-B907-D140BA72A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Ambas conservan 2 C9200L centrales, PCs, teléfonos y hosts existentes. B usa LACP/RSTP/VRRP, sin StackWise.</a:t>
            </a:r>
          </a:p>
        </p:txBody>
      </p:sp>
    </p:spTree>
    <p:extLst>
      <p:ext uri="{BB962C8B-B14F-4D97-AF65-F5344CB8AC3E}">
        <p14:creationId xmlns:p14="http://schemas.microsoft.com/office/powerpoint/2010/main" val="5818099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54799513-7A3D-4348-B658-34F05001F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Segmentación y permisos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5916F03B-48F4-4883-B911-0003EC8E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31069A-2BC1-43B1-BC7F-C0D021ACD509}"/>
              </a:ext>
            </a:extLst>
          </p:cNvPr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3524250"/>
                <a:gridCol w="4495800"/>
              </a:tblGrid>
              <a:tr h="8001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Segmento o servicio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Dirección de ejemplo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Política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Datos S06, VLAN 10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10.70.6.0/25</a:t>
                      </a:r>
                    </a:p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Gateway 10.70.6.1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Usuarios acceden a APP por HTTPS.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APP y BD, VLAN 50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APP 10.70.200.10</a:t>
                      </a:r>
                    </a:p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BD 10.70.200.11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TCP 443 a APP. TCP 5432 a BD solo desde APP.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Voz, VLAN 20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PBX 10.70.200.20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Señalización TLS 5061 y medios autorizados.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Invitados / gestión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VLAN 40 / VLAN 130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Invitados aislados. Administración desde NOC.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088E488D-964E-4335-8B21-E49B1DF2B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Las VLAN son locales. Sus subredes IP se enrutan por IPsec. APP/BD requieren también filtros de host.</a:t>
            </a:r>
          </a:p>
        </p:txBody>
      </p:sp>
    </p:spTree>
    <p:extLst>
      <p:ext uri="{BB962C8B-B14F-4D97-AF65-F5344CB8AC3E}">
        <p14:creationId xmlns:p14="http://schemas.microsoft.com/office/powerpoint/2010/main" val="17461629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727886E3-7B5C-4B4C-89D2-5EC10D58E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Alta disponibilidad de los servicios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BF3DB2A-3E08-47FF-8270-3259FF4D4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C51DD794-8DCF-4AA7-86A1-32D35A14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Recuperación entre dos hosts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4F490D54-9642-4B8E-8B42-DCB1082E2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5143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DC-01 y DC-02 conservan los Dell R740.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DC-02 aumenta a 64 GiB y 3.840 GB útiles. Ambos hosts conectan a los dos switches.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B5F0578B-B712-42EB-BEB7-226871E1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43050"/>
            <a:ext cx="5162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Condiciones de recuperación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8636CD48-5BD6-4395-8F38-0C9FF24D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51625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Réplica ZFS utilizable, testigo en BKP y dos de tres votos.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Aislamiento del host fallado antes de reiniciar las VMs en el superviviente.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E9385689-DA2F-4377-8FD1-0384FEB54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01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Metas: pérdida de datos ≤60 s y recuperación ≤300 s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7238FC74-7C06-493A-843E-B7E4785C1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RPO y recuperación son objetivos del diseño. El modelo no garantiza sesiones ni recuperación ante pérdida de toda CM.</a:t>
            </a:r>
          </a:p>
        </p:txBody>
      </p:sp>
    </p:spTree>
    <p:extLst>
      <p:ext uri="{BB962C8B-B14F-4D97-AF65-F5344CB8AC3E}">
        <p14:creationId xmlns:p14="http://schemas.microsoft.com/office/powerpoint/2010/main" val="11928921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B064DFD7-B409-4E4B-AE30-7425D02AF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Demostración del prototipo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77155C4-8753-499C-A5FC-B6C6FF442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D9DCE3-B152-43E9-8732-9B7832B12BC9}"/>
              </a:ext>
            </a:extLst>
          </p:cNvPr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6400800"/>
              </a:tblGrid>
              <a:tr h="7429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Escenario implementado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Comportamiento comprobable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ANTES: cortar el MPLS de S06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La sucursal pierde su único camino hacia central.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DESPUÉS: cortar transporte o router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 selecciona otro camino cuando sus dependencias están disponibles.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Acceso a servicios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APP permitida, BD restringida e invitados sin acceso interno.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Caída de host o central completa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Recuperación condicionada del host. CM completa caída deja servicios indisponibles.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61037176-034C-4E05-BA7F-8E5A0EE9F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b40bdec3a1244a95"/>
              </a:rPr>
              <a:t>Abrir simulador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3EE3AE0C-E48E-4659-B48E-3AAB87D78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La animación y las pruebas del navegador representan la lógica del modelo. El video de demostración está pendiente.</a:t>
            </a:r>
          </a:p>
        </p:txBody>
      </p:sp>
    </p:spTree>
    <p:extLst>
      <p:ext uri="{BB962C8B-B14F-4D97-AF65-F5344CB8AC3E}">
        <p14:creationId xmlns:p14="http://schemas.microsoft.com/office/powerpoint/2010/main" val="13961558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0">
            <a:extLst xmlns:a="http://schemas.openxmlformats.org/drawingml/2006/main">
              <a:ext uri="{FF2B5EF4-FFF2-40B4-BE49-F238E27FC236}">
                <a16:creationId xmlns:a16="http://schemas.microsoft.com/office/drawing/2014/main" id="{C2A51BF8-B013-42EC-B64E-D69CAC86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Evidencia y límites de los resultados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E3742027-275A-4073-8720-EAC4C6452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D3DA6D02-ECE0-4928-8B20-02A9A9EB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4191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93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E914D401-62FC-43D1-9DB5-07B36758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4857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pruebas de lógica aprobadas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A93068BE-625C-45FB-9444-B09AF9FD1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38300"/>
            <a:ext cx="4191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151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3765DC43-037D-4B95-B599-3EDF46A7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62250"/>
            <a:ext cx="5000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pruebas de navegador en la pasada general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0E283F77-C0A4-41F5-B43C-105FCC7A6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1.351 comprobaciones adicionales de caminos A/B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8DB7A137-EAC3-4D55-9E86-A1F609F11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81087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QoS, VPN y HA cuentan con regresiones adicionales.</a:t>
            </a:r>
          </a:p>
          <a:p xmlns:a="http://schemas.openxmlformats.org/drawingml/2006/main">
            <a: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Los conteos describen pasadas de software, sin sumarlas.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EEAD08A1-C3F9-49BE-A470-17E8D767B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99,99 % core y 99,95 % sucursal son metas anuales. El mapa muestra conectividad del escenario, no disponibilidad medida.</a:t>
            </a:r>
          </a:p>
        </p:txBody>
      </p:sp>
    </p:spTree>
    <p:extLst>
      <p:ext uri="{BB962C8B-B14F-4D97-AF65-F5344CB8AC3E}">
        <p14:creationId xmlns:p14="http://schemas.microsoft.com/office/powerpoint/2010/main" val="70207602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83659B90-63F0-433C-B384-B228C33C0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Presupuesto del alcance a cinco años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3D3AB8D-C88A-4311-9007-94A4C7B32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6F360E-4600-4DFD-B1E4-7A5AD475DEF6}"/>
              </a:ext>
            </a:extLst>
          </p:cNvPr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86300"/>
                <a:gridCol w="3143250"/>
                <a:gridCol w="3143250"/>
              </a:tblGrid>
              <a:tr h="7429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CLP con IVA supuesto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Alternativa A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Alternativa B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Inversión inicial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792.550.011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280.617.592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WAN por 60 meses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658.885.320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658.885.320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Reserva operativa por 5 años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50.000.000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25.000.000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Total del alcance a 60 meses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1.501.435.331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964.502.912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66D9DA5B-54C5-482C-A550-64E8529D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9725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Ambas superan la referencia original de CLP 160 millones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C6169EE3-4C58-432B-9760-C22A7A20F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Incluye el inicial una vez. WAN común: CLP 10.981.422/mes. Valores referenciales, no contratos ni compras ejecutadas.</a:t>
            </a:r>
          </a:p>
        </p:txBody>
      </p:sp>
    </p:spTree>
    <p:extLst>
      <p:ext uri="{BB962C8B-B14F-4D97-AF65-F5344CB8AC3E}">
        <p14:creationId xmlns:p14="http://schemas.microsoft.com/office/powerpoint/2010/main" val="26233777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6DF6B4EA-8FD5-46D4-AD2C-1E04282F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Revisión final y límites del diseño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0C9C7C00-F39A-4DF8-A6F8-FA995BDF4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E11ABEFA-822F-4AA3-ABE2-F7E34FA8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1090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Ajuste WAN cerrado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08776B12-3345-4857-A9C7-FE0D0877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06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 y B ya usan distribuidores MikroTik. La revisión WAN-2 concilia modelos, puertos, inventario y presupuesto.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15930B70-6D0D-4458-A33A-69EB94556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1090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Capacidad de central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BA6F7C28-F113-495F-B4C3-FE9876831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10906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Política del diseño: hasta 30 terminales remotos y 3 en CM con video. Subida calculada: 966 de 1.000 Mbps. En contingencia se suspende el video.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85D1EDDE-6CD2-41D2-9CF6-4FEAE6453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90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Supuestos comerciales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4FCDF9ED-0BE1-44FC-824E-3AE051AE6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06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Leo, cobertura en sedes extremas, caudales y descuentos pertenecen al escenario ficticio. La comparación económica debe conservar esas condiciones visibles.</a:t>
            </a:r>
          </a:p>
        </p:txBody>
      </p:sp>
    </p:spTree>
    <p:extLst>
      <p:ext uri="{BB962C8B-B14F-4D97-AF65-F5344CB8AC3E}">
        <p14:creationId xmlns:p14="http://schemas.microsoft.com/office/powerpoint/2010/main" val="13455010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E5CDC38B-9FAE-46F9-9918-AA693946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Plan de implantación de la propuesta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AD767768-4107-45E1-99C6-4236D1D3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13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0E5162-0247-4ACF-9595-18D42FA79D3C}"/>
              </a:ext>
            </a:extLst>
          </p:cNvPr>
          <p:cNvGraphicFramePr/>
          <p:nvPr/>
        </p:nvGraphicFramePr>
        <p:xfrm>
          <a:off xmlns:a="http://schemas.openxmlformats.org/drawingml/2006/main" x="609600" y="1524000"/>
          <a:ext xmlns:a="http://schemas.openxmlformats.org/drawingml/2006/main" cx="10972800" cy="3543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7829550"/>
              </a:tblGrid>
              <a:tr h="8858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Periodo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Actividad prevista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885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Año 1: doce semanas de implantación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Piloto CM/S01, tres olas de seis sucursales y cierre de S20/S21/S22. Mantener MPLS transitorio hasta aceptación.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85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Años 2–4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Operación, parches, revisión de capacidad, ejercicios de restauración y mantenimiento.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885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Año 5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Evaluación de indicadores y plan de renovación del siguiente ciclo.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CAD99BF4-D821-49A9-ADA3-AD1882916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Plan de una implementación hipotética. Las seis aperturas futuras requieren su propia fase y presupuesto.</a:t>
            </a:r>
          </a:p>
        </p:txBody>
      </p:sp>
    </p:spTree>
    <p:extLst>
      <p:ext uri="{BB962C8B-B14F-4D97-AF65-F5344CB8AC3E}">
        <p14:creationId xmlns:p14="http://schemas.microsoft.com/office/powerpoint/2010/main" val="27981598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27F0AC76-9E38-4C29-BA48-3400BB4E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Plan de entrega al 30 de octubre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4EE9687B-3EBB-4A9F-BBC6-1D6DD56AC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36082B-F320-4230-9C2E-B5A9ED483774}"/>
              </a:ext>
            </a:extLst>
          </p:cNvPr>
          <p:cNvGraphicFramePr/>
          <p:nvPr/>
        </p:nvGraphicFramePr>
        <p:xfrm>
          <a:off xmlns:a="http://schemas.openxmlformats.org/drawingml/2006/main" x="609600" y="1466850"/>
          <a:ext xmlns:a="http://schemas.openxmlformats.org/drawingml/2006/main" cx="10972800" cy="4010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7829550"/>
              </a:tblGrid>
              <a:tr h="6683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Fecha propuesta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Resultado esperado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23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Repositorio docente y PowerPoint de avance preparados.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24–25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Cambio WAN de A cerrado. Revisar el recorrido de la grabación.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26–28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Grabar el video con la demostración del simulador.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29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Revisar audio, legibilidad y coherencia entre video y PPT.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Viernes 30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Enviar ambos archivos por AVA y comprobar la recepción.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2D1069FF-3C94-49DD-AA0C-5442E4E7E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La entrega revisa avances reales. La grabación y el envío por AVA aún no se han realizado.</a:t>
            </a:r>
          </a:p>
        </p:txBody>
      </p:sp>
    </p:spTree>
    <p:extLst>
      <p:ext uri="{BB962C8B-B14F-4D97-AF65-F5344CB8AC3E}">
        <p14:creationId xmlns:p14="http://schemas.microsoft.com/office/powerpoint/2010/main" val="19775423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2026-10-25T06:34:09.1240000Z</dcterms:created>
  <dcterms:modified xsi:type="dcterms:W3CDTF">2026-10-25T06:34:09.1240000Z</dcterms:modified>
</coreProperties>
</file>