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96cac7c4ce427c" /><Relationship Type="http://schemas.openxmlformats.org/officeDocument/2006/relationships/extended-properties" Target="/docProps/app.xml" Id="Rc6faebd17cda41ad" /><Relationship Type="http://schemas.openxmlformats.org/officeDocument/2006/relationships/officeDocument" Target="/ppt/presentation.xml" Id="R159587d18aac43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d096aa4af74a65"/>
  </p:sldMasterIdLst>
  <p:notesMasterIdLst>
    <p:notesMasterId xmlns:r="http://schemas.openxmlformats.org/officeDocument/2006/relationships" r:id="R4a523468c26c4110"/>
  </p:notesMasterIdLst>
  <p:sldIdLst>
    <p:sldId xmlns:r="http://schemas.openxmlformats.org/officeDocument/2006/relationships" id="256" r:id="R12cfb594480b427f"/>
    <p:sldId xmlns:r="http://schemas.openxmlformats.org/officeDocument/2006/relationships" id="257" r:id="R66dd1f6ab487484d"/>
    <p:sldId xmlns:r="http://schemas.openxmlformats.org/officeDocument/2006/relationships" id="258" r:id="R8863c81932e449ad"/>
    <p:sldId xmlns:r="http://schemas.openxmlformats.org/officeDocument/2006/relationships" id="259" r:id="R1e321470cc9a41cb"/>
    <p:sldId xmlns:r="http://schemas.openxmlformats.org/officeDocument/2006/relationships" id="260" r:id="Rf679da0c6b544918"/>
    <p:sldId xmlns:r="http://schemas.openxmlformats.org/officeDocument/2006/relationships" id="261" r:id="R95345893e3494eb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10e72bd5174143" /><Relationship Type="http://schemas.openxmlformats.org/officeDocument/2006/relationships/slideMaster" Target="/ppt/slideMasters/slideMaster1.xml" Id="R05d096aa4af74a65" /><Relationship Type="http://schemas.openxmlformats.org/officeDocument/2006/relationships/notesMaster" Target="/ppt/notesMasters/notesMaster1.xml" Id="R4a523468c26c4110" /><Relationship Type="http://schemas.openxmlformats.org/officeDocument/2006/relationships/presProps" Target="/ppt/presProps.xml" Id="Rb8e95cddb1ed4a1d" /><Relationship Type="http://schemas.openxmlformats.org/officeDocument/2006/relationships/tableStyles" Target="/ppt/tableStyles.xml" Id="R325d5fb3d2204057" /><Relationship Type="http://schemas.openxmlformats.org/officeDocument/2006/relationships/slide" Target="/ppt/slides/slide1.xml" Id="R12cfb594480b427f" /><Relationship Type="http://schemas.openxmlformats.org/officeDocument/2006/relationships/slide" Target="/ppt/slides/slide2.xml" Id="R66dd1f6ab487484d" /><Relationship Type="http://schemas.openxmlformats.org/officeDocument/2006/relationships/slide" Target="/ppt/slides/slide3.xml" Id="R8863c81932e449ad" /><Relationship Type="http://schemas.openxmlformats.org/officeDocument/2006/relationships/slide" Target="/ppt/slides/slide4.xml" Id="R1e321470cc9a41cb" /><Relationship Type="http://schemas.openxmlformats.org/officeDocument/2006/relationships/slide" Target="/ppt/slides/slide5.xml" Id="Rf679da0c6b544918" /><Relationship Type="http://schemas.openxmlformats.org/officeDocument/2006/relationships/slide" Target="/ppt/slides/slide6.xml" Id="R95345893e3494e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f0d39a0b4524f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a277d7ff2b416d" /><Relationship Type="http://schemas.openxmlformats.org/officeDocument/2006/relationships/notesMaster" Target="/ppt/notesMasters/notesMaster1.xml" Id="Ra351fbda19414b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fcca83737f4124" /><Relationship Type="http://schemas.openxmlformats.org/officeDocument/2006/relationships/notesMaster" Target="/ppt/notesMasters/notesMaster1.xml" Id="Rac42093e6ac548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9121eb1833437e" /><Relationship Type="http://schemas.openxmlformats.org/officeDocument/2006/relationships/notesMaster" Target="/ppt/notesMasters/notesMaster1.xml" Id="Re91214ddbf1646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210a0042b55449a" /><Relationship Type="http://schemas.openxmlformats.org/officeDocument/2006/relationships/notesMaster" Target="/ppt/notesMasters/notesMaster1.xml" Id="R1b33e30e40f2463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c7fa333e274e33" /><Relationship Type="http://schemas.openxmlformats.org/officeDocument/2006/relationships/notesMaster" Target="/ppt/notesMasters/notesMaster1.xml" Id="R7c493e1d458743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4980fe6c8414122" /><Relationship Type="http://schemas.openxmlformats.org/officeDocument/2006/relationships/notesMaster" Target="/ppt/notesMasters/notesMaster1.xml" Id="R37d108d9252e4c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diseño, inventario y presupuesto de Financiera Pacífico. Simulador network/client-story.js. Avance del 29 de octubre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diseño, inventario y presupuesto de Financiera Pacífico. Simulador network/client-story.js. Avance del 29 de octubre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diseño, inventario y presupuesto de Financiera Pacífico. Simulador network/client-story.js. Avance del 29 de octubre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diseño, inventario y presupuesto de Financiera Pacífico. Simulador network/client-story.js. Avance del 29 de octubre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diseño, inventario y presupuesto de Financiera Pacífico. Simulador network/client-story.js. Avance del 29 de octubre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diseño, inventario y presupuesto de Financiera Pacífico. Simulador network/client-story.js. Avance del 29 de octubre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a38c71b71b474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0a334162bf4f0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190b16c930406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05e844bed6494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0709adf3b1481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c0968ca5744b0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F0C6E2-7E90-4AB7-A1CD-E62C976F48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89974A-8308-48A6-ADB7-627686EC5F9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CCEB1EB-CCC9-4511-9C44-B47A47C97C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246A8F-DA40-450A-966C-E0975E97B1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DCE6A6-32F6-4A13-9E77-B5E9F30FD8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93B74B6-D944-485C-8AC2-861667628E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FBCD97-1D37-4D55-850C-52F4C3A77E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D77D2D1-E0C8-4B75-9CA1-AEB06645B72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5E2CC7-F6A9-4E28-B129-C0934DF908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F5F9C98-C1C2-47F9-B049-5EC59312CE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385e8f03764e7b" /><Relationship Type="http://schemas.openxmlformats.org/officeDocument/2006/relationships/slideLayout" Target="/ppt/slideLayouts/slideLayout1.xml" Id="Rc5ee6af17c5f4a42" /><Relationship Type="http://schemas.openxmlformats.org/officeDocument/2006/relationships/slideLayout" Target="/ppt/slideLayouts/slideLayout2.xml" Id="R3555b85245b54783" /><Relationship Type="http://schemas.openxmlformats.org/officeDocument/2006/relationships/slideLayout" Target="/ppt/slideLayouts/slideLayout3.xml" Id="R2cab6ca0cd0a46a6" /><Relationship Type="http://schemas.openxmlformats.org/officeDocument/2006/relationships/slideLayout" Target="/ppt/slideLayouts/slideLayout4.xml" Id="Rb11cd3c2dbef4a65" /><Relationship Type="http://schemas.openxmlformats.org/officeDocument/2006/relationships/slideLayout" Target="/ppt/slideLayouts/slideLayout5.xml" Id="R0b665ccc809e46b9" /><Relationship Type="http://schemas.openxmlformats.org/officeDocument/2006/relationships/slideLayout" Target="/ppt/slideLayouts/slideLayout6.xml" Id="R0914c4e884f04f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ee6af17c5f4a42"/>
    <p:sldLayoutId xmlns:r="http://schemas.openxmlformats.org/officeDocument/2006/relationships" id="2147483650" r:id="R3555b85245b54783"/>
    <p:sldLayoutId xmlns:r="http://schemas.openxmlformats.org/officeDocument/2006/relationships" id="2147483651" r:id="R2cab6ca0cd0a46a6"/>
    <p:sldLayoutId xmlns:r="http://schemas.openxmlformats.org/officeDocument/2006/relationships" id="2147483652" r:id="Rb11cd3c2dbef4a65"/>
    <p:sldLayoutId xmlns:r="http://schemas.openxmlformats.org/officeDocument/2006/relationships" id="2147483653" r:id="R0b665ccc809e46b9"/>
    <p:sldLayoutId xmlns:r="http://schemas.openxmlformats.org/officeDocument/2006/relationships" id="2147483654" r:id="R0914c4e884f04f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7a737ad3064d16" /><Relationship Type="http://schemas.openxmlformats.org/officeDocument/2006/relationships/notesSlide" Target="/ppt/notesSlides/notesSlide1.xml" Id="Ra26a93e54cdb4f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f793b41c2b4134" /><Relationship Type="http://schemas.openxmlformats.org/officeDocument/2006/relationships/notesSlide" Target="/ppt/notesSlides/notesSlide2.xml" Id="R5c92b5d9424441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79b91d6337446d" /><Relationship Type="http://schemas.openxmlformats.org/officeDocument/2006/relationships/image" Target="/ppt/media/image.png" Id="Raba22e457a384429" /><Relationship Type="http://schemas.openxmlformats.org/officeDocument/2006/relationships/notesSlide" Target="/ppt/notesSlides/notesSlide3.xml" Id="R82a90a015d6442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ef25dbb64342e9" /><Relationship Type="http://schemas.openxmlformats.org/officeDocument/2006/relationships/notesSlide" Target="/ppt/notesSlides/notesSlide4.xml" Id="R53271d78d28d45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b2122ef5204720" /><Relationship Type="http://schemas.openxmlformats.org/officeDocument/2006/relationships/notesSlide" Target="/ppt/notesSlides/notesSlide5.xml" Id="Rf22f3cfe814840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87ac9aa8a04a62" /><Relationship Type="http://schemas.openxmlformats.org/officeDocument/2006/relationships/notesSlide" Target="/ppt/notesSlides/notesSlide6.xml" Id="R19dfbf6c50d849c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6B3C7FC-ACBA-4FD6-83E9-95125BBE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Financiera Pacífico hoy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683F8CE6-BBAF-4C50-8FD9-E4BDD2F3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La atención de las sucursales depende de los servicios de Casa Matriz.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397F5EE4-3232-44BE-BAC1-9D2473EC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01 / 6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86781C4F-2082-4453-AAE7-5C745264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5" name="scope">
            <a:extLst xmlns:a="http://schemas.openxmlformats.org/drawingml/2006/main">
              <a:ext uri="{FF2B5EF4-FFF2-40B4-BE49-F238E27FC236}">
                <a16:creationId xmlns:a16="http://schemas.microsoft.com/office/drawing/2014/main" id="{9EB52A16-7747-4C1B-AC41-41EB522A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23 sedes / 650 puestos</a:t>
            </a:r>
          </a:p>
        </p:txBody>
      </p:sp>
      <p:sp>
        <p:nvSpPr>
          <p:cNvPr id="6" name="status">
            <a:extLst xmlns:a="http://schemas.openxmlformats.org/drawingml/2006/main">
              <a:ext uri="{FF2B5EF4-FFF2-40B4-BE49-F238E27FC236}">
                <a16:creationId xmlns:a16="http://schemas.microsoft.com/office/drawing/2014/main" id="{1097D828-40F3-490C-8E65-51C16241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Diseño de red, simulador, inventario y presupuesto.</a:t>
            </a:r>
          </a:p>
        </p:txBody>
      </p:sp>
      <p:sp>
        <p:nvSpPr>
          <p:cNvPr id="7" name="scope-note">
            <a:extLst xmlns:a="http://schemas.openxmlformats.org/drawingml/2006/main">
              <a:ext uri="{FF2B5EF4-FFF2-40B4-BE49-F238E27FC236}">
                <a16:creationId xmlns:a16="http://schemas.microsoft.com/office/drawing/2014/main" id="{7DEB03D0-160D-45A3-86A6-C9EE3DA5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Ficha original: 22 sedes. Seis aperturas futuras por separado.</a:t>
            </a:r>
          </a:p>
        </p:txBody>
      </p:sp>
      <p:sp>
        <p:nvSpPr>
          <p:cNvPr id="8" name="author">
            <a:extLst xmlns:a="http://schemas.openxmlformats.org/drawingml/2006/main">
              <a:ext uri="{FF2B5EF4-FFF2-40B4-BE49-F238E27FC236}">
                <a16:creationId xmlns:a16="http://schemas.microsoft.com/office/drawing/2014/main" id="{42D774F1-4CF8-4504-872E-7A178351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Hugo Eduardo Herrera Inostroza / Avance al 29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4866366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9CAD3B46-36C7-4AA4-8605-DADAEED7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El problema de la red actual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555EDEC8-AAD3-4E60-B42A-93B98AAA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Cada sucursal depende de una sola salida hacia central.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F52DC531-FCDD-4B34-BC36-97D5E5C9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02 / 6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9CD096EC-A845-4A5A-A52C-CC228BFE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EED3DA-B338-4D6A-8703-FA898BA5350B}"/>
              </a:ext>
            </a:extLst>
          </p:cNvPr>
          <p:cNvGraphicFramePr/>
          <p:nvPr/>
        </p:nvGraphicFramePr>
        <p:xfrm>
          <a:off xmlns:a="http://schemas.openxmlformats.org/drawingml/2006/main" x="609600" y="2667000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6972300"/>
              </a:tblGrid>
              <a:tr h="825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Elemento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Dependencia actual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825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Salida de la sucursal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Un solo enlace MPLS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825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Equipos de acceso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Un router y un switch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capacity">
            <a:extLst xmlns:a="http://schemas.openxmlformats.org/drawingml/2006/main">
              <a:ext uri="{FF2B5EF4-FFF2-40B4-BE49-F238E27FC236}">
                <a16:creationId xmlns:a16="http://schemas.microsoft.com/office/drawing/2014/main" id="{E3AE60A5-CCC6-43A9-8D87-98E3FB68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Oficina tipo: 26,4 Mbps de carga normal / 100 Mbps de enlace.</a:t>
            </a:r>
          </a:p>
        </p:txBody>
      </p:sp>
    </p:spTree>
    <p:extLst>
      <p:ext uri="{BB962C8B-B14F-4D97-AF65-F5344CB8AC3E}">
        <p14:creationId xmlns:p14="http://schemas.microsoft.com/office/powerpoint/2010/main" val="18257386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32A05DA-538F-498F-8962-73D98FB6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La solución propuesta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8163158F-BFEF-45DB-8A85-AD8A0D4B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Agregar respaldo en los enlaces y en los equipos del camino.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20093435-6DCA-4288-B9BB-48FEBC16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03 / 6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3D6E5F35-78F9-48E0-B0A8-CF452337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5" name="transport">
            <a:extLst xmlns:a="http://schemas.openxmlformats.org/drawingml/2006/main">
              <a:ext uri="{FF2B5EF4-FFF2-40B4-BE49-F238E27FC236}">
                <a16:creationId xmlns:a16="http://schemas.microsoft.com/office/drawing/2014/main" id="{9BEA9119-6C9E-4DAD-9D42-5FC672CB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371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WAN-A: Starlink y Entel</a:t>
            </a:r>
          </a:p>
          <a:p xmlns:a="http://schemas.openxmlformats.org/drawingml/2006/main">
            <a: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WAN-B: Leo y WOM</a:t>
            </a:r>
          </a:p>
        </p:txBody>
      </p:sp>
      <p:sp>
        <p:nvSpPr>
          <p:cNvPr id="6" name="redundancy">
            <a:extLst xmlns:a="http://schemas.openxmlformats.org/drawingml/2006/main">
              <a:ext uri="{FF2B5EF4-FFF2-40B4-BE49-F238E27FC236}">
                <a16:creationId xmlns:a16="http://schemas.microsoft.com/office/drawing/2014/main" id="{A26866CB-405F-4744-AE73-9DE404EE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3714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Dos routers y dos switches.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VPN IPsec y seguridad centralizada.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Wi-Fi como acceso alternativo del puesto.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19E071-B095-4836-A80B-2BDC935E82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a22e457a384429"/>
          <a:stretch xmlns:a="http://schemas.openxmlformats.org/drawingml/2006/main"/>
        </p:blipFill>
        <p:spPr>
          <a:xfrm xmlns:a="http://schemas.openxmlformats.org/drawingml/2006/main">
            <a:off x="4476750" y="2462632"/>
            <a:ext cx="7096125" cy="365676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80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04676F29-5CB3-45E7-84A5-04BB07B2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Una falla con respaldo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CDA0AA5A-3C6F-4DF1-8B9F-E37BA418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Una solicitud utiliza Leo mientras Starlink está interrumpido.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67923830-9F6D-4957-91AF-4A8AA940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04 / 6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0C7C97E3-535D-490B-A01E-EE30137F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3F654B-AA0B-4F90-B970-DAC47ACEB7BD}"/>
              </a:ext>
            </a:extLst>
          </p:cNvPr>
          <p:cNvGraphicFramePr/>
          <p:nvPr/>
        </p:nvGraphicFramePr>
        <p:xfrm>
          <a:off xmlns:a="http://schemas.openxmlformats.org/drawingml/2006/main" x="609600" y="2667000"/>
          <a:ext xmlns:a="http://schemas.openxmlformats.org/drawingml/2006/main" cx="10972800" cy="1651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2571750"/>
                <a:gridCol w="3829050"/>
              </a:tblGrid>
              <a:tr h="825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Caso del ejemplo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Salida de Arica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Resultado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825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Starlink interrumpido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Leo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Respuesta recibida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imit">
            <a:extLst xmlns:a="http://schemas.openxmlformats.org/drawingml/2006/main">
              <a:ext uri="{FF2B5EF4-FFF2-40B4-BE49-F238E27FC236}">
                <a16:creationId xmlns:a16="http://schemas.microsoft.com/office/drawing/2014/main" id="{398E6ADD-7DD3-4342-ADCF-2B0216F8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El respaldo necesita un acceso disponible y capacidad para la carga.</a:t>
            </a:r>
          </a:p>
        </p:txBody>
      </p:sp>
    </p:spTree>
    <p:extLst>
      <p:ext uri="{BB962C8B-B14F-4D97-AF65-F5344CB8AC3E}">
        <p14:creationId xmlns:p14="http://schemas.microsoft.com/office/powerpoint/2010/main" val="20761526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723E18B-AE93-419C-81AC-BB0521E6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Alternativas A y B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97FB2908-3138-4C7F-B31D-9CD68042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El mismo objetivo de continuidad, con equipos e inversiones diferentes.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184B9BB2-ADC8-472F-8807-28D35E61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05 / 6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519ADF4F-EA60-48DB-A63E-0FBABD45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C8505F-4D22-4366-8D57-D5735D70D8CB}"/>
              </a:ext>
            </a:extLst>
          </p:cNvPr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414337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67250"/>
                <a:gridCol w="3152775"/>
                <a:gridCol w="3152775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Concepto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Routers de sucursal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Cisco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MikroTik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Firewall central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Palo Alto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OPNsense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Inversión inicial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$793,1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$281,2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WAN mensual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$11,0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$11,0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Total a cinco años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$1.503,7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$966,8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</a:tbl>
          </a:graphicData>
        </a:graphic>
      </p:graphicFrame>
      <p:sp>
        <p:nvSpPr>
          <p:cNvPr id="6" name="budget">
            <a:extLst xmlns:a="http://schemas.openxmlformats.org/drawingml/2006/main">
              <a:ext uri="{FF2B5EF4-FFF2-40B4-BE49-F238E27FC236}">
                <a16:creationId xmlns:a16="http://schemas.microsoft.com/office/drawing/2014/main" id="{107FDF54-38CC-464D-872B-C141BD2F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Ambas superan los $160 millones de referencia.</a:t>
            </a:r>
          </a:p>
        </p:txBody>
      </p:sp>
      <p:sp>
        <p:nvSpPr>
          <p:cNvPr id="7" name="scope">
            <a:extLst xmlns:a="http://schemas.openxmlformats.org/drawingml/2006/main">
              <a:ext uri="{FF2B5EF4-FFF2-40B4-BE49-F238E27FC236}">
                <a16:creationId xmlns:a16="http://schemas.microsoft.com/office/drawing/2014/main" id="{E2D48713-56C5-4D5F-A873-65792D0A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El total incluye el inicial una vez, 60 meses WAN y reservas de operación.</a:t>
            </a:r>
          </a:p>
        </p:txBody>
      </p:sp>
    </p:spTree>
    <p:extLst>
      <p:ext uri="{BB962C8B-B14F-4D97-AF65-F5344CB8AC3E}">
        <p14:creationId xmlns:p14="http://schemas.microsoft.com/office/powerpoint/2010/main" val="2102119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5012F17-8B6E-4C5A-8CE3-D524D0FE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Para finalizar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F4B8C5C1-3467-4247-A3F3-6D798C77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Diseño de red y prototipo desarrollados para Financiera Pacífico.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0F93894B-1B28-4192-B07B-7F34BC73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06 / 6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39A3FF27-29B9-417A-809D-73A99723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5" name="closing">
            <a:extLst xmlns:a="http://schemas.openxmlformats.org/drawingml/2006/main">
              <a:ext uri="{FF2B5EF4-FFF2-40B4-BE49-F238E27FC236}">
                <a16:creationId xmlns:a16="http://schemas.microsoft.com/office/drawing/2014/main" id="{B4061EB8-AEFE-49A9-BD3E-3854C4A8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Continuidad y control de acceso</a:t>
            </a:r>
          </a:p>
        </p:txBody>
      </p:sp>
      <p:sp>
        <p:nvSpPr>
          <p:cNvPr id="6" name="contribution">
            <a:extLst xmlns:a="http://schemas.openxmlformats.org/drawingml/2006/main">
              <a:ext uri="{FF2B5EF4-FFF2-40B4-BE49-F238E27FC236}">
                <a16:creationId xmlns:a16="http://schemas.microsoft.com/office/drawing/2014/main" id="{45332849-82D7-4313-980E-F9C8CA9B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Diseño de red y pruebas del simulador.</a:t>
            </a:r>
          </a:p>
          <a:p xmlns:a="http://schemas.openxmlformats.org/drawingml/2006/main">
            <a: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Inventario y comparación de costos A/B.</a:t>
            </a:r>
          </a:p>
        </p:txBody>
      </p:sp>
      <p:sp>
        <p:nvSpPr>
          <p:cNvPr id="7" name="next">
            <a:extLst xmlns:a="http://schemas.openxmlformats.org/drawingml/2006/main">
              <a:ext uri="{FF2B5EF4-FFF2-40B4-BE49-F238E27FC236}">
                <a16:creationId xmlns:a16="http://schemas.microsoft.com/office/drawing/2014/main" id="{898C045F-44F8-4AB0-A3AC-5696097D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Caminos alternativos y permisos por servicio.</a:t>
            </a:r>
          </a:p>
        </p:txBody>
      </p:sp>
      <p:sp>
        <p:nvSpPr>
          <p:cNvPr id="8" name="thanks">
            <a:extLst xmlns:a="http://schemas.openxmlformats.org/drawingml/2006/main">
              <a:ext uri="{FF2B5EF4-FFF2-40B4-BE49-F238E27FC236}">
                <a16:creationId xmlns:a16="http://schemas.microsoft.com/office/drawing/2014/main" id="{37B30888-6807-4F10-9EC1-6555161D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Muchas gracias, profesor.</a:t>
            </a:r>
          </a:p>
        </p:txBody>
      </p:sp>
    </p:spTree>
    <p:extLst>
      <p:ext uri="{BB962C8B-B14F-4D97-AF65-F5344CB8AC3E}">
        <p14:creationId xmlns:p14="http://schemas.microsoft.com/office/powerpoint/2010/main" val="8693836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2026-10-29T09:54:02.8730000Z</dcterms:created>
  <dcterms:modified xsi:type="dcterms:W3CDTF">2026-10-29T09:54:02.8730000Z</dcterms:modified>
</coreProperties>
</file>