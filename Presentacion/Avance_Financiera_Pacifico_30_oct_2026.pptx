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cfb7bf1ea5c4b76" /><Relationship Type="http://schemas.openxmlformats.org/officeDocument/2006/relationships/extended-properties" Target="/docProps/app.xml" Id="R9156e18b58744e72" /><Relationship Type="http://schemas.openxmlformats.org/officeDocument/2006/relationships/officeDocument" Target="/ppt/presentation.xml" Id="R82c50636e788403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accaeef7cf64930"/>
  </p:sldMasterIdLst>
  <p:notesMasterIdLst>
    <p:notesMasterId xmlns:r="http://schemas.openxmlformats.org/officeDocument/2006/relationships" r:id="R446b7145a77b4cb0"/>
  </p:notesMasterIdLst>
  <p:sldIdLst>
    <p:sldId xmlns:r="http://schemas.openxmlformats.org/officeDocument/2006/relationships" id="256" r:id="Rda7967e6aa1e4829"/>
    <p:sldId xmlns:r="http://schemas.openxmlformats.org/officeDocument/2006/relationships" id="257" r:id="Rbcc6c99ca7c6477f"/>
    <p:sldId xmlns:r="http://schemas.openxmlformats.org/officeDocument/2006/relationships" id="258" r:id="R1f1405166cf64380"/>
    <p:sldId xmlns:r="http://schemas.openxmlformats.org/officeDocument/2006/relationships" id="259" r:id="R1e113130714e41f0"/>
    <p:sldId xmlns:r="http://schemas.openxmlformats.org/officeDocument/2006/relationships" id="260" r:id="R998eefc07ade463d"/>
    <p:sldId xmlns:r="http://schemas.openxmlformats.org/officeDocument/2006/relationships" id="261" r:id="R1c0aa2aef047432d"/>
    <p:sldId xmlns:r="http://schemas.openxmlformats.org/officeDocument/2006/relationships" id="262" r:id="Rcfe95d96547641e2"/>
    <p:sldId xmlns:r="http://schemas.openxmlformats.org/officeDocument/2006/relationships" id="263" r:id="Refe6f87eda4b447d"/>
    <p:sldId xmlns:r="http://schemas.openxmlformats.org/officeDocument/2006/relationships" id="264" r:id="Ra664fe04ecdd46e5"/>
    <p:sldId xmlns:r="http://schemas.openxmlformats.org/officeDocument/2006/relationships" id="265" r:id="R21f22454f1c74507"/>
    <p:sldId xmlns:r="http://schemas.openxmlformats.org/officeDocument/2006/relationships" id="266" r:id="R11bdbab62e4545df"/>
    <p:sldId xmlns:r="http://schemas.openxmlformats.org/officeDocument/2006/relationships" id="267" r:id="Rb735e642e67b4b2f"/>
    <p:sldId xmlns:r="http://schemas.openxmlformats.org/officeDocument/2006/relationships" id="268" r:id="Rc3d88aba4ca74c44"/>
    <p:sldId xmlns:r="http://schemas.openxmlformats.org/officeDocument/2006/relationships" id="269" r:id="R3228760a7909403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e32e7a1c88f4828" /><Relationship Type="http://schemas.openxmlformats.org/officeDocument/2006/relationships/slideMaster" Target="/ppt/slideMasters/slideMaster1.xml" Id="Rbaccaeef7cf64930" /><Relationship Type="http://schemas.openxmlformats.org/officeDocument/2006/relationships/notesMaster" Target="/ppt/notesMasters/notesMaster1.xml" Id="R446b7145a77b4cb0" /><Relationship Type="http://schemas.openxmlformats.org/officeDocument/2006/relationships/presProps" Target="/ppt/presProps.xml" Id="Rb7b9e8b42e254bad" /><Relationship Type="http://schemas.openxmlformats.org/officeDocument/2006/relationships/tableStyles" Target="/ppt/tableStyles.xml" Id="Rbfb97743b4bc437a" /><Relationship Type="http://schemas.openxmlformats.org/officeDocument/2006/relationships/slide" Target="/ppt/slides/slide1.xml" Id="Rda7967e6aa1e4829" /><Relationship Type="http://schemas.openxmlformats.org/officeDocument/2006/relationships/slide" Target="/ppt/slides/slide2.xml" Id="Rbcc6c99ca7c6477f" /><Relationship Type="http://schemas.openxmlformats.org/officeDocument/2006/relationships/slide" Target="/ppt/slides/slide3.xml" Id="R1f1405166cf64380" /><Relationship Type="http://schemas.openxmlformats.org/officeDocument/2006/relationships/slide" Target="/ppt/slides/slide4.xml" Id="R1e113130714e41f0" /><Relationship Type="http://schemas.openxmlformats.org/officeDocument/2006/relationships/slide" Target="/ppt/slides/slide5.xml" Id="R998eefc07ade463d" /><Relationship Type="http://schemas.openxmlformats.org/officeDocument/2006/relationships/slide" Target="/ppt/slides/slide6.xml" Id="R1c0aa2aef047432d" /><Relationship Type="http://schemas.openxmlformats.org/officeDocument/2006/relationships/slide" Target="/ppt/slides/slide7.xml" Id="Rcfe95d96547641e2" /><Relationship Type="http://schemas.openxmlformats.org/officeDocument/2006/relationships/slide" Target="/ppt/slides/slide8.xml" Id="Refe6f87eda4b447d" /><Relationship Type="http://schemas.openxmlformats.org/officeDocument/2006/relationships/slide" Target="/ppt/slides/slide9.xml" Id="Ra664fe04ecdd46e5" /><Relationship Type="http://schemas.openxmlformats.org/officeDocument/2006/relationships/slide" Target="/ppt/slides/slide10.xml" Id="R21f22454f1c74507" /><Relationship Type="http://schemas.openxmlformats.org/officeDocument/2006/relationships/slide" Target="/ppt/slides/slide11.xml" Id="R11bdbab62e4545df" /><Relationship Type="http://schemas.openxmlformats.org/officeDocument/2006/relationships/slide" Target="/ppt/slides/slide12.xml" Id="Rb735e642e67b4b2f" /><Relationship Type="http://schemas.openxmlformats.org/officeDocument/2006/relationships/slide" Target="/ppt/slides/slide13.xml" Id="Rc3d88aba4ca74c44" /><Relationship Type="http://schemas.openxmlformats.org/officeDocument/2006/relationships/slide" Target="/ppt/slides/slide14.xml" Id="R3228760a7909403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a21e082924d48c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d9c6f82012f47ae" /><Relationship Type="http://schemas.openxmlformats.org/officeDocument/2006/relationships/notesMaster" Target="/ppt/notesMasters/notesMaster1.xml" Id="Rfdcecfb78cf746d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4684db431d546b4" /><Relationship Type="http://schemas.openxmlformats.org/officeDocument/2006/relationships/notesMaster" Target="/ppt/notesMasters/notesMaster1.xml" Id="R89abc7f8f0b64d2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7d03f2f963e4b34" /><Relationship Type="http://schemas.openxmlformats.org/officeDocument/2006/relationships/notesMaster" Target="/ppt/notesMasters/notesMaster1.xml" Id="R79d442d9adac423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972ff3c8b1d4667" /><Relationship Type="http://schemas.openxmlformats.org/officeDocument/2006/relationships/notesMaster" Target="/ppt/notesMasters/notesMaster1.xml" Id="Rf76836610241406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92b453b9eda467d" /><Relationship Type="http://schemas.openxmlformats.org/officeDocument/2006/relationships/notesMaster" Target="/ppt/notesMasters/notesMaster1.xml" Id="Re06c2dab2a26405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bb81b5d106a484c" /><Relationship Type="http://schemas.openxmlformats.org/officeDocument/2006/relationships/notesMaster" Target="/ppt/notesMasters/notesMaster1.xml" Id="R88bb8e69d3c3494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5442b1178064e9d" /><Relationship Type="http://schemas.openxmlformats.org/officeDocument/2006/relationships/notesMaster" Target="/ppt/notesMasters/notesMaster1.xml" Id="Rc645ec87def8429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2737b9e31a34ee9" /><Relationship Type="http://schemas.openxmlformats.org/officeDocument/2006/relationships/notesMaster" Target="/ppt/notesMasters/notesMaster1.xml" Id="R787afe112fa24ac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268cae9fcd84a48" /><Relationship Type="http://schemas.openxmlformats.org/officeDocument/2006/relationships/notesMaster" Target="/ppt/notesMasters/notesMaster1.xml" Id="Re3cad1b6e6474d7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69fe929cef3451d" /><Relationship Type="http://schemas.openxmlformats.org/officeDocument/2006/relationships/notesMaster" Target="/ppt/notesMasters/notesMaster1.xml" Id="R8122ef7aedbf44a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8c0e1a8327a46f3" /><Relationship Type="http://schemas.openxmlformats.org/officeDocument/2006/relationships/notesMaster" Target="/ppt/notesMasters/notesMaster1.xml" Id="R70db355beb984b2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f5ecee5e440443c" /><Relationship Type="http://schemas.openxmlformats.org/officeDocument/2006/relationships/notesMaster" Target="/ppt/notesMasters/notesMaster1.xml" Id="R35f63793fbb5474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04ea28e38d84d07" /><Relationship Type="http://schemas.openxmlformats.org/officeDocument/2006/relationships/notesMaster" Target="/ppt/notesMasters/notesMaster1.xml" Id="Rab641b17d70a49d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5e92ef1685e4d34" /><Relationship Type="http://schemas.openxmlformats.org/officeDocument/2006/relationships/notesMaster" Target="/ppt/notesMasters/notesMaster1.xml" Id="Rbf5d05018004497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https://github.com/hu-herrera/fin/blob/main/docs/entrega-profesor-fuentes/01_Informe_Diagnostico_Propuesta.md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https://github.com/hu-herrera/fin/blob/main/docs/entrega-profesor-fuentes/Entregable-6.md y https://github.com/hu-herrera/fin/blob/main/docs/entrega-profesor-fuentes/03_Bitacora.md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https://github.com/hu-herrera/fin/blob/main/docs/entrega-profesor-fuentes/00_Caso_Oficial.md y https://github.com/hu-herrera/fin/blob/main/docs/entrega-profesor-fuentes/01_Informe_Diagnostico_Propuesta.md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https://github.com/hu-herrera/fin/blob/main/docs/entrega-profesor-fuentes/Entregable-1.md y https://github.com/hu-herrera/fin/blob/main/docs/entrega-profesor-fuentes/Entregable-3.md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https://github.com/hu-herrera/fin/blob/main/docs/entrega-profesor-fuentes/Entregable-3.md. Extracto del plano S06, alternativa B, Anexos/Topologias_ANTES_A_B.pdf.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https://github.com/hu-herrera/fin/blob/main/docs/entrega-profesor-fuentes/Entregable-2.md y https://github.com/hu-herrera/fin/blob/main/docs/entrega-profesor-fuentes/Entregable-7.md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https://github.com/hu-herrera/fin/blob/main/docs/entrega-profesor-fuentes/Entregable-4.md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https://github.com/hu-herrera/fin/blob/main/docs/entrega-profesor-fuentes/Entregable-3.md y https://github.com/hu-herrera/fin/blob/main/docs/entrega-profesor-fuentes/Entregable-4.md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https://github.com/hu-herrera/fin/blob/main/docs/entrega-profesor-fuentes/Entregable-5.md y https://github.com/hu-herrera/fin/blob/main/docs/entrega-profesor-fuentes/Entregable-6.md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https://github.com/hu-herrera/fin/blob/main/docs/entrega-profesor-fuentes/Entregable-6.md. Commit de red 228ec2674d2b784b4cb67dab1128e969f681d3aa.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https://github.com/hu-herrera/fin/blob/main/docs/entrega-profesor-fuentes/Entregable-7.md y Anexos/Presupuesto_Inventario.xlsx.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https://github.com/hu-herrera/fin/blob/main/docs/entrega-profesor-fuentes/Entregable-3.md, https://github.com/hu-herrera/fin/blob/main/docs/entrega-profesor-fuentes/Entregable-7.md y solicitud de distribuidores de otra marca en ambas opciones.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https://github.com/hu-herrera/fin/blob/main/docs/entrega-profesor-fuentes/Entregable-7.md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Aviso docente recibido el 23/10/2026: video y PPT por AVA, plazo viernes 30/10/2026. Fechas intermedias propuestas para organizar el trabajo.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f60a8057fe49f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bd1569068a43f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285d2c0cb6452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a28c9918964c0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f1b6e18ca442f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88fe3d421d4dc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0945C45-2D93-42DF-8037-68B4C3EEE03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A0BACBC-808E-482A-AA96-551C05805B5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8825B655-D49E-4410-8E4C-29348072A5D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E990DDB-10BD-4BD1-BDFC-35A098FE1F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1AF7949-791C-47D1-A165-3101C97FDEC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56FB015-3AAE-4C2D-B892-8FA2F67944B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6440B3E-7B82-4707-A1A1-6FCEC04E751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2EEB4F11-B030-46A5-9239-233A795291E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DD1EEEE-CE70-4D67-B4A8-6FE4FAB882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63FF595-B97A-4800-949B-D0F8D29B158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5a5a8a079c94c8e" /><Relationship Type="http://schemas.openxmlformats.org/officeDocument/2006/relationships/slideLayout" Target="/ppt/slideLayouts/slideLayout1.xml" Id="R9fefece25745460b" /><Relationship Type="http://schemas.openxmlformats.org/officeDocument/2006/relationships/slideLayout" Target="/ppt/slideLayouts/slideLayout2.xml" Id="Rc55a12d5b81e43e5" /><Relationship Type="http://schemas.openxmlformats.org/officeDocument/2006/relationships/slideLayout" Target="/ppt/slideLayouts/slideLayout3.xml" Id="R9265cbee61834142" /><Relationship Type="http://schemas.openxmlformats.org/officeDocument/2006/relationships/slideLayout" Target="/ppt/slideLayouts/slideLayout4.xml" Id="R311c9b5ea93e4127" /><Relationship Type="http://schemas.openxmlformats.org/officeDocument/2006/relationships/slideLayout" Target="/ppt/slideLayouts/slideLayout5.xml" Id="R0eb28c354f5b4689" /><Relationship Type="http://schemas.openxmlformats.org/officeDocument/2006/relationships/slideLayout" Target="/ppt/slideLayouts/slideLayout6.xml" Id="R8d083797f7d44e2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fefece25745460b"/>
    <p:sldLayoutId xmlns:r="http://schemas.openxmlformats.org/officeDocument/2006/relationships" id="2147483650" r:id="Rc55a12d5b81e43e5"/>
    <p:sldLayoutId xmlns:r="http://schemas.openxmlformats.org/officeDocument/2006/relationships" id="2147483651" r:id="R9265cbee61834142"/>
    <p:sldLayoutId xmlns:r="http://schemas.openxmlformats.org/officeDocument/2006/relationships" id="2147483652" r:id="R311c9b5ea93e4127"/>
    <p:sldLayoutId xmlns:r="http://schemas.openxmlformats.org/officeDocument/2006/relationships" id="2147483653" r:id="R0eb28c354f5b4689"/>
    <p:sldLayoutId xmlns:r="http://schemas.openxmlformats.org/officeDocument/2006/relationships" id="2147483654" r:id="R8d083797f7d44e2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89f6ed5b640481f" /><Relationship Type="http://schemas.openxmlformats.org/officeDocument/2006/relationships/notesSlide" Target="/ppt/notesSlides/notesSlide1.xml" Id="R1789a6cbec7648f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6a51f7dc6454aa3" /><Relationship Type="http://schemas.openxmlformats.org/officeDocument/2006/relationships/notesSlide" Target="/ppt/notesSlides/notesSlide2.xml" Id="R8b7e392e470e4de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c8954724c7a4947" /><Relationship Type="http://schemas.openxmlformats.org/officeDocument/2006/relationships/notesSlide" Target="/ppt/notesSlides/notesSlide3.xml" Id="Rc5f95b0bff474df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9fca779198045eb" /><Relationship Type="http://schemas.openxmlformats.org/officeDocument/2006/relationships/notesSlide" Target="/ppt/notesSlides/notesSlide4.xml" Id="R4a4b3c03f2a94ce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ddabe9e84bd40e0" /><Relationship Type="http://schemas.openxmlformats.org/officeDocument/2006/relationships/image" Target="/ppt/media/image.png" Id="R84b66c4f9da643fc" /><Relationship Type="http://schemas.openxmlformats.org/officeDocument/2006/relationships/notesSlide" Target="/ppt/notesSlides/notesSlide5.xml" Id="R113ed28c9b954cc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2ab2ab5ab564163" /><Relationship Type="http://schemas.openxmlformats.org/officeDocument/2006/relationships/notesSlide" Target="/ppt/notesSlides/notesSlide6.xml" Id="R0c5e8e5774a04e5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09c96fafa2d48a0" /><Relationship Type="http://schemas.openxmlformats.org/officeDocument/2006/relationships/notesSlide" Target="/ppt/notesSlides/notesSlide7.xml" Id="R20be7704b2f24ba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7f26b8769be4988" /><Relationship Type="http://schemas.openxmlformats.org/officeDocument/2006/relationships/notesSlide" Target="/ppt/notesSlides/notesSlide8.xml" Id="R4d0433b45e254a1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888ff9bbf044a71" /><Relationship Type="http://schemas.openxmlformats.org/officeDocument/2006/relationships/hyperlink" Target="https://hu-herrera.github.io/fin/" TargetMode="External" Id="Rb48e0d6d04d74070" /><Relationship Type="http://schemas.openxmlformats.org/officeDocument/2006/relationships/notesSlide" Target="/ppt/notesSlides/notesSlide9.xml" Id="Re74233c80bdf4cc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9ee3c6a777c4aca" /><Relationship Type="http://schemas.openxmlformats.org/officeDocument/2006/relationships/notesSlide" Target="/ppt/notesSlides/notesSlide10.xml" Id="Rd6589e8571b2415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4ed6faeb83a4f77" /><Relationship Type="http://schemas.openxmlformats.org/officeDocument/2006/relationships/notesSlide" Target="/ppt/notesSlides/notesSlide11.xml" Id="Re7e506337e024e9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b6e43fe650a43f6" /><Relationship Type="http://schemas.openxmlformats.org/officeDocument/2006/relationships/notesSlide" Target="/ppt/notesSlides/notesSlide12.xml" Id="R6efbd2bb03ca4a8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84629573f79407e" /><Relationship Type="http://schemas.openxmlformats.org/officeDocument/2006/relationships/notesSlide" Target="/ppt/notesSlides/notesSlide13.xml" Id="Rc0a102851da8489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c73d255b7de47b0" /><Relationship Type="http://schemas.openxmlformats.org/officeDocument/2006/relationships/notesSlide" Target="/ppt/notesSlides/notesSlide14.xml" Id="R72510a06390a482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63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0">
            <a:extLst xmlns:a="http://schemas.openxmlformats.org/drawingml/2006/main">
              <a:ext uri="{FF2B5EF4-FFF2-40B4-BE49-F238E27FC236}">
                <a16:creationId xmlns:a16="http://schemas.microsoft.com/office/drawing/2014/main" id="{BEF76570-8C32-47FF-B34E-DA1372B7C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Financiera Pacífico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052D149F-797F-4FC7-AE82-4060F9350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B25703A4-E9A9-41ED-8BE4-06F3F53B2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102870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Continuidad y seguridad</a:t>
            </a:r>
          </a:p>
          <a:p xmlns:a="http://schemas.openxmlformats.org/drawingml/2006/main">
            <a:pPr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entre sucursales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BD9388F0-01B4-484C-97EA-9DC625A2C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33850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rPr>
              <a:t>Avance Capstone al 23 de octubre de 2026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17EF7F20-8B83-407E-959C-953962193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477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Hugo Eduardo Herrera Inostroza</a:t>
            </a:r>
          </a:p>
          <a:p xmlns:a="http://schemas.openxmlformats.org/drawingml/2006/main">
            <a:pPr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Proyecto de Título APT</a:t>
            </a:r>
          </a:p>
        </p:txBody>
      </p:sp>
    </p:spTree>
    <p:extLst>
      <p:ext uri="{BB962C8B-B14F-4D97-AF65-F5344CB8AC3E}">
        <p14:creationId xmlns:p14="http://schemas.microsoft.com/office/powerpoint/2010/main" val="3145813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0">
            <a:extLst xmlns:a="http://schemas.openxmlformats.org/drawingml/2006/main">
              <a:ext uri="{FF2B5EF4-FFF2-40B4-BE49-F238E27FC236}">
                <a16:creationId xmlns:a16="http://schemas.microsoft.com/office/drawing/2014/main" id="{CE59C65C-141A-4E25-BC79-903DECB41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Estado actual del proyecto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883DBB6E-53A9-4D2D-A607-11B5B1B98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851B1186-CD00-41B0-8049-B38C15AF6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28775"/>
            <a:ext cx="5191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Prototipo implementado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0F2ADA5C-87DC-419C-A10A-714C7AEE1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51911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Simulador web con ANTES y rediseño A/B.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Dispositivos con modelo, IP, VLAN, interfaces y puertos.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E51446C7-102D-4C4D-B4BE-A935A4423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628775"/>
            <a:ext cx="5162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Documentación consolidada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5F683C5B-78EB-4233-A873-AC0369FC6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133600"/>
            <a:ext cx="51625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Caso, diagnóstico y propuesta, entregables 1–7, bitácora y anexos.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Inventario y costos conciliados por alternativa.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66103B27-A27A-42EF-9787-3C11FFF6D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10810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Pruebas de caminos, políticas de acceso y fallas registradas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42D432A5-8D50-4DDC-9F51-EA0B4DACB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Pendientes de esta entrega: ajuste WAN de A, grabación y revisión del video, envío de video y PPT por AVA.</a:t>
            </a:r>
          </a:p>
        </p:txBody>
      </p:sp>
    </p:spTree>
    <p:extLst>
      <p:ext uri="{BB962C8B-B14F-4D97-AF65-F5344CB8AC3E}">
        <p14:creationId xmlns:p14="http://schemas.microsoft.com/office/powerpoint/2010/main" val="178403352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0">
            <a:extLst xmlns:a="http://schemas.openxmlformats.org/drawingml/2006/main">
              <a:ext uri="{FF2B5EF4-FFF2-40B4-BE49-F238E27FC236}">
                <a16:creationId xmlns:a16="http://schemas.microsoft.com/office/drawing/2014/main" id="{9B601BEC-76E5-4BD2-AD13-C1C60CC49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Alcance oficial y escenario adoptado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B3E2027C-8EBB-44E9-8106-7C57630B5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43AEEFE5-D040-4D79-BDA8-92688A861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Ficha oficial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64824920-4109-4C12-B96B-9CC4A49E3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66925"/>
            <a:ext cx="5143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780 trabajadores y unos 650 usuarios TI.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22 sedes: Casa Matriz y 21 sucursales.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Problema: falta de contingencia remota y cambios manuales.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29FFAAC6-9CFE-4DD8-9D25-03E666327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562100"/>
            <a:ext cx="5162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Adaptación del proyecto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85315AB0-36E8-4A35-9059-39F25C534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66925"/>
            <a:ext cx="51625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23 sedes: Casa Matriz y 22 sucursales.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650 PCs y 650 teléfonos existentes adoptados como inventario.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Seis futuras aperturas con presupuesto separado.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1C2C5F41-A4CE-41B4-A450-5A5ACF559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Modelos, carga, direccionamiento y condiciones comerciales son supuestos explícitos del caso ficticio.</a:t>
            </a:r>
          </a:p>
        </p:txBody>
      </p:sp>
    </p:spTree>
    <p:extLst>
      <p:ext uri="{BB962C8B-B14F-4D97-AF65-F5344CB8AC3E}">
        <p14:creationId xmlns:p14="http://schemas.microsoft.com/office/powerpoint/2010/main" val="34132629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-0">
            <a:extLst xmlns:a="http://schemas.openxmlformats.org/drawingml/2006/main">
              <a:ext uri="{FF2B5EF4-FFF2-40B4-BE49-F238E27FC236}">
                <a16:creationId xmlns:a16="http://schemas.microsoft.com/office/drawing/2014/main" id="{C93ECC1F-E340-48A9-B759-983E0B01D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Diagnóstico de la red anterior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63FBDAF7-EC9A-418E-B66C-C24E8022C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2D8F18-D8F6-48EB-822F-37FA33A851C2}"/>
              </a:ext>
            </a:extLst>
          </p:cNvPr>
          <p:cNvGraphicFramePr/>
          <p:nvPr/>
        </p:nvGraphicFramePr>
        <p:xfrm>
          <a:off xmlns:a="http://schemas.openxmlformats.org/drawingml/2006/main" x="609600" y="1524000"/>
          <a:ext xmlns:a="http://schemas.openxmlformats.org/drawingml/2006/main" cx="10972800" cy="37052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238750"/>
                <a:gridCol w="5734050"/>
              </a:tblGrid>
              <a:tr h="92630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Dependencia adoptada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Consecuencia de una falla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</a:tr>
              <a:tr h="926306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Sucursal: un router, un switch y un MPLS de 100 Mbps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Puede perder acceso a aplicación financiera y telefonía central.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26306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Central: dos MPLS de 1 Gbps, dos ISP de 500 Mbps y un firewall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Hay redundancia de enlaces, pero el firewall sigue siendo único.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  <a:tr h="926306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DC-01 con aplicación/BD y DC-02 con voz/servicios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Los roles separados no recuperan automáticamente una VM en el otro host.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C6E33796-9229-4C92-ADAA-31090CB0B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100 Mbps cubren la carga normal calculada de unos 26,4 Mbps en una sucursal de 30 puestos.</a:t>
            </a:r>
          </a:p>
        </p:txBody>
      </p:sp>
    </p:spTree>
    <p:extLst>
      <p:ext uri="{BB962C8B-B14F-4D97-AF65-F5344CB8AC3E}">
        <p14:creationId xmlns:p14="http://schemas.microsoft.com/office/powerpoint/2010/main" val="115926181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0">
            <a:extLst xmlns:a="http://schemas.openxmlformats.org/drawingml/2006/main">
              <a:ext uri="{FF2B5EF4-FFF2-40B4-BE49-F238E27FC236}">
                <a16:creationId xmlns:a16="http://schemas.microsoft.com/office/drawing/2014/main" id="{80223423-8642-4EF1-B10A-5FD69A03F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Arquitectura de una sucursal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F7A73F17-78F2-483E-AE7B-2C5F096B8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05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FA4DF9-E897-4AF3-89B4-612F7A69CDA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b66c4f9da643fc"/>
          <a:stretch xmlns:a="http://schemas.openxmlformats.org/drawingml/2006/main"/>
        </p:blipFill>
        <p:spPr>
          <a:xfrm xmlns:a="http://schemas.openxmlformats.org/drawingml/2006/main">
            <a:off x="1723159" y="1476375"/>
            <a:ext cx="8745682" cy="3848100"/>
          </a:xfrm>
          <a:prstGeom xmlns:a="http://schemas.openxmlformats.org/drawingml/2006/main" prst="rect">
            <a:avLst/>
          </a:prstGeom>
        </p:spPr>
      </p:pic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16C3FE3A-C171-4F14-86A2-5314A8887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76875"/>
            <a:ext cx="107156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Cuatro transportes y dos dominios WAN independientes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AD885E96-83B9-45D6-B156-2F38BF497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81700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VPN hacia el par de firewalls de Casa Matriz. La navegación sale inspeccionada por central.</a:t>
            </a:r>
          </a:p>
        </p:txBody>
      </p:sp>
    </p:spTree>
    <p:extLst>
      <p:ext uri="{BB962C8B-B14F-4D97-AF65-F5344CB8AC3E}">
        <p14:creationId xmlns:p14="http://schemas.microsoft.com/office/powerpoint/2010/main" val="147498830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-0">
            <a:extLst xmlns:a="http://schemas.openxmlformats.org/drawingml/2006/main">
              <a:ext uri="{FF2B5EF4-FFF2-40B4-BE49-F238E27FC236}">
                <a16:creationId xmlns:a16="http://schemas.microsoft.com/office/drawing/2014/main" id="{9DDF1343-12C3-44DF-A6EE-D91690927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Alternativas de equipamiento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07F79653-A327-4901-9EA0-829DA4B12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06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B8B981-553F-47AF-8FF1-E629A04CBF78}"/>
              </a:ext>
            </a:extLst>
          </p:cNvPr>
          <p:cNvGraphicFramePr/>
          <p:nvPr/>
        </p:nvGraphicFramePr>
        <p:xfrm>
          <a:off xmlns:a="http://schemas.openxmlformats.org/drawingml/2006/main" x="609600" y="1495425"/>
          <a:ext xmlns:a="http://schemas.openxmlformats.org/drawingml/2006/main" cx="10972800" cy="3952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24125"/>
                <a:gridCol w="4238625"/>
                <a:gridCol w="4210050"/>
              </a:tblGrid>
              <a:tr h="79057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Función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A: Cisco / Palo Alto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B: MikroTik / OPNsense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</a:tr>
              <a:tr h="790575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Routers remotos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44 C1121X</a:t>
                      </a:r>
                    </a:p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7 reutilizados y 37 nuevos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42 CCR2004 y 2 RB5009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90575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Switches remotos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44 C9200L</a:t>
                      </a:r>
                    </a:p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17 reutilizados y 27 nuevos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44 CRS328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  <a:tr h="790575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Firewalls centrales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 PA-1410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 DEC3852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90575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Distribución WAN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45 C1300 GE y 1 multigig</a:t>
                      </a:r>
                    </a:p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Cambio de marca pendiente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45 hEX E50UG y 1 CRS310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AE402265-25FC-4FFF-81AF-B2321D4C3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Ambas conservan 2 C9200L centrales, PCs, teléfonos y hosts existentes. B usa LACP/RSTP/VRRP, sin StackWise.</a:t>
            </a:r>
          </a:p>
        </p:txBody>
      </p:sp>
    </p:spTree>
    <p:extLst>
      <p:ext uri="{BB962C8B-B14F-4D97-AF65-F5344CB8AC3E}">
        <p14:creationId xmlns:p14="http://schemas.microsoft.com/office/powerpoint/2010/main" val="149320207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-0">
            <a:extLst xmlns:a="http://schemas.openxmlformats.org/drawingml/2006/main">
              <a:ext uri="{FF2B5EF4-FFF2-40B4-BE49-F238E27FC236}">
                <a16:creationId xmlns:a16="http://schemas.microsoft.com/office/drawing/2014/main" id="{CB108B3D-D59B-403A-AAE7-004B700A1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Segmentación y permisos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B41885ED-E777-4D85-9CBD-04DB61B17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07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52A53B-E0C0-403A-80B2-8FCF3C83C31B}"/>
              </a:ext>
            </a:extLst>
          </p:cNvPr>
          <p:cNvGraphicFramePr/>
          <p:nvPr/>
        </p:nvGraphicFramePr>
        <p:xfrm>
          <a:off xmlns:a="http://schemas.openxmlformats.org/drawingml/2006/main" x="609600" y="1476375"/>
          <a:ext xmlns:a="http://schemas.openxmlformats.org/drawingml/2006/main" cx="10972800" cy="4000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52750"/>
                <a:gridCol w="3524250"/>
                <a:gridCol w="4495800"/>
              </a:tblGrid>
              <a:tr h="8001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Segmento o servicio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Dirección de ejemplo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Política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Datos S06, VLAN 10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10.70.6.0/25</a:t>
                      </a:r>
                    </a:p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Gateway 10.70.6.1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Usuarios acceden a APP por HTTPS.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APP y BD, VLAN 50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APP 10.70.200.10</a:t>
                      </a:r>
                    </a:p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BD 10.70.200.11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TCP 443 a APP. TCP 5432 a BD solo desde APP.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Voz, VLAN 20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PBX 10.70.200.20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Señalización TLS 5061 y medios autorizados.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Invitados / gestión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VLAN 40 / VLAN 130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Invitados aislados. Administración desde NOC.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862460EA-80F0-48AF-BB07-352214B69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Las VLAN son locales. Sus subredes IP se enrutan por IPsec. APP/BD requieren también filtros de host.</a:t>
            </a:r>
          </a:p>
        </p:txBody>
      </p:sp>
    </p:spTree>
    <p:extLst>
      <p:ext uri="{BB962C8B-B14F-4D97-AF65-F5344CB8AC3E}">
        <p14:creationId xmlns:p14="http://schemas.microsoft.com/office/powerpoint/2010/main" val="112639349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0">
            <a:extLst xmlns:a="http://schemas.openxmlformats.org/drawingml/2006/main">
              <a:ext uri="{FF2B5EF4-FFF2-40B4-BE49-F238E27FC236}">
                <a16:creationId xmlns:a16="http://schemas.microsoft.com/office/drawing/2014/main" id="{C03D8C1D-E559-4C16-80BD-68FE2F10F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Alta disponibilidad de los servicios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9BB842EE-BACD-4CF3-8B13-1FE8ECEB6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08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BF374E86-0680-4F66-9285-5348268B0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Recuperación entre dos hosts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41A2CBBE-13A8-47B4-A084-A3D659A2B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5143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DC-01 y DC-02 conservan los Dell R740.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DC-02 aumenta a 64 GiB y 3.840 GB útiles. Ambos hosts conectan a los dos switches.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00E3E81C-AF1F-4536-A36F-F729C076E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543050"/>
            <a:ext cx="5162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Condiciones de recuperación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A8524952-F597-48AD-957E-17848D89A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51625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Réplica ZFS utilizable, testigo en BKP y dos de tres votos.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Aislamiento del host fallado antes de reiniciar las VMs en el superviviente.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D75C2A90-8DDC-4A9A-B172-C60BFEA13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1010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Metas: pérdida de datos ≤60 s y recuperación ≤300 s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033CF077-F9CA-43D0-9016-DBBE12907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RPO y recuperación son objetivos del diseño. El modelo no garantiza sesiones ni recuperación ante pérdida de toda CM.</a:t>
            </a:r>
          </a:p>
        </p:txBody>
      </p:sp>
    </p:spTree>
    <p:extLst>
      <p:ext uri="{BB962C8B-B14F-4D97-AF65-F5344CB8AC3E}">
        <p14:creationId xmlns:p14="http://schemas.microsoft.com/office/powerpoint/2010/main" val="57353585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0">
            <a:extLst xmlns:a="http://schemas.openxmlformats.org/drawingml/2006/main">
              <a:ext uri="{FF2B5EF4-FFF2-40B4-BE49-F238E27FC236}">
                <a16:creationId xmlns:a16="http://schemas.microsoft.com/office/drawing/2014/main" id="{94EEDC29-437A-4641-9232-3FB762BCF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Demostración del prototipo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312C146D-7BFA-4CD7-84EF-5D58E92A9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09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3CE978-A2BF-464A-AAE7-C2C3757558CB}"/>
              </a:ext>
            </a:extLst>
          </p:cNvPr>
          <p:cNvGraphicFramePr/>
          <p:nvPr/>
        </p:nvGraphicFramePr>
        <p:xfrm>
          <a:off xmlns:a="http://schemas.openxmlformats.org/drawingml/2006/main" x="609600" y="1476375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572000"/>
                <a:gridCol w="6400800"/>
              </a:tblGrid>
              <a:tr h="7429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Escenario implementado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Comportamiento comprobable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ANTES: cortar el MPLS de S06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La sucursal pierde su único camino hacia central.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DESPUÉS: cortar transporte o router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Se selecciona otro camino cuando sus dependencias están disponibles.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Acceso a servicios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APP permitida, BD restringida e invitados sin acceso interno.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Caída de host o central completa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Recuperación condicionada del host. CM completa caída deja servicios indisponibles.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F9051673-64BD-4438-8C46-6D3A06575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  <a:hlinkClick xmlns:r="http://schemas.openxmlformats.org/officeDocument/2006/relationships" r:id="Rb48e0d6d04d74070"/>
              </a:rPr>
              <a:t>Abrir simulador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FBD798C3-E17D-4427-B41F-D8E1C0C3F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81700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La animación y las pruebas del navegador representan la lógica del modelo. El video de demostración está pendiente.</a:t>
            </a:r>
          </a:p>
        </p:txBody>
      </p:sp>
    </p:spTree>
    <p:extLst>
      <p:ext uri="{BB962C8B-B14F-4D97-AF65-F5344CB8AC3E}">
        <p14:creationId xmlns:p14="http://schemas.microsoft.com/office/powerpoint/2010/main" val="42139723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-0">
            <a:extLst xmlns:a="http://schemas.openxmlformats.org/drawingml/2006/main">
              <a:ext uri="{FF2B5EF4-FFF2-40B4-BE49-F238E27FC236}">
                <a16:creationId xmlns:a16="http://schemas.microsoft.com/office/drawing/2014/main" id="{831D55CE-8AA6-46B8-8125-55908CCC4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Evidencia y límites de los resultados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104F8D15-32CF-490D-8569-9BF58DFF7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10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68B45C94-F3CC-4A01-922C-2FAB66FF3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4191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78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236B6587-0487-4479-8F2F-1E213145F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4857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pruebas de lógica aprobadas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DEDD4012-2DBD-4D18-B594-74982080A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638300"/>
            <a:ext cx="4191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144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3D02244F-9618-4014-A119-22674412B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762250"/>
            <a:ext cx="5000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pruebas de navegador en la pasada general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BABFBAA6-56F9-4820-87F0-A544E8364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43375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1.351 comprobaciones adicionales de caminos A/B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058D59AA-7CB1-4D07-B339-7C5749122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10810875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La revisión final repite 31 pruebas del alcance general.</a:t>
            </a:r>
          </a:p>
          <a:p xmlns:a="http://schemas.openxmlformats.org/drawingml/2006/main">
            <a:pPr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Los resultados corresponden al software y sus reglas.</a:t>
            </a:r>
          </a:p>
        </p:txBody>
      </p:sp>
      <p:sp>
        <p:nvSpPr>
          <p:cNvPr id="9" name="text-8">
            <a:extLst xmlns:a="http://schemas.openxmlformats.org/drawingml/2006/main">
              <a:ext uri="{FF2B5EF4-FFF2-40B4-BE49-F238E27FC236}">
                <a16:creationId xmlns:a16="http://schemas.microsoft.com/office/drawing/2014/main" id="{0F431F18-D4A0-497A-BC89-90EE26C6A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0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99,99 % core y 99,95 % sucursal son metas anuales. El mapa muestra conectividad del escenario, no disponibilidad medida.</a:t>
            </a:r>
          </a:p>
        </p:txBody>
      </p:sp>
    </p:spTree>
    <p:extLst>
      <p:ext uri="{BB962C8B-B14F-4D97-AF65-F5344CB8AC3E}">
        <p14:creationId xmlns:p14="http://schemas.microsoft.com/office/powerpoint/2010/main" val="91707932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0">
            <a:extLst xmlns:a="http://schemas.openxmlformats.org/drawingml/2006/main">
              <a:ext uri="{FF2B5EF4-FFF2-40B4-BE49-F238E27FC236}">
                <a16:creationId xmlns:a16="http://schemas.microsoft.com/office/drawing/2014/main" id="{E0E1627B-5FE3-4287-B333-F2D964D0C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Presupuesto del alcance a cinco años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3A7D0CCA-7994-4676-9CBE-9D10B0C14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11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09B1B7-7148-437E-A9AF-2EA85B629A34}"/>
              </a:ext>
            </a:extLst>
          </p:cNvPr>
          <p:cNvGraphicFramePr/>
          <p:nvPr/>
        </p:nvGraphicFramePr>
        <p:xfrm>
          <a:off xmlns:a="http://schemas.openxmlformats.org/drawingml/2006/main" x="609600" y="1476375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686300"/>
                <a:gridCol w="3143250"/>
                <a:gridCol w="3143250"/>
              </a:tblGrid>
              <a:tr h="7429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CLP con IVA supuesto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Alternativa A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Alternativa B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Inversión inicial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817.268.133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280.617.592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WAN por 60 meses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658.885.320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658.885.320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Reserva operativa por 5 años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50.000.000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25.000.000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Total del alcance a 60 meses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1.526.153.453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964.502.912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2B7F8E2A-E744-480B-9548-C37E87C9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9725"/>
            <a:ext cx="1085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Ambas superan la referencia original de CLP 160 millones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4B86DB1F-F437-4B6C-A1DC-9D4C86495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81700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Incluye el inicial una vez. WAN común: CLP 10.981.422/mes. Valores referenciales, no contratos ni compras ejecutadas.</a:t>
            </a:r>
          </a:p>
        </p:txBody>
      </p:sp>
    </p:spTree>
    <p:extLst>
      <p:ext uri="{BB962C8B-B14F-4D97-AF65-F5344CB8AC3E}">
        <p14:creationId xmlns:p14="http://schemas.microsoft.com/office/powerpoint/2010/main" val="10316219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0">
            <a:extLst xmlns:a="http://schemas.openxmlformats.org/drawingml/2006/main">
              <a:ext uri="{FF2B5EF4-FFF2-40B4-BE49-F238E27FC236}">
                <a16:creationId xmlns:a16="http://schemas.microsoft.com/office/drawing/2014/main" id="{CE3270B5-2371-428A-B218-105897FAD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Dificultades y decisiones pendientes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8A3611E7-61B6-43BF-B363-DA9A434F6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12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64696DF3-5575-4C91-82F3-D64782D62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95425"/>
            <a:ext cx="10906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Coherencia de la opción A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BEADEF52-70E2-4873-8435-AB048B739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09061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A aún utiliza Cisco C1300 en WAN-A/B. Falta sustituirlos por otra marca y recalcular inventario, puertos y costos.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B95A9DE6-4981-4EBC-A548-3C034C35F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28950"/>
            <a:ext cx="10906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Capacidad de central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2C9315D4-B7EE-4AC4-833E-7A1587F7A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33775"/>
            <a:ext cx="109061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El pico calculado con video llega a 1.088 Mbps de subida frente a 1.000 Mbps del principal. Se requiere admisión de video y revisión antes de crecer.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EBA938CD-2E67-448F-90D9-0264197EC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10906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Supuestos comerciales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C145D820-16C2-41DD-B139-5F85114A3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9061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Leo, cobertura en sedes extremas, caudales y descuentos pertenecen al escenario ficticio. La comparación económica debe conservar esas condiciones visibles.</a:t>
            </a:r>
          </a:p>
        </p:txBody>
      </p:sp>
    </p:spTree>
    <p:extLst>
      <p:ext uri="{BB962C8B-B14F-4D97-AF65-F5344CB8AC3E}">
        <p14:creationId xmlns:p14="http://schemas.microsoft.com/office/powerpoint/2010/main" val="160935292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-0">
            <a:extLst xmlns:a="http://schemas.openxmlformats.org/drawingml/2006/main">
              <a:ext uri="{FF2B5EF4-FFF2-40B4-BE49-F238E27FC236}">
                <a16:creationId xmlns:a16="http://schemas.microsoft.com/office/drawing/2014/main" id="{43BFFD78-F62F-4330-91ED-20F8CF545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Plan de implantación de la propuesta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98F5BE47-1297-4226-9D57-D8B0EDF24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13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6F35CA-1674-432A-9F0B-3DDD6DE1BF35}"/>
              </a:ext>
            </a:extLst>
          </p:cNvPr>
          <p:cNvGraphicFramePr/>
          <p:nvPr/>
        </p:nvGraphicFramePr>
        <p:xfrm>
          <a:off xmlns:a="http://schemas.openxmlformats.org/drawingml/2006/main" x="609600" y="1524000"/>
          <a:ext xmlns:a="http://schemas.openxmlformats.org/drawingml/2006/main" cx="10972800" cy="3543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43250"/>
                <a:gridCol w="7829550"/>
              </a:tblGrid>
              <a:tr h="88582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Periodo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Actividad prevista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</a:tr>
              <a:tr h="8858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Año 1: doce semanas de implantación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Piloto CM/S01, tres olas de seis sucursales y cierre de S20/S21/S22. Mantener MPLS transitorio hasta aceptación.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858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Años 2–4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Operación, parches, revisión de capacidad, ejercicios de restauración y mantenimiento.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  <a:tr h="8858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Año 5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Evaluación de indicadores y plan de renovación del siguiente ciclo.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6F4C879F-E36F-42BF-896E-96DCB6A80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Plan de una implementación hipotética. Las seis aperturas futuras requieren su propia fase y presupuesto.</a:t>
            </a:r>
          </a:p>
        </p:txBody>
      </p:sp>
    </p:spTree>
    <p:extLst>
      <p:ext uri="{BB962C8B-B14F-4D97-AF65-F5344CB8AC3E}">
        <p14:creationId xmlns:p14="http://schemas.microsoft.com/office/powerpoint/2010/main" val="99953248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-0">
            <a:extLst xmlns:a="http://schemas.openxmlformats.org/drawingml/2006/main">
              <a:ext uri="{FF2B5EF4-FFF2-40B4-BE49-F238E27FC236}">
                <a16:creationId xmlns:a16="http://schemas.microsoft.com/office/drawing/2014/main" id="{25FAFAFA-E6A2-429B-ACC4-7042A6106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Plan de entrega al 30 de octubre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B46B2DF4-333F-4C56-8706-F70511429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14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D602D0-29B9-4BD9-929C-0A2D76B6B7F8}"/>
              </a:ext>
            </a:extLst>
          </p:cNvPr>
          <p:cNvGraphicFramePr/>
          <p:nvPr/>
        </p:nvGraphicFramePr>
        <p:xfrm>
          <a:off xmlns:a="http://schemas.openxmlformats.org/drawingml/2006/main" x="609600" y="1466850"/>
          <a:ext xmlns:a="http://schemas.openxmlformats.org/drawingml/2006/main" cx="10972800" cy="40100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43250"/>
                <a:gridCol w="7829550"/>
              </a:tblGrid>
              <a:tr h="66833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Fecha propuesta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Resultado esperado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</a:tr>
              <a:tr h="6683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23 de octubre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Repositorio docente y PowerPoint de avance preparados.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83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24–25 de octubre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Cerrar el cambio WAN de A y actualizar las salidas afectadas.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  <a:tr h="6683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26–28 de octubre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Grabar el video con la demostración del simulador.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83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29 de octubre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Revisar audio, legibilidad y coherencia entre video y PPT.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  <a:tr h="6683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Viernes 30 de octubre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Enviar ambos archivos por AVA y comprobar la recepción.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8A0C7FFB-DCC8-461A-B756-9F53B8E80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La entrega revisa avances reales. La grabación y el envío por AVA aún no se han realizado.</a:t>
            </a:r>
          </a:p>
        </p:txBody>
      </p:sp>
    </p:spTree>
    <p:extLst>
      <p:ext uri="{BB962C8B-B14F-4D97-AF65-F5344CB8AC3E}">
        <p14:creationId xmlns:p14="http://schemas.microsoft.com/office/powerpoint/2010/main" val="159644760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2026-10-23T23:29:25.1320000Z</dcterms:created>
  <dcterms:modified xsi:type="dcterms:W3CDTF">2026-10-23T23:29:25.1320000Z</dcterms:modified>
</coreProperties>
</file>