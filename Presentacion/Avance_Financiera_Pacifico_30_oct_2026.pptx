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41a5df27a74a65" /><Relationship Type="http://schemas.openxmlformats.org/officeDocument/2006/relationships/extended-properties" Target="/docProps/app.xml" Id="Re16e6e34fbe64b44" /><Relationship Type="http://schemas.openxmlformats.org/officeDocument/2006/relationships/officeDocument" Target="/ppt/presentation.xml" Id="Rf436caf8735246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1c5164fd449a0"/>
  </p:sldMasterIdLst>
  <p:notesMasterIdLst>
    <p:notesMasterId xmlns:r="http://schemas.openxmlformats.org/officeDocument/2006/relationships" r:id="R6e919be1fee64b82"/>
  </p:notesMasterIdLst>
  <p:sldIdLst>
    <p:sldId xmlns:r="http://schemas.openxmlformats.org/officeDocument/2006/relationships" id="256" r:id="R7dd5a2e4a4434026"/>
    <p:sldId xmlns:r="http://schemas.openxmlformats.org/officeDocument/2006/relationships" id="257" r:id="R5b564ddf205c4ee5"/>
    <p:sldId xmlns:r="http://schemas.openxmlformats.org/officeDocument/2006/relationships" id="258" r:id="Rfa2a1cfb49f94742"/>
    <p:sldId xmlns:r="http://schemas.openxmlformats.org/officeDocument/2006/relationships" id="259" r:id="R7a1b4ad4db9e4bcb"/>
    <p:sldId xmlns:r="http://schemas.openxmlformats.org/officeDocument/2006/relationships" id="260" r:id="R9b37edb6cfb24f71"/>
    <p:sldId xmlns:r="http://schemas.openxmlformats.org/officeDocument/2006/relationships" id="261" r:id="R66cf02a52bd744a3"/>
    <p:sldId xmlns:r="http://schemas.openxmlformats.org/officeDocument/2006/relationships" id="262" r:id="R0ade0ea8c03f4a01"/>
    <p:sldId xmlns:r="http://schemas.openxmlformats.org/officeDocument/2006/relationships" id="263" r:id="Rc5806a58639241f2"/>
    <p:sldId xmlns:r="http://schemas.openxmlformats.org/officeDocument/2006/relationships" id="264" r:id="R0c6c1d96a5f746ac"/>
    <p:sldId xmlns:r="http://schemas.openxmlformats.org/officeDocument/2006/relationships" id="265" r:id="Rd7a5d9c5be4f4128"/>
    <p:sldId xmlns:r="http://schemas.openxmlformats.org/officeDocument/2006/relationships" id="266" r:id="Rd70ef328d5484118"/>
    <p:sldId xmlns:r="http://schemas.openxmlformats.org/officeDocument/2006/relationships" id="267" r:id="R6d387f63cbf44361"/>
    <p:sldId xmlns:r="http://schemas.openxmlformats.org/officeDocument/2006/relationships" id="268" r:id="R0ccd83569c444ed9"/>
    <p:sldId xmlns:r="http://schemas.openxmlformats.org/officeDocument/2006/relationships" id="269" r:id="R8606a73d627e4a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bbaa8d09ed4fbe" /><Relationship Type="http://schemas.openxmlformats.org/officeDocument/2006/relationships/slideMaster" Target="/ppt/slideMasters/slideMaster1.xml" Id="R2891c5164fd449a0" /><Relationship Type="http://schemas.openxmlformats.org/officeDocument/2006/relationships/notesMaster" Target="/ppt/notesMasters/notesMaster1.xml" Id="R6e919be1fee64b82" /><Relationship Type="http://schemas.openxmlformats.org/officeDocument/2006/relationships/presProps" Target="/ppt/presProps.xml" Id="R2e4459b3fa9543b9" /><Relationship Type="http://schemas.openxmlformats.org/officeDocument/2006/relationships/tableStyles" Target="/ppt/tableStyles.xml" Id="R124949dd428042ff" /><Relationship Type="http://schemas.openxmlformats.org/officeDocument/2006/relationships/slide" Target="/ppt/slides/slide1.xml" Id="R7dd5a2e4a4434026" /><Relationship Type="http://schemas.openxmlformats.org/officeDocument/2006/relationships/slide" Target="/ppt/slides/slide2.xml" Id="R5b564ddf205c4ee5" /><Relationship Type="http://schemas.openxmlformats.org/officeDocument/2006/relationships/slide" Target="/ppt/slides/slide3.xml" Id="Rfa2a1cfb49f94742" /><Relationship Type="http://schemas.openxmlformats.org/officeDocument/2006/relationships/slide" Target="/ppt/slides/slide4.xml" Id="R7a1b4ad4db9e4bcb" /><Relationship Type="http://schemas.openxmlformats.org/officeDocument/2006/relationships/slide" Target="/ppt/slides/slide5.xml" Id="R9b37edb6cfb24f71" /><Relationship Type="http://schemas.openxmlformats.org/officeDocument/2006/relationships/slide" Target="/ppt/slides/slide6.xml" Id="R66cf02a52bd744a3" /><Relationship Type="http://schemas.openxmlformats.org/officeDocument/2006/relationships/slide" Target="/ppt/slides/slide7.xml" Id="R0ade0ea8c03f4a01" /><Relationship Type="http://schemas.openxmlformats.org/officeDocument/2006/relationships/slide" Target="/ppt/slides/slide8.xml" Id="Rc5806a58639241f2" /><Relationship Type="http://schemas.openxmlformats.org/officeDocument/2006/relationships/slide" Target="/ppt/slides/slide9.xml" Id="R0c6c1d96a5f746ac" /><Relationship Type="http://schemas.openxmlformats.org/officeDocument/2006/relationships/slide" Target="/ppt/slides/slide10.xml" Id="Rd7a5d9c5be4f4128" /><Relationship Type="http://schemas.openxmlformats.org/officeDocument/2006/relationships/slide" Target="/ppt/slides/slide11.xml" Id="Rd70ef328d5484118" /><Relationship Type="http://schemas.openxmlformats.org/officeDocument/2006/relationships/slide" Target="/ppt/slides/slide12.xml" Id="R6d387f63cbf44361" /><Relationship Type="http://schemas.openxmlformats.org/officeDocument/2006/relationships/slide" Target="/ppt/slides/slide13.xml" Id="R0ccd83569c444ed9" /><Relationship Type="http://schemas.openxmlformats.org/officeDocument/2006/relationships/slide" Target="/ppt/slides/slide14.xml" Id="R8606a73d627e4a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0786a2054543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347629d63d4526" /><Relationship Type="http://schemas.openxmlformats.org/officeDocument/2006/relationships/notesMaster" Target="/ppt/notesMasters/notesMaster1.xml" Id="R65311f47a6764d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331c20341a4fe3" /><Relationship Type="http://schemas.openxmlformats.org/officeDocument/2006/relationships/notesMaster" Target="/ppt/notesMasters/notesMaster1.xml" Id="R27dfdec38d844b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c3b4a6bac4ed3" /><Relationship Type="http://schemas.openxmlformats.org/officeDocument/2006/relationships/notesMaster" Target="/ppt/notesMasters/notesMaster1.xml" Id="Rb09fec09755b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a29a39b14a47f3" /><Relationship Type="http://schemas.openxmlformats.org/officeDocument/2006/relationships/notesMaster" Target="/ppt/notesMasters/notesMaster1.xml" Id="R8f71e12f14f0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654fe0090e467b" /><Relationship Type="http://schemas.openxmlformats.org/officeDocument/2006/relationships/notesMaster" Target="/ppt/notesMasters/notesMaster1.xml" Id="Ra368d27bb7cc4c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0f4dcb1d8f4038" /><Relationship Type="http://schemas.openxmlformats.org/officeDocument/2006/relationships/notesMaster" Target="/ppt/notesMasters/notesMaster1.xml" Id="R4dc4c5eb65aa4c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3dee325014a27" /><Relationship Type="http://schemas.openxmlformats.org/officeDocument/2006/relationships/notesMaster" Target="/ppt/notesMasters/notesMaster1.xml" Id="Ra107df344dbd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76917ac73e4dff" /><Relationship Type="http://schemas.openxmlformats.org/officeDocument/2006/relationships/notesMaster" Target="/ppt/notesMasters/notesMaster1.xml" Id="R55bfb9a03e5749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6dd3e7e83341a7" /><Relationship Type="http://schemas.openxmlformats.org/officeDocument/2006/relationships/notesMaster" Target="/ppt/notesMasters/notesMaster1.xml" Id="Re8c013c056944f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4139c5e8e5438a" /><Relationship Type="http://schemas.openxmlformats.org/officeDocument/2006/relationships/notesMaster" Target="/ppt/notesMasters/notesMaster1.xml" Id="R34b14327753d4e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75c791e09b491f" /><Relationship Type="http://schemas.openxmlformats.org/officeDocument/2006/relationships/notesMaster" Target="/ppt/notesMasters/notesMaster1.xml" Id="R78fef016755c46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0e512f42364314" /><Relationship Type="http://schemas.openxmlformats.org/officeDocument/2006/relationships/notesMaster" Target="/ppt/notesMasters/notesMaster1.xml" Id="Ra93f4ce32d324a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9226139b0840ba" /><Relationship Type="http://schemas.openxmlformats.org/officeDocument/2006/relationships/notesMaster" Target="/ppt/notesMasters/notesMaster1.xml" Id="Rd23b5a00c8344d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1040fb6c3a462b" /><Relationship Type="http://schemas.openxmlformats.org/officeDocument/2006/relationships/notesMaster" Target="/ppt/notesMasters/notesMaster1.xml" Id="R1122bbb0772d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https://github.com/hu-herrera/financiera-pacifico-entrega-docente/blob/main/01_Informe_Diagnostico_Propuesta.pdf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https://github.com/hu-herrera/financiera-pacifico-entrega-docente/blob/main/02_Entregables/Entregable_6.pdf y https://github.com/hu-herrera/financiera-pacifico-entrega-docente/blob/main/03_Bitacora.pdf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https://github.com/hu-herrera/financiera-pacifico-entrega-docente/blob/main/00_Caso_Oficial.pdf y https://github.com/hu-herrera/financiera-pacifico-entrega-docente/blob/main/01_Informe_Diagnostico_Propuesta.pdf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https://github.com/hu-herrera/financiera-pacifico-entrega-docente/blob/main/02_Entregables/Entregable_1.pdf y https://github.com/hu-herrera/financiera-pacifico-entrega-docente/blob/main/02_Entregables/Entregable_3.pdf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https://github.com/hu-herrera/financiera-pacifico-entrega-docente/blob/main/02_Entregables/Entregable_3.pdf. Extracto del plano S06, alternativa B, Anexos/Topologias_ANTES_A_B.pdf.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https://github.com/hu-herrera/financiera-pacifico-entrega-docente/blob/main/02_Entregables/Entregable_2.pdf y https://github.com/hu-herrera/financiera-pacifico-entrega-docente/blob/main/02_Entregables/Entregable_7.pdf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https://github.com/hu-herrera/financiera-pacifico-entrega-docente/blob/main/02_Entregables/Entregable_4.pdf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https://github.com/hu-herrera/financiera-pacifico-entrega-docente/blob/main/02_Entregables/Entregable_3.pdf y https://github.com/hu-herrera/financiera-pacifico-entrega-docente/blob/main/02_Entregables/Entregable_4.pdf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https://github.com/hu-herrera/financiera-pacifico-entrega-docente/blob/main/02_Entregables/Entregable_5.pdf y https://github.com/hu-herrera/financiera-pacifico-entrega-docente/blob/main/02_Entregables/Entregable_6.pdf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https://github.com/hu-herrera/financiera-pacifico-entrega-docente/blob/main/02_Entregables/Entregable_6.pdf. Commit de red 228ec2674d2b784b4cb67dab1128e969f681d3aa.</a:t>
            </a:r>
          </a:p>
          <a:p xmlns:a="http://schemas.openxmlformats.org/drawingml/2006/main">
            <a:r>
              <a:t>Actualización del 25/10: https://github.com/hu-herrera/financiera-pacifico-entrega-docente/blob/main/Anexos/Cierre_25_oct_2026.md. Los resultados de 93 Node y 151 navegador tienen cortes y alcances separados. La admisión de video es política propuesta, sin control automático de una aplicación real.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https://github.com/hu-herrera/financiera-pacifico-entrega-docente/blob/main/02_Entregables/Entregable_7.pdf y Anexos/Presupuesto_Inventario.xlsx.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https://github.com/hu-herrera/financiera-pacifico-entrega-docente/blob/main/02_Entregables/Entregable_3.pdf, https://github.com/hu-herrera/financiera-pacifico-entrega-docente/blob/main/02_Entregables/Entregable_7.pdf y solicitud de distribuidores de otra marca en ambas opciones.</a:t>
            </a:r>
          </a:p>
          <a:p xmlns:a="http://schemas.openxmlformats.org/drawingml/2006/main">
            <a:r>
              <a:t>Actualización del 25/10: https://github.com/hu-herrera/financiera-pacifico-entrega-docente/blob/main/Anexos/Cierre_25_oct_2026.md. Los resultados de 93 Node y 151 navegador tienen cortes y alcances separados. La admisión de video es política propuesta, sin control automático de una aplicación real.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https://github.com/hu-herrera/financiera-pacifico-entrega-docente/blob/main/02_Entregables/Entregable_7.pdf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y alcance: Aviso docente recibido el 23/10/2026: video y PPT por AVA, plazo viernes 30/10/2026. Fechas intermedias propuestas para organizar el trabajo.</a:t>
            </a:r>
          </a:p>
          <a:p xmlns:a="http://schemas.openxmlformats.org/drawingml/2006/main">
            <a:r>
              <a:t>Revisión WAN-3: cuatro transportes en central y sucursales. Fuente: https://github.com/hu-herrera/financiera-pacifico-entrega-docente/blob/main/Anexos/Continuidad_Cuatro_WAN_25_oct_2026.md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bb18a6f1b44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61836d32742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19e32d43444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45c44253843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fdcaf7a2a49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cb12a7c8849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F0C6E2-7E90-4AB7-A1CD-E62C976F4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89974A-8308-48A6-ADB7-627686EC5F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CEB1EB-CCC9-4511-9C44-B47A47C97C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246A8F-DA40-450A-966C-E0975E97B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DCE6A6-32F6-4A13-9E77-B5E9F30FD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3B74B6-D944-485C-8AC2-861667628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FBCD97-1D37-4D55-850C-52F4C3A77E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77D2D1-E0C8-4B75-9CA1-AEB06645B7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5E2CC7-F6A9-4E28-B129-C0934DF90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F9C98-C1C2-47F9-B049-5EC59312C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ed562678f42bf" /><Relationship Type="http://schemas.openxmlformats.org/officeDocument/2006/relationships/slideLayout" Target="/ppt/slideLayouts/slideLayout1.xml" Id="R425b135a31f44906" /><Relationship Type="http://schemas.openxmlformats.org/officeDocument/2006/relationships/slideLayout" Target="/ppt/slideLayouts/slideLayout2.xml" Id="Rfe0936ba58554621" /><Relationship Type="http://schemas.openxmlformats.org/officeDocument/2006/relationships/slideLayout" Target="/ppt/slideLayouts/slideLayout3.xml" Id="Rd565e80b8ff6449d" /><Relationship Type="http://schemas.openxmlformats.org/officeDocument/2006/relationships/slideLayout" Target="/ppt/slideLayouts/slideLayout4.xml" Id="Rb2f942bbaeb6492a" /><Relationship Type="http://schemas.openxmlformats.org/officeDocument/2006/relationships/slideLayout" Target="/ppt/slideLayouts/slideLayout5.xml" Id="Rec3727f1fbef44b7" /><Relationship Type="http://schemas.openxmlformats.org/officeDocument/2006/relationships/slideLayout" Target="/ppt/slideLayouts/slideLayout6.xml" Id="R0bb65f2a588048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b135a31f44906"/>
    <p:sldLayoutId xmlns:r="http://schemas.openxmlformats.org/officeDocument/2006/relationships" id="2147483650" r:id="Rfe0936ba58554621"/>
    <p:sldLayoutId xmlns:r="http://schemas.openxmlformats.org/officeDocument/2006/relationships" id="2147483651" r:id="Rd565e80b8ff6449d"/>
    <p:sldLayoutId xmlns:r="http://schemas.openxmlformats.org/officeDocument/2006/relationships" id="2147483652" r:id="Rb2f942bbaeb6492a"/>
    <p:sldLayoutId xmlns:r="http://schemas.openxmlformats.org/officeDocument/2006/relationships" id="2147483653" r:id="Rec3727f1fbef44b7"/>
    <p:sldLayoutId xmlns:r="http://schemas.openxmlformats.org/officeDocument/2006/relationships" id="2147483654" r:id="R0bb65f2a588048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9d66b097f44e5" /><Relationship Type="http://schemas.openxmlformats.org/officeDocument/2006/relationships/notesSlide" Target="/ppt/notesSlides/notesSlide1.xml" Id="R25f0475fe2c044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ffa6da0c0424f" /><Relationship Type="http://schemas.openxmlformats.org/officeDocument/2006/relationships/notesSlide" Target="/ppt/notesSlides/notesSlide2.xml" Id="R4d9aad58f4144c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21d23ffb74f9a" /><Relationship Type="http://schemas.openxmlformats.org/officeDocument/2006/relationships/notesSlide" Target="/ppt/notesSlides/notesSlide3.xml" Id="R255368df626942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af1d26ec8437f" /><Relationship Type="http://schemas.openxmlformats.org/officeDocument/2006/relationships/notesSlide" Target="/ppt/notesSlides/notesSlide4.xml" Id="R888f1a2f6ad748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f2ee7528f48e5" /><Relationship Type="http://schemas.openxmlformats.org/officeDocument/2006/relationships/image" Target="/ppt/media/image.png" Id="R5edf9c0a27ae4908" /><Relationship Type="http://schemas.openxmlformats.org/officeDocument/2006/relationships/notesSlide" Target="/ppt/notesSlides/notesSlide5.xml" Id="R52ff270f72a941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64ebe3a224887" /><Relationship Type="http://schemas.openxmlformats.org/officeDocument/2006/relationships/notesSlide" Target="/ppt/notesSlides/notesSlide6.xml" Id="Re582fd747fa84d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0cb41734e4d47" /><Relationship Type="http://schemas.openxmlformats.org/officeDocument/2006/relationships/notesSlide" Target="/ppt/notesSlides/notesSlide7.xml" Id="Re4a9c4c5c74348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58acfb6cc48aa" /><Relationship Type="http://schemas.openxmlformats.org/officeDocument/2006/relationships/notesSlide" Target="/ppt/notesSlides/notesSlide8.xml" Id="R8b5e87ea5bbc4d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3d215118846bf" /><Relationship Type="http://schemas.openxmlformats.org/officeDocument/2006/relationships/hyperlink" Target="https://hu-herrera.github.io/fina/" TargetMode="External" Id="Rfe17472e1059402f" /><Relationship Type="http://schemas.openxmlformats.org/officeDocument/2006/relationships/notesSlide" Target="/ppt/notesSlides/notesSlide9.xml" Id="R7506caeae71d45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c9f75a0a8468c" /><Relationship Type="http://schemas.openxmlformats.org/officeDocument/2006/relationships/notesSlide" Target="/ppt/notesSlides/notesSlide10.xml" Id="Rfc1c5468644f46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87e3705ad4f27" /><Relationship Type="http://schemas.openxmlformats.org/officeDocument/2006/relationships/notesSlide" Target="/ppt/notesSlides/notesSlide11.xml" Id="R5fd36f209cee46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d4599e77d4fa7" /><Relationship Type="http://schemas.openxmlformats.org/officeDocument/2006/relationships/notesSlide" Target="/ppt/notesSlides/notesSlide12.xml" Id="Ra408dcedc0ed40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5ee60c8254332" /><Relationship Type="http://schemas.openxmlformats.org/officeDocument/2006/relationships/notesSlide" Target="/ppt/notesSlides/notesSlide13.xml" Id="R351b2960b6e045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c0fb6541d4fe4" /><Relationship Type="http://schemas.openxmlformats.org/officeDocument/2006/relationships/notesSlide" Target="/ppt/notesSlides/notesSlide14.xml" Id="R4e312ff51f8f42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0C233B5-9DDC-4683-9997-EDF895CE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Financiera Pacífico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CE3486B-E8DB-459E-AB43-210D30C5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BB7C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082752-0A06-44DB-8B28-6BAFFB70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Continuidad y seguridad</a:t>
            </a:r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entre sucursales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02132F-AB64-4B90-9693-E7B310FB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DDBDB"/>
                </a:solidFill>
                <a:latin typeface="DejaVu Sans"/>
                <a:ea typeface="DejaVu Sans"/>
                <a:cs typeface="DejaVu Sans"/>
              </a:rPr>
              <a:t>Avance Capstone al 25 de octubre de 2026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51557CB-D290-4D86-9D77-7B2928D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Hugo Eduardo Herrera Inostroza</a:t>
            </a:r>
          </a:p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Proyecto de Título APT</a:t>
            </a:r>
          </a:p>
        </p:txBody>
      </p:sp>
    </p:spTree>
    <p:extLst>
      <p:ext uri="{BB962C8B-B14F-4D97-AF65-F5344CB8AC3E}">
        <p14:creationId xmlns:p14="http://schemas.microsoft.com/office/powerpoint/2010/main" val="157805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4464EB4-9F0D-4D9D-984C-A362AAD2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Estado actual del proyecto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F3D0EC9-5E26-4ED1-9AD6-6141FF65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205840-C11A-4F2E-A349-501AFDFA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Prototipo implementado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1B92CC-326B-4EEE-AE03-DDEC560F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Simulador web con ANTES y rediseño A/B.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Dispositivos con modelo, IP, VLAN, interfaces y puertos.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BBF4EC9-2AA4-4F07-9DB9-600345E4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2877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Documentación consolidada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102EE6D-B0D7-40CE-974F-74B28EA2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162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Caso, diagnóstico y propuesta, entregables 1–7, bitácora y anexos.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Inventario y costos conciliados por alternativa.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69C443B-0F2F-4658-8A37-31373C6D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Pruebas de caminos, políticas de acceso y fallas registradas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2FEB201-C350-482D-92A6-DD5F234E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Pendientes de esta entrega: grabación y revisión del video, envío de video y PPT por AVA.</a:t>
            </a:r>
          </a:p>
        </p:txBody>
      </p:sp>
    </p:spTree>
    <p:extLst>
      <p:ext uri="{BB962C8B-B14F-4D97-AF65-F5344CB8AC3E}">
        <p14:creationId xmlns:p14="http://schemas.microsoft.com/office/powerpoint/2010/main" val="672301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C9DA80F-C300-4939-8D0B-CECB5257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Alcance oficial y escenario adoptado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8B20E09-0F2F-4D75-8505-ED42E477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10B46E-4642-4E5B-9C16-C8562F4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Ficha oficial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AEBF1F-74DF-40BB-8662-415F2C29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780 trabajadores y unos 650 usuarios 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22 sedes: Casa Matriz y 21 sucursales.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Problema: falta de contingencia remota y cambios manuales.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929D680-EF56-49F5-BE4E-55FC4FB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Adaptación del proyecto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DECEA33-B2C8-4391-80D0-35DE1A58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66925"/>
            <a:ext cx="5162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23 sedes: Casa Matriz y 22 sucursales.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650 PCs y 650 teléfonos existentes adoptados como inventario.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Seis futuras aperturas con presupuesto separado.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55BCB47-CC8B-4430-8997-CF187B10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Modelos, carga, direccionamiento y condiciones comerciales son supuestos explícitos del caso ficticio.</a:t>
            </a:r>
          </a:p>
        </p:txBody>
      </p:sp>
    </p:spTree>
    <p:extLst>
      <p:ext uri="{BB962C8B-B14F-4D97-AF65-F5344CB8AC3E}">
        <p14:creationId xmlns:p14="http://schemas.microsoft.com/office/powerpoint/2010/main" val="571669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5C969E9-7E24-43F4-9F3D-1541EA4D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Diagnóstico de la red anterior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23105E-659B-4255-986E-063D1AAB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0469C-7CEB-43AE-B8F5-3821C2211175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734050"/>
              </a:tblGrid>
              <a:tr h="9263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Dependencia adoptada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Consecuencia de una falla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</a:tr>
              <a:tr h="92630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Sucursal: un router, un switch y un MPLS de 100 Mbps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Puede perder acceso a aplicación financiera y telefonía central.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630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Central: dos MPLS de 1 Gbps, dos ISP de 500 Mbps y un firewall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Hay redundancia de enlaces, pero el firewall sigue siendo único.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92630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DC-01 con aplicación/BD y DC-02 con voz/servicios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 roles separados no recuperan automáticamente una VM en el otro host.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613C4B0-A5C1-475D-B0F4-684DCAF9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100 Mbps cubren la carga normal calculada de unos 26,4 Mbps en una sucursal de 30 puestos.</a:t>
            </a:r>
          </a:p>
        </p:txBody>
      </p:sp>
    </p:spTree>
    <p:extLst>
      <p:ext uri="{BB962C8B-B14F-4D97-AF65-F5344CB8AC3E}">
        <p14:creationId xmlns:p14="http://schemas.microsoft.com/office/powerpoint/2010/main" val="956373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18142DD-5E09-4FF5-A23C-BDAAC46E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Arquitectura de una sucursal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60EBB74-998D-410F-BDF6-37B68EFC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7292D-BC60-4F05-BA41-CC772F013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f9c0a27ae4908"/>
          <a:stretch xmlns:a="http://schemas.openxmlformats.org/drawingml/2006/main"/>
        </p:blipFill>
        <p:spPr>
          <a:xfrm xmlns:a="http://schemas.openxmlformats.org/drawingml/2006/main">
            <a:off x="1723159" y="1476375"/>
            <a:ext cx="8745682" cy="384810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4F3FCFA-A0E6-451F-8295-D0D58979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Cuatro transportes y dos dominios WAN independientes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7EB25AB-AE7D-4314-BF59-0080EF98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VPN hacia el par de firewalls de Casa Matriz. La navegación sale inspeccionada por central.</a:t>
            </a:r>
          </a:p>
        </p:txBody>
      </p:sp>
    </p:spTree>
    <p:extLst>
      <p:ext uri="{BB962C8B-B14F-4D97-AF65-F5344CB8AC3E}">
        <p14:creationId xmlns:p14="http://schemas.microsoft.com/office/powerpoint/2010/main" val="969651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503FEEB-1584-451B-B7C1-D2ECB0CF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Alternativas de equipamiento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572C7A-2BA2-4F8A-9255-FC7AEF8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68A18-420E-4403-A9F9-47F172B3F9F4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238625"/>
                <a:gridCol w="4210050"/>
              </a:tblGrid>
              <a:tr h="790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Función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A: Cisco / Palo Alto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B: MikroTik / OPNsense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Routers remotos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 C1121X</a:t>
                      </a:r>
                    </a:p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 reutilizados y 37 nuevos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 CCR2004 y 2 RB5009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Switches remotos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 C9200L</a:t>
                      </a:r>
                    </a:p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 reutilizados y 27 nuevos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 CRS328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Firewalls centrales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PA-1410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DEC3852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Distribución WAN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 hEX E50UG y 1 CRS310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 hEX E50UG y 1 CRS310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8770BC2-9BCD-49FE-B907-D140BA7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Ambas conservan 2 C9200L centrales, PCs, teléfonos y hosts existentes. B usa LACP/RSTP/VRRP, sin StackWise.</a:t>
            </a:r>
          </a:p>
        </p:txBody>
      </p:sp>
    </p:spTree>
    <p:extLst>
      <p:ext uri="{BB962C8B-B14F-4D97-AF65-F5344CB8AC3E}">
        <p14:creationId xmlns:p14="http://schemas.microsoft.com/office/powerpoint/2010/main" val="581809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4799513-7A3D-4348-B658-34F05001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Segmentación y permisos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916F03B-48F4-4883-B911-0003EC8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E6D71-5664-486B-9B53-F18E25C5EBF6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524250"/>
                <a:gridCol w="4495800"/>
              </a:tblGrid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Segmento o servicio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Dirección de ejemplo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Política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Datos S06, VLAN 10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10.70.6.0/25</a:t>
                      </a:r>
                    </a:p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Gateway 10.70.6.1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Usuarios acceden a APP por HTTPS.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 y BD, VLAN 50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 10.70.200.10</a:t>
                      </a:r>
                    </a:p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BD 10.70.200.11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TCP 443 a APP. TCP 5432 a BD solo desde APP.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Voz, VLAN 20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PBX 10.70.200.20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Señalización TLS 5061 y medios autorizados.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Invitados / gestión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VLAN 40 / VLAN 130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Invitados aislados. Administración desde NOC.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88E488D-964E-4335-8B21-E49B1DF2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Las VLAN son locales. Sus subredes IP se enrutan por IPsec. APP/BD requieren también filtros de host.</a:t>
            </a:r>
          </a:p>
        </p:txBody>
      </p:sp>
    </p:spTree>
    <p:extLst>
      <p:ext uri="{BB962C8B-B14F-4D97-AF65-F5344CB8AC3E}">
        <p14:creationId xmlns:p14="http://schemas.microsoft.com/office/powerpoint/2010/main" val="1746162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27886E3-7B5C-4B4C-89D2-5EC10D58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Alta disponibilidad de los servicios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BF3DB2A-3E08-47FF-8270-3259FF4D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1DD794-8DCF-4AA7-86A1-32D35A14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Recuperación entre dos hosts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F490D54-9642-4B8E-8B42-DCB1082E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DC-01 y DC-02 conservan los Dell R740.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DC-02 aumenta a 64 GiB y 3.840 GB útiles. Ambos hosts conectan a los dos switches.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5F0578B-B712-42EB-BEB7-226871E1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Condiciones de recuperación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636CD48-5BD6-4395-8F38-0C9FF24D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5162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Réplica ZFS utilizable, testigo en BKP y dos de tres votos.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Aislamiento del host fallado antes de reiniciar las VMs en el superviviente.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9385689-DA2F-4377-8FD1-0384FEB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Metas: pérdida de datos ≤60 s y recuperación ≤300 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238FC74-7C06-493A-843E-B7E4785C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RPO y recuperación son objetivos del diseño. El modelo no garantiza sesiones ni recuperación ante pérdida de toda CM.</a:t>
            </a:r>
          </a:p>
        </p:txBody>
      </p:sp>
    </p:spTree>
    <p:extLst>
      <p:ext uri="{BB962C8B-B14F-4D97-AF65-F5344CB8AC3E}">
        <p14:creationId xmlns:p14="http://schemas.microsoft.com/office/powerpoint/2010/main" val="11928921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064DFD7-B409-4E4B-AE30-7425D02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Demostración del prototipo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7155C4-8753-499C-A5FC-B6C6FF44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FFCC5-17A8-4EE2-BE55-0E1BA9EADFA4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Escenario implementado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comprobable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ANTES: cortar el MPLS de S06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sucursal pierde su único camino hacia central.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DESPUÉS: cortar transporte o router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 selecciona otro camino cuando sus dependencias están disponibles.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Acceso a servicios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 permitida, BD restringida e invitados sin acceso interno.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Caída de host o central completa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Recuperación condicionada del host. CM completa caída deja servicios indisponibles.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1037176-034C-4E05-BA7F-8E5A0EE9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E87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e17472e1059402f"/>
              </a:rPr>
              <a:t>Abrir simulador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EE3AE0C-E48E-4659-B48E-3AAB87D7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La animación y las pruebas del navegador representan la lógica del modelo. El video de demostración está pendiente.</a:t>
            </a:r>
          </a:p>
        </p:txBody>
      </p:sp>
    </p:spTree>
    <p:extLst>
      <p:ext uri="{BB962C8B-B14F-4D97-AF65-F5344CB8AC3E}">
        <p14:creationId xmlns:p14="http://schemas.microsoft.com/office/powerpoint/2010/main" val="1396155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A51BF8-B013-42EC-B64E-D69CAC86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Evidencia y límites de los resultados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742027-275A-4073-8720-EAC4C64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3DA6D02-ECE0-4928-8B20-02A9A9EB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99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14D401-62FC-43D1-9DB5-07B36758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pruebas de lógica aprobadas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93068BE-625C-45FB-9444-B09AF9FD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6225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44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765DC43-037D-4B95-B599-3EDF46A7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pruebas de navegador en esta revisión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E283F77-C0A4-41F5-B43C-105FCC7A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1.351 comprobaciones adicionales de caminos A/B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DB7A137-EAC3-4D55-9E86-A1F609F1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1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QoS, VPN y HA cuentan con regresiones adicionales.</a:t>
            </a:r>
          </a:p>
          <a:p xmlns:a="http://schemas.openxmlformats.org/drawingml/2006/main">
            <a:pPr>
              <a:buNone/>
              <a:def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Los conteos describen pasadas de software, sin sumarlas.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EAD08A1-C3F9-49BE-A470-17E8D767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99,99 % core y 99,95 % sucursal son metas anuales. El mapa muestra conectividad del escenario, no disponibilidad medida.</a:t>
            </a:r>
          </a:p>
        </p:txBody>
      </p:sp>
    </p:spTree>
    <p:extLst>
      <p:ext uri="{BB962C8B-B14F-4D97-AF65-F5344CB8AC3E}">
        <p14:creationId xmlns:p14="http://schemas.microsoft.com/office/powerpoint/2010/main" val="7020760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3659B90-63F0-433C-B384-B228C33C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Presupuesto del alcance a cinco años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D3AB8D-C88A-4311-9007-94A4C7B3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CAC1B-6449-4D53-B254-B60816088A6D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86300"/>
                <a:gridCol w="3143250"/>
                <a:gridCol w="31432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CLP con IVA supuesto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Alternativa A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Alternativa B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Inversión inicial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793.126.897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281.194.478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WAN por 60 meses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660.607.380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660.607.380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Reserva operativa por 5 años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50.000.000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25.000.000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del alcance a 60 meses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1.503.734.277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966.801.858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6D9DA5B-54C5-482C-A550-64E8529D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Ambas superan la referencia original de CLP 160 millones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6169EE3-4C58-432B-9760-C22A7A20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Incluye el inicial una vez. WAN común: CLP </a:t>
            </a: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11.010.123</a:t>
            </a: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/mes. Valores referenciales, no contratos ni compras ejecutadas.</a:t>
            </a:r>
          </a:p>
        </p:txBody>
      </p:sp>
    </p:spTree>
    <p:extLst>
      <p:ext uri="{BB962C8B-B14F-4D97-AF65-F5344CB8AC3E}">
        <p14:creationId xmlns:p14="http://schemas.microsoft.com/office/powerpoint/2010/main" val="262337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DF6B4EA-8FD5-46D4-AD2C-1E04282F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Revisión final y límites del diseño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9C7C00-F39A-4DF8-A6F8-FA995BDF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11ABEFA-822F-4AA3-ABE2-F7E34FA8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Cuatro accesos de extremo a extremo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8776B12-3345-4857-A9C7-FE0D0877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0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Casa Matriz también tiene Starlink, Leo, Entel y WOM. El diseño conserva camino con un acceso disponible en cada extremo, incluso de distinto proveedor.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5930B70-6D0D-4458-A33A-69EB9455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Capacidad de central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A6F7C28-F113-495F-B4C3-FE987683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0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Política del diseño: hasta 30 terminales remotos y 3 en CM con video. Subida calculada: 966 de 1.000 Mbps. En contingencia se suspende el video.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5D1EDDE-6CD2-41D2-9CF6-4FEAE645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E87"/>
                </a:solidFill>
                <a:latin typeface="DejaVu Sans"/>
                <a:ea typeface="DejaVu Sans"/>
                <a:cs typeface="DejaVu Sans"/>
              </a:rPr>
              <a:t>Supuestos comerciales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FCDF9ED-0BE1-44FC-824E-3AE051AE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0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Leo, cobertura en sedes extremas, caudales y descuentos pertenecen al escenario ficticio. La comparación económica debe conservar esas condiciones visibles.</a:t>
            </a:r>
          </a:p>
        </p:txBody>
      </p:sp>
    </p:spTree>
    <p:extLst>
      <p:ext uri="{BB962C8B-B14F-4D97-AF65-F5344CB8AC3E}">
        <p14:creationId xmlns:p14="http://schemas.microsoft.com/office/powerpoint/2010/main" val="134550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5CDC38B-9FAE-46F9-9918-AA69394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Plan de implantación de la propuesta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D767768-4107-45E1-99C6-4236D1D3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4B5C5-0D36-4744-8B62-FD1F83B4A6CE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8858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Periodo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Actividad prevista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Año 1: doce semanas de implantación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Piloto CM/S01, tres olas de seis sucursales y cierre de S20/S21/S22. Mantener MPLS transitorio hasta aceptación.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Años 2–4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Operación, parches, revisión de capacidad, ejercicios de restauración y mantenimiento.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Año 5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Evaluación de indicadores y plan de renovación del siguiente ciclo.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AD99BF4-D821-49A9-ADA3-AD18829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Plan de una implementación hipotética. Las seis aperturas futuras requieren su propia fase y presupuesto.</a:t>
            </a:r>
          </a:p>
        </p:txBody>
      </p:sp>
    </p:spTree>
    <p:extLst>
      <p:ext uri="{BB962C8B-B14F-4D97-AF65-F5344CB8AC3E}">
        <p14:creationId xmlns:p14="http://schemas.microsoft.com/office/powerpoint/2010/main" val="2798159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7F0AC76-9E38-4C29-BA48-3400BB4E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638"/>
                </a:solidFill>
                <a:latin typeface="DejaVu Sans"/>
                <a:ea typeface="DejaVu Sans"/>
                <a:cs typeface="DejaVu Sans"/>
              </a:rPr>
              <a:t>Plan de entrega al 30 de octubre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E9687B-3EBB-4A9F-BBC6-1D6DD56A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53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9AED5-155E-4D1E-8FEB-3C8368E155BE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683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Fecha propuesta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esperado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T w="9525">
                      <a:solidFill>
                        <a:srgbClr val="D6DFE0"/>
                      </a:solidFill>
                      <a:prstDash val="solid"/>
                    </a:lnT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102638"/>
                    </a:solidFill>
                  </a:tcPr>
                </a:tc>
              </a:tr>
              <a:tr h="6683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 de octubre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Repositorio docente y PowerPoint de avance preparados.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24–25 de octubre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Cambio WAN de A cerrado. Revisar el recorrido de la grabación.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6683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26–28 de octubre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Grabar el video con la demostración del simulador.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29 de octubre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audio, legibilidad y coherencia entre video y PPT.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6683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Viernes 30 de octubre</a:t>
                      </a:r>
                    </a:p>
                  </a:txBody>
                  <a:tcPr marL="123825" marR="123825" marT="123825" marB="95250" anchor="ctr">
                    <a:lnL w="9525">
                      <a:solidFill>
                        <a:srgbClr val="D6DFE0"/>
                      </a:solidFill>
                      <a:prstDash val="solid"/>
                    </a:lnL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6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Enviar ambos archivos por AVA y comprobar la recepción.</a:t>
                      </a:r>
                    </a:p>
                  </a:txBody>
                  <a:tcPr marL="123825" marR="123825" marT="123825" marB="95250" anchor="ctr">
                    <a:lnR w="9525">
                      <a:solidFill>
                        <a:srgbClr val="D6DFE0"/>
                      </a:solidFill>
                      <a:prstDash val="solid"/>
                    </a:lnR>
                    <a:lnB w="9525">
                      <a:solidFill>
                        <a:srgbClr val="D6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D1069FF-3C94-49DD-AA0C-5442E4E7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6071"/>
                </a:solidFill>
                <a:latin typeface="DejaVu Sans"/>
                <a:ea typeface="DejaVu Sans"/>
                <a:cs typeface="DejaVu Sans"/>
              </a:rPr>
              <a:t>La entrega revisa avances reales. La grabación y el envío por AVA aún no se han realizado.</a:t>
            </a:r>
          </a:p>
        </p:txBody>
      </p:sp>
    </p:spTree>
    <p:extLst>
      <p:ext uri="{BB962C8B-B14F-4D97-AF65-F5344CB8AC3E}">
        <p14:creationId xmlns:p14="http://schemas.microsoft.com/office/powerpoint/2010/main" val="1977542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2026-10-25T08:46:14.4170000Z</dcterms:created>
  <dcterms:modified xsi:type="dcterms:W3CDTF">2026-10-25T08:46:14.4170000Z</dcterms:modified>
</coreProperties>
</file>