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6ca27598e746bb" /><Relationship Type="http://schemas.openxmlformats.org/officeDocument/2006/relationships/extended-properties" Target="/docProps/app.xml" Id="Rad89b164286c46a2" /><Relationship Type="http://schemas.openxmlformats.org/officeDocument/2006/relationships/officeDocument" Target="/ppt/presentation.xml" Id="R1fda3b2253984c7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26cf42b274414d"/>
  </p:sldMasterIdLst>
  <p:notesMasterIdLst>
    <p:notesMasterId xmlns:r="http://schemas.openxmlformats.org/officeDocument/2006/relationships" r:id="R0099701976364e86"/>
  </p:notesMasterIdLst>
  <p:sldIdLst>
    <p:sldId xmlns:r="http://schemas.openxmlformats.org/officeDocument/2006/relationships" id="256" r:id="R6b9bcfe8ed9f4198"/>
    <p:sldId xmlns:r="http://schemas.openxmlformats.org/officeDocument/2006/relationships" id="257" r:id="R6d73c6e6a71f434b"/>
    <p:sldId xmlns:r="http://schemas.openxmlformats.org/officeDocument/2006/relationships" id="258" r:id="Rb85a1ef04f97420b"/>
    <p:sldId xmlns:r="http://schemas.openxmlformats.org/officeDocument/2006/relationships" id="259" r:id="R5e5c988fe3454b88"/>
    <p:sldId xmlns:r="http://schemas.openxmlformats.org/officeDocument/2006/relationships" id="260" r:id="R4ac866e75b824053"/>
    <p:sldId xmlns:r="http://schemas.openxmlformats.org/officeDocument/2006/relationships" id="261" r:id="R5cc3bea3ff0c4a08"/>
    <p:sldId xmlns:r="http://schemas.openxmlformats.org/officeDocument/2006/relationships" id="262" r:id="Rbfb1b700ff5d4a8c"/>
    <p:sldId xmlns:r="http://schemas.openxmlformats.org/officeDocument/2006/relationships" id="263" r:id="R00a8153f18194ed0"/>
    <p:sldId xmlns:r="http://schemas.openxmlformats.org/officeDocument/2006/relationships" id="264" r:id="R5e6a9b189c9c4b2f"/>
    <p:sldId xmlns:r="http://schemas.openxmlformats.org/officeDocument/2006/relationships" id="265" r:id="R75faf32fc9094834"/>
    <p:sldId xmlns:r="http://schemas.openxmlformats.org/officeDocument/2006/relationships" id="266" r:id="R697f7770760640eb"/>
    <p:sldId xmlns:r="http://schemas.openxmlformats.org/officeDocument/2006/relationships" id="267" r:id="Rf13310b468a9467b"/>
    <p:sldId xmlns:r="http://schemas.openxmlformats.org/officeDocument/2006/relationships" id="268" r:id="Rcd6c1636b84f403c"/>
    <p:sldId xmlns:r="http://schemas.openxmlformats.org/officeDocument/2006/relationships" id="269" r:id="R4156cc30ff474c5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8871a85ba44b8c" /><Relationship Type="http://schemas.openxmlformats.org/officeDocument/2006/relationships/slideMaster" Target="/ppt/slideMasters/slideMaster1.xml" Id="R2426cf42b274414d" /><Relationship Type="http://schemas.openxmlformats.org/officeDocument/2006/relationships/notesMaster" Target="/ppt/notesMasters/notesMaster1.xml" Id="R0099701976364e86" /><Relationship Type="http://schemas.openxmlformats.org/officeDocument/2006/relationships/presProps" Target="/ppt/presProps.xml" Id="Ra2a884c670a3433d" /><Relationship Type="http://schemas.openxmlformats.org/officeDocument/2006/relationships/tableStyles" Target="/ppt/tableStyles.xml" Id="R67acad2065b34b47" /><Relationship Type="http://schemas.openxmlformats.org/officeDocument/2006/relationships/slide" Target="/ppt/slides/slide1.xml" Id="R6b9bcfe8ed9f4198" /><Relationship Type="http://schemas.openxmlformats.org/officeDocument/2006/relationships/slide" Target="/ppt/slides/slide2.xml" Id="R6d73c6e6a71f434b" /><Relationship Type="http://schemas.openxmlformats.org/officeDocument/2006/relationships/slide" Target="/ppt/slides/slide3.xml" Id="Rb85a1ef04f97420b" /><Relationship Type="http://schemas.openxmlformats.org/officeDocument/2006/relationships/slide" Target="/ppt/slides/slide4.xml" Id="R5e5c988fe3454b88" /><Relationship Type="http://schemas.openxmlformats.org/officeDocument/2006/relationships/slide" Target="/ppt/slides/slide5.xml" Id="R4ac866e75b824053" /><Relationship Type="http://schemas.openxmlformats.org/officeDocument/2006/relationships/slide" Target="/ppt/slides/slide6.xml" Id="R5cc3bea3ff0c4a08" /><Relationship Type="http://schemas.openxmlformats.org/officeDocument/2006/relationships/slide" Target="/ppt/slides/slide7.xml" Id="Rbfb1b700ff5d4a8c" /><Relationship Type="http://schemas.openxmlformats.org/officeDocument/2006/relationships/slide" Target="/ppt/slides/slide8.xml" Id="R00a8153f18194ed0" /><Relationship Type="http://schemas.openxmlformats.org/officeDocument/2006/relationships/slide" Target="/ppt/slides/slide9.xml" Id="R5e6a9b189c9c4b2f" /><Relationship Type="http://schemas.openxmlformats.org/officeDocument/2006/relationships/slide" Target="/ppt/slides/slide10.xml" Id="R75faf32fc9094834" /><Relationship Type="http://schemas.openxmlformats.org/officeDocument/2006/relationships/slide" Target="/ppt/slides/slide11.xml" Id="R697f7770760640eb" /><Relationship Type="http://schemas.openxmlformats.org/officeDocument/2006/relationships/slide" Target="/ppt/slides/slide12.xml" Id="Rf13310b468a9467b" /><Relationship Type="http://schemas.openxmlformats.org/officeDocument/2006/relationships/slide" Target="/ppt/slides/slide13.xml" Id="Rcd6c1636b84f403c" /><Relationship Type="http://schemas.openxmlformats.org/officeDocument/2006/relationships/slide" Target="/ppt/slides/slide14.xml" Id="R4156cc30ff474c5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d57d69e7b74a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c406041bde54410" /><Relationship Type="http://schemas.openxmlformats.org/officeDocument/2006/relationships/notesMaster" Target="/ppt/notesMasters/notesMaster1.xml" Id="R7dfabec75058479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fe1a3df1934bb2" /><Relationship Type="http://schemas.openxmlformats.org/officeDocument/2006/relationships/notesMaster" Target="/ppt/notesMasters/notesMaster1.xml" Id="R18a6205c9a15490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df3884620f541ef" /><Relationship Type="http://schemas.openxmlformats.org/officeDocument/2006/relationships/notesMaster" Target="/ppt/notesMasters/notesMaster1.xml" Id="Rfe55ea8e27d94e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0a8d8faca22480d" /><Relationship Type="http://schemas.openxmlformats.org/officeDocument/2006/relationships/notesMaster" Target="/ppt/notesMasters/notesMaster1.xml" Id="R19ff8ec406fb43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75c12f8f664747" /><Relationship Type="http://schemas.openxmlformats.org/officeDocument/2006/relationships/notesMaster" Target="/ppt/notesMasters/notesMaster1.xml" Id="Rbfcf66e1dd13459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55d0d2b03b4629" /><Relationship Type="http://schemas.openxmlformats.org/officeDocument/2006/relationships/notesMaster" Target="/ppt/notesMasters/notesMaster1.xml" Id="R11f0cc13fd3c4e7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946791b4f34e84" /><Relationship Type="http://schemas.openxmlformats.org/officeDocument/2006/relationships/notesMaster" Target="/ppt/notesMasters/notesMaster1.xml" Id="R1997d8c584a64c2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6d200e279a94b70" /><Relationship Type="http://schemas.openxmlformats.org/officeDocument/2006/relationships/notesMaster" Target="/ppt/notesMasters/notesMaster1.xml" Id="R7de3d60e29584e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a827093b156412a" /><Relationship Type="http://schemas.openxmlformats.org/officeDocument/2006/relationships/notesMaster" Target="/ppt/notesMasters/notesMaster1.xml" Id="R5015265f406d48a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095af5ad1fa4ee7" /><Relationship Type="http://schemas.openxmlformats.org/officeDocument/2006/relationships/notesMaster" Target="/ppt/notesMasters/notesMaster1.xml" Id="R4854a4f596304a0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e65abe24ebc4497" /><Relationship Type="http://schemas.openxmlformats.org/officeDocument/2006/relationships/notesMaster" Target="/ppt/notesMasters/notesMaster1.xml" Id="R943c0af4686c47a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9fd0db1e9fb4cc1" /><Relationship Type="http://schemas.openxmlformats.org/officeDocument/2006/relationships/notesMaster" Target="/ppt/notesMasters/notesMaster1.xml" Id="R537c6187ce724a5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fd0d1c574b34da1" /><Relationship Type="http://schemas.openxmlformats.org/officeDocument/2006/relationships/notesMaster" Target="/ppt/notesMasters/notesMaster1.xml" Id="Rba4530427f6b4d5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ca1c90a130f417d" /><Relationship Type="http://schemas.openxmlformats.org/officeDocument/2006/relationships/notesMaster" Target="/ppt/notesMasters/notesMaster1.xml" Id="Re479ee9989f6403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https://github.com/hu-herrera/financiera-pacifico-entrega-docente/blob/main/01_Informe_Diagnostico_Propuesta.pdf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https://github.com/hu-herrera/financiera-pacifico-entrega-docente/blob/main/02_Entregables/Entregable_6.pdf y https://github.com/hu-herrera/financiera-pacifico-entrega-docente/blob/main/03_Bitacora.pdf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https://github.com/hu-herrera/financiera-pacifico-entrega-docente/blob/main/00_Caso_Oficial.pdf y https://github.com/hu-herrera/financiera-pacifico-entrega-docente/blob/main/01_Informe_Diagnostico_Propuesta.pdf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https://github.com/hu-herrera/financiera-pacifico-entrega-docente/blob/main/02_Entregables/Entregable_1.pdf y https://github.com/hu-herrera/financiera-pacifico-entrega-docente/blob/main/02_Entregables/Entregable_3.pdf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https://github.com/hu-herrera/financiera-pacifico-entrega-docente/blob/main/02_Entregables/Entregable_3.pdf. Extracto del plano S06, alternativa B, Anexos/Topologias_ANTES_A_B.pdf.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https://github.com/hu-herrera/financiera-pacifico-entrega-docente/blob/main/02_Entregables/Entregable_2.pdf y https://github.com/hu-herrera/financiera-pacifico-entrega-docente/blob/main/02_Entregables/Entregable_7.pdf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https://github.com/hu-herrera/financiera-pacifico-entrega-docente/blob/main/02_Entregables/Entregable_4.pdf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https://github.com/hu-herrera/financiera-pacifico-entrega-docente/blob/main/02_Entregables/Entregable_3.pdf y https://github.com/hu-herrera/financiera-pacifico-entrega-docente/blob/main/02_Entregables/Entregable_4.pdf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https://github.com/hu-herrera/financiera-pacifico-entrega-docente/blob/main/02_Entregables/Entregable_5.pdf y https://github.com/hu-herrera/financiera-pacifico-entrega-docente/blob/main/02_Entregables/Entregable_6.pdf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https://github.com/hu-herrera/financiera-pacifico-entrega-docente/blob/main/02_Entregables/Entregable_6.pdf. Commit de red 228ec2674d2b784b4cb67dab1128e969f681d3aa.</a:t>
            </a:r>
          </a:p>
          <a:p xmlns:a="http://schemas.openxmlformats.org/drawingml/2006/main">
            <a:r>
              <a:t>Actualización del 25/10: https://github.com/hu-herrera/financiera-pacifico-entrega-docente/blob/main/Anexos/Cierre_25_oct_2026.md. Los resultados de 93 Node y 151 navegador tienen cortes y alcances separados. La admisión de video es política propuesta, sin control automático de una aplicación real.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https://github.com/hu-herrera/financiera-pacifico-entrega-docente/blob/main/02_Entregables/Entregable_7.pdf y Anexos/Presupuesto_Inventario.xlsx.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https://github.com/hu-herrera/financiera-pacifico-entrega-docente/blob/main/02_Entregables/Entregable_3.pdf, https://github.com/hu-herrera/financiera-pacifico-entrega-docente/blob/main/02_Entregables/Entregable_7.pdf y solicitud de distribuidores de otra marca en ambas opciones.</a:t>
            </a:r>
          </a:p>
          <a:p xmlns:a="http://schemas.openxmlformats.org/drawingml/2006/main">
            <a:r>
              <a:t>Actualización del 25/10: https://github.com/hu-herrera/financiera-pacifico-entrega-docente/blob/main/Anexos/Cierre_25_oct_2026.md. Los resultados de 93 Node y 151 navegador tienen cortes y alcances separados. La admisión de video es política propuesta, sin control automático de una aplicación real.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https://github.com/hu-herrera/financiera-pacifico-entrega-docente/blob/main/02_Entregables/Entregable_7.pdf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y alcance: Aviso docente recibido el 23/10/2026: video y PPT por AVA, plazo viernes 30/10/2026. Fechas intermedias propuestas para organizar el trabajo.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b086368dfbd45b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c469a4237642e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49f67fc14c40e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61389a56ad433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7abbbc8e2c443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cfe595f75343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AF0C6E2-7E90-4AB7-A1CD-E62C976F48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589974A-8308-48A6-ADB7-627686EC5F9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CCEB1EB-CCC9-4511-9C44-B47A47C97C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246A8F-DA40-450A-966C-E0975E97B1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DCE6A6-32F6-4A13-9E77-B5E9F30FD8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3B74B6-D944-485C-8AC2-861667628E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CFBCD97-1D37-4D55-850C-52F4C3A77E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77D2D1-E0C8-4B75-9CA1-AEB06645B72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5E2CC7-F6A9-4E28-B129-C0934DF908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F5F9C98-C1C2-47F9-B049-5EC59312CE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57ec2781ee4857" /><Relationship Type="http://schemas.openxmlformats.org/officeDocument/2006/relationships/slideLayout" Target="/ppt/slideLayouts/slideLayout1.xml" Id="R95ea0e5c5e25448f" /><Relationship Type="http://schemas.openxmlformats.org/officeDocument/2006/relationships/slideLayout" Target="/ppt/slideLayouts/slideLayout2.xml" Id="Re13105d7362f4e78" /><Relationship Type="http://schemas.openxmlformats.org/officeDocument/2006/relationships/slideLayout" Target="/ppt/slideLayouts/slideLayout3.xml" Id="Rb70f73a2f9014486" /><Relationship Type="http://schemas.openxmlformats.org/officeDocument/2006/relationships/slideLayout" Target="/ppt/slideLayouts/slideLayout4.xml" Id="R0e004ae721bf4537" /><Relationship Type="http://schemas.openxmlformats.org/officeDocument/2006/relationships/slideLayout" Target="/ppt/slideLayouts/slideLayout5.xml" Id="R9376881f133140ff" /><Relationship Type="http://schemas.openxmlformats.org/officeDocument/2006/relationships/slideLayout" Target="/ppt/slideLayouts/slideLayout6.xml" Id="Rd581e3a0471c45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ea0e5c5e25448f"/>
    <p:sldLayoutId xmlns:r="http://schemas.openxmlformats.org/officeDocument/2006/relationships" id="2147483650" r:id="Re13105d7362f4e78"/>
    <p:sldLayoutId xmlns:r="http://schemas.openxmlformats.org/officeDocument/2006/relationships" id="2147483651" r:id="Rb70f73a2f9014486"/>
    <p:sldLayoutId xmlns:r="http://schemas.openxmlformats.org/officeDocument/2006/relationships" id="2147483652" r:id="R0e004ae721bf4537"/>
    <p:sldLayoutId xmlns:r="http://schemas.openxmlformats.org/officeDocument/2006/relationships" id="2147483653" r:id="R9376881f133140ff"/>
    <p:sldLayoutId xmlns:r="http://schemas.openxmlformats.org/officeDocument/2006/relationships" id="2147483654" r:id="Rd581e3a0471c45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ad302354ac43cc" /><Relationship Type="http://schemas.openxmlformats.org/officeDocument/2006/relationships/notesSlide" Target="/ppt/notesSlides/notesSlide1.xml" Id="R044da7ba258c4ca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36db52ccfb4556" /><Relationship Type="http://schemas.openxmlformats.org/officeDocument/2006/relationships/notesSlide" Target="/ppt/notesSlides/notesSlide2.xml" Id="R961c25016a96480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1e9e719b914219" /><Relationship Type="http://schemas.openxmlformats.org/officeDocument/2006/relationships/notesSlide" Target="/ppt/notesSlides/notesSlide3.xml" Id="Rd196b96ce5cb4a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d993a88df74316" /><Relationship Type="http://schemas.openxmlformats.org/officeDocument/2006/relationships/notesSlide" Target="/ppt/notesSlides/notesSlide4.xml" Id="R92963010896445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0bbc0a4660474a" /><Relationship Type="http://schemas.openxmlformats.org/officeDocument/2006/relationships/image" Target="/ppt/media/image.png" Id="R6ef150b843ae4dc0" /><Relationship Type="http://schemas.openxmlformats.org/officeDocument/2006/relationships/notesSlide" Target="/ppt/notesSlides/notesSlide5.xml" Id="R33f93d1c3bee4f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c787bf85c64299" /><Relationship Type="http://schemas.openxmlformats.org/officeDocument/2006/relationships/notesSlide" Target="/ppt/notesSlides/notesSlide6.xml" Id="Rbaeb5f0c4153409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bb9d5f085c4c30" /><Relationship Type="http://schemas.openxmlformats.org/officeDocument/2006/relationships/notesSlide" Target="/ppt/notesSlides/notesSlide7.xml" Id="Re6501c9c0a074ee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96d11ce52d4fab" /><Relationship Type="http://schemas.openxmlformats.org/officeDocument/2006/relationships/notesSlide" Target="/ppt/notesSlides/notesSlide8.xml" Id="Rddbd3a388a12401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30e9ba08bd448e" /><Relationship Type="http://schemas.openxmlformats.org/officeDocument/2006/relationships/hyperlink" Target="https://hu-herrera.github.io/fina/" TargetMode="External" Id="R082913b5666544ec" /><Relationship Type="http://schemas.openxmlformats.org/officeDocument/2006/relationships/notesSlide" Target="/ppt/notesSlides/notesSlide9.xml" Id="Rb929aeb190a148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86f113cf2e479c" /><Relationship Type="http://schemas.openxmlformats.org/officeDocument/2006/relationships/notesSlide" Target="/ppt/notesSlides/notesSlide10.xml" Id="R7d3cfa9bb95044e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abe389445c4b50" /><Relationship Type="http://schemas.openxmlformats.org/officeDocument/2006/relationships/notesSlide" Target="/ppt/notesSlides/notesSlide11.xml" Id="R21b3906898db4f6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8408d8a31546ff" /><Relationship Type="http://schemas.openxmlformats.org/officeDocument/2006/relationships/notesSlide" Target="/ppt/notesSlides/notesSlide12.xml" Id="Ra4bf8d449141433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aebd7892fd54f14" /><Relationship Type="http://schemas.openxmlformats.org/officeDocument/2006/relationships/notesSlide" Target="/ppt/notesSlides/notesSlide13.xml" Id="R2827af2d936b403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2ee99a1b804e1c" /><Relationship Type="http://schemas.openxmlformats.org/officeDocument/2006/relationships/notesSlide" Target="/ppt/notesSlides/notesSlide14.xml" Id="R33db5a26dffa4cf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63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10C233B5-9DDC-4683-9997-EDF895CE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Financiera Pacífico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CE3486B-E8DB-459E-AB43-210D30C5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9BB7C4"/>
                </a:solidFill>
                <a:latin typeface="DejaVu Sans"/>
                <a:ea typeface="DejaVu Sans"/>
                <a:cs typeface="DejaVu Sans"/>
              </a:rPr>
              <a:t>01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F082752-0A06-44DB-8B28-6BAFFB70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287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Continuidad y seguridad</a:t>
            </a:r>
          </a:p>
          <a:p xmlns:a="http://schemas.openxmlformats.org/drawingml/2006/main">
            <a:pPr>
              <a:buNone/>
              <a:def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4350" b="1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entre sucursales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502132F-AB64-4B90-9693-E7B310FB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38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defRPr>
            </a:pPr>
            <a:r>
              <a:rPr sz="2175" b="0">
                <a:solidFill>
                  <a:srgbClr val="9DDBDB"/>
                </a:solidFill>
                <a:latin typeface="DejaVu Sans"/>
                <a:ea typeface="DejaVu Sans"/>
                <a:cs typeface="DejaVu Sans"/>
              </a:rPr>
              <a:t>Avance Capstone al 25 de octubre de 2026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51557CB-D290-4D86-9D77-7B2928DB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Hugo Eduardo Herrera Inostroza</a:t>
            </a:r>
          </a:p>
          <a:p xmlns:a="http://schemas.openxmlformats.org/drawingml/2006/main">
            <a:pPr>
              <a:buNone/>
              <a:def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FFFFFF"/>
                </a:solidFill>
                <a:latin typeface="DejaVu Sans"/>
                <a:ea typeface="DejaVu Sans"/>
                <a:cs typeface="DejaVu Sans"/>
              </a:rPr>
              <a:t>Proyecto de Título APT</a:t>
            </a:r>
          </a:p>
        </p:txBody>
      </p:sp>
    </p:spTree>
    <p:extLst>
      <p:ext uri="{BB962C8B-B14F-4D97-AF65-F5344CB8AC3E}">
        <p14:creationId xmlns:p14="http://schemas.microsoft.com/office/powerpoint/2010/main" val="15780532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A4464EB4-9F0D-4D9D-984C-A362AAD2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Estado actual del proyecto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F3D0EC9-5E26-4ED1-9AD6-6141FF65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7205840-C11A-4F2E-A349-501AFDFA7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28775"/>
            <a:ext cx="519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Prototipo implementado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11B92CC-326B-4EEE-AE03-DDEC560F7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5191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Simulador web con ANTES y rediseño A/B.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Dispositivos con modelo, IP, VLAN, interfaces y puertos.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3BBF4EC9-2AA4-4F07-9DB9-600345E4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28775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Documentación consolidada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F102EE6D-B0D7-40CE-974F-74B28EA2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33600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Caso, diagnóstico y propuesta, entregables 1–7, bitácora y anexos.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Inventario y costos conciliados por alternativa.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B69C443B-0F2F-4658-8A37-31373C6D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81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Pruebas de caminos, políticas de acceso y fallas registradas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F2FEB201-C350-482D-92A6-DD5F234E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Pendientes de esta entrega: grabación y revisión del video, envío de video y PPT por AVA.</a:t>
            </a:r>
          </a:p>
        </p:txBody>
      </p:sp>
    </p:spTree>
    <p:extLst>
      <p:ext uri="{BB962C8B-B14F-4D97-AF65-F5344CB8AC3E}">
        <p14:creationId xmlns:p14="http://schemas.microsoft.com/office/powerpoint/2010/main" val="6723010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ext-0">
            <a:extLst xmlns:a="http://schemas.openxmlformats.org/drawingml/2006/main">
              <a:ext uri="{FF2B5EF4-FFF2-40B4-BE49-F238E27FC236}">
                <a16:creationId xmlns:a16="http://schemas.microsoft.com/office/drawing/2014/main" id="{AC9DA80F-C300-4939-8D0B-CECB5257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Alcance oficial y escenario adoptado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38B20E09-0F2F-4D75-8505-ED42E4778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A10B46E-4642-4E5B-9C16-C8562F44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Ficha oficial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DAEBF1F-74DF-40BB-8662-415F2C29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780 trabajadores y unos 650 usuarios TI.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22 sedes: Casa Matriz y 21 sucursales.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Problema: falta de contingencia remota y cambios manuales.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929D680-EF56-49F5-BE4E-55FC4FB6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62100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Adaptación del proyecto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7DECEA33-B2C8-4391-80D0-35DE1A58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66925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23 sedes: Casa Matriz y 22 sucursales.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650 PCs y 650 teléfonos existentes adoptados como inventario.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Seis futuras aperturas con presupuesto separado.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155BCB47-CC8B-4430-8997-CF187B10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Modelos, carga, direccionamiento y condiciones comerciales son supuestos explícitos del caso ficticio.</a:t>
            </a:r>
          </a:p>
        </p:txBody>
      </p:sp>
    </p:spTree>
    <p:extLst>
      <p:ext uri="{BB962C8B-B14F-4D97-AF65-F5344CB8AC3E}">
        <p14:creationId xmlns:p14="http://schemas.microsoft.com/office/powerpoint/2010/main" val="5716691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65C969E9-7E24-43F4-9F3D-1541EA4D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Diagnóstico de la red anterior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F23105E-659B-4255-986E-063D1AAB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41B710-BECF-4BD7-BA09-5B203699E257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705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238750"/>
                <a:gridCol w="5734050"/>
              </a:tblGrid>
              <a:tr h="92630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Dependencia adoptada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Consecuencia de una falla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Sucursal: un router, un switch y un MPLS de 100 Mbps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Puede perder acceso a aplicación financiera y telefonía central.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Central: dos MPLS de 1 Gbps, dos ISP de 500 Mbps y un firewall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Hay redundancia de enlaces, pero el firewall sigue siendo único.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92630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DC-01 con aplicación/BD y DC-02 con voz/servicios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Los roles separados no recuperan automáticamente una VM en el otro host.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613C4B0-A5C1-475D-B0F4-684DCAF9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100 Mbps cubren la carga normal calculada de unos 26,4 Mbps en una sucursal de 30 puestos.</a:t>
            </a:r>
          </a:p>
        </p:txBody>
      </p:sp>
    </p:spTree>
    <p:extLst>
      <p:ext uri="{BB962C8B-B14F-4D97-AF65-F5344CB8AC3E}">
        <p14:creationId xmlns:p14="http://schemas.microsoft.com/office/powerpoint/2010/main" val="9563738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318142DD-5E09-4FF5-A23C-BDAAC46E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Arquitectura de una sucursal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60EBB74-998D-410F-BDF6-37B68EFCE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AD1A1A-70C3-4870-A9F9-9F6AB225D68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f150b843ae4dc0"/>
          <a:stretch xmlns:a="http://schemas.openxmlformats.org/drawingml/2006/main"/>
        </p:blipFill>
        <p:spPr>
          <a:xfrm xmlns:a="http://schemas.openxmlformats.org/drawingml/2006/main">
            <a:off x="1723159" y="1476375"/>
            <a:ext cx="8745682" cy="3848100"/>
          </a:xfrm>
          <a:prstGeom xmlns:a="http://schemas.openxmlformats.org/drawingml/2006/main" prst="rect">
            <a:avLst/>
          </a:prstGeom>
        </p:spPr>
      </p:pic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54F3FCFA-A0E6-451F-8295-D0D58979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7156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Cuatro transportes y dos dominios WAN independientes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B7EB25AB-AE7D-4314-BF59-0080EF98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VPN hacia el par de firewalls de Casa Matriz. La navegación sale inspeccionada por central.</a:t>
            </a:r>
          </a:p>
        </p:txBody>
      </p:sp>
    </p:spTree>
    <p:extLst>
      <p:ext uri="{BB962C8B-B14F-4D97-AF65-F5344CB8AC3E}">
        <p14:creationId xmlns:p14="http://schemas.microsoft.com/office/powerpoint/2010/main" val="9696517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B503FEEB-1584-451B-B7C1-D2ECB0CF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Alternativas de equipamiento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D0572C7A-2BA2-4F8A-9255-FC7AEF8A5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25825-EBFF-43D6-8FC1-53439A445821}"/>
              </a:ext>
            </a:extLst>
          </p:cNvPr>
          <p:cNvGraphicFramePr/>
          <p:nvPr/>
        </p:nvGraphicFramePr>
        <p:xfrm>
          <a:off xmlns:a="http://schemas.openxmlformats.org/drawingml/2006/main" x="609600" y="1495425"/>
          <a:ext xmlns:a="http://schemas.openxmlformats.org/drawingml/2006/main" cx="10972800" cy="3952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238625"/>
                <a:gridCol w="4210050"/>
              </a:tblGrid>
              <a:tr h="79057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Función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A: Cisco / Palo Alto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B: MikroTik / OPNsense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Routers remotos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C1121X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 reutilizados y 37 nuevos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42 CCR2004 y 2 RB5009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Switches remotos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C9200L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17 reutilizados y 27 nuevos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44 CRS328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Firewalls centrales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PA-1410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 DEC3852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90575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Distribución WAN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 hEX E50UG y 1 CRS310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45 hEX E50UG y 1 CRS310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48770BC2-9BCD-49FE-B907-D140BA72A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Ambas conservan 2 C9200L centrales, PCs, teléfonos y hosts existentes. B usa LACP/RSTP/VRRP, sin StackWise.</a:t>
            </a:r>
          </a:p>
        </p:txBody>
      </p:sp>
    </p:spTree>
    <p:extLst>
      <p:ext uri="{BB962C8B-B14F-4D97-AF65-F5344CB8AC3E}">
        <p14:creationId xmlns:p14="http://schemas.microsoft.com/office/powerpoint/2010/main" val="5818099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54799513-7A3D-4348-B658-34F05001F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Segmentación y permisos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916F03B-48F4-4883-B911-0003EC8E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C9EE7-C46A-431C-8351-1A0DB313404D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3524250"/>
                <a:gridCol w="4495800"/>
              </a:tblGrid>
              <a:tr h="8001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Segmento o servicio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Dirección de ejemplo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Política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Datos S06, VLAN 10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10.70.6.0/25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Gateway 10.70.6.1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Usuarios acceden a APP por HTTPS.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y BD, VLAN 50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10.70.200.10</a:t>
                      </a:r>
                    </a:p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BD 10.70.200.11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TCP 443 a APP. TCP 5432 a BD solo desde APP.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Voz, VLAN 20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PBX 10.70.200.20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Señalización TLS 5061 y medios autorizados.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Invitados / gestión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VLAN 40 / VLAN 130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Invitados aislados. Administración desde NOC.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088E488D-964E-4335-8B21-E49B1DF2B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Las VLAN son locales. Sus subredes IP se enrutan por IPsec. APP/BD requieren también filtros de host.</a:t>
            </a:r>
          </a:p>
        </p:txBody>
      </p:sp>
    </p:spTree>
    <p:extLst>
      <p:ext uri="{BB962C8B-B14F-4D97-AF65-F5344CB8AC3E}">
        <p14:creationId xmlns:p14="http://schemas.microsoft.com/office/powerpoint/2010/main" val="17461629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727886E3-7B5C-4B4C-89D2-5EC10D58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Alta disponibilidad de los servicios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BF3DB2A-3E08-47FF-8270-3259FF4D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08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C51DD794-8DCF-4AA7-86A1-32D35A14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Recuperación entre dos hosts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4F490D54-9642-4B8E-8B42-DCB1082E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DC-01 y DC-02 conservan los Dell R740.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DC-02 aumenta a 64 GiB y 3.840 GB útiles. Ambos hosts conectan a los dos switches.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B5F0578B-B712-42EB-BEB7-226871E1E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43050"/>
            <a:ext cx="5162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Condiciones de recuperación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8636CD48-5BD6-4395-8F38-0C9FF24D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1625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Réplica ZFS utilizable, testigo en BKP y dos de tres votos.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Aislamiento del host fallado antes de reiniciar las VMs en el superviviente.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E9385689-DA2F-4377-8FD1-0384FEB54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25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Metas: pérdida de datos ≤60 s y recuperación ≤300 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7238FC74-7C06-493A-843E-B7E4785C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RPO y recuperación son objetivos del diseño. El modelo no garantiza sesiones ni recuperación ante pérdida de toda CM.</a:t>
            </a:r>
          </a:p>
        </p:txBody>
      </p:sp>
    </p:spTree>
    <p:extLst>
      <p:ext uri="{BB962C8B-B14F-4D97-AF65-F5344CB8AC3E}">
        <p14:creationId xmlns:p14="http://schemas.microsoft.com/office/powerpoint/2010/main" val="11928921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B064DFD7-B409-4E4B-AE30-7425D02A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Demostración del prototipo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77155C4-8753-499C-A5FC-B6C6FF44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09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8DA35-D29F-4DC9-8150-101E24936C6C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6400800"/>
              </a:tblGrid>
              <a:tr h="7429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Escenario implementado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Comportamiento comprobable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ANTES: cortar el MPLS de S06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La sucursal pierde su único camino hacia central.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DESPUÉS: cortar transporte o router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 selecciona otro camino cuando sus dependencias están disponibles.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Acceso a servicios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APP permitida, BD restringida e invitados sin acceso interno.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Caída de host o central completa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Recuperación condicionada del host. CM completa caída deja servicios indisponibles.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1037176-034C-4E05-BA7F-8E5A0EE9F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75" b="1">
                <a:solidFill>
                  <a:srgbClr val="007E87"/>
                </a:solidFill>
                <a:latin typeface="DejaVu Sans"/>
                <a:ea typeface="DejaVu Sans"/>
                <a:cs typeface="DejaVu Sans"/>
                <a:hlinkClick xmlns:r="http://schemas.openxmlformats.org/officeDocument/2006/relationships" r:id="R082913b5666544ec"/>
              </a:rPr>
              <a:t>Abrir simulador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3EE3AE0C-E48E-4659-B48E-3AAB87D78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 animación y las pruebas del navegador representan la lógica del modelo. El video de demostración está pendiente.</a:t>
            </a:r>
          </a:p>
        </p:txBody>
      </p:sp>
    </p:spTree>
    <p:extLst>
      <p:ext uri="{BB962C8B-B14F-4D97-AF65-F5344CB8AC3E}">
        <p14:creationId xmlns:p14="http://schemas.microsoft.com/office/powerpoint/2010/main" val="13961558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text-0">
            <a:extLst xmlns:a="http://schemas.openxmlformats.org/drawingml/2006/main">
              <a:ext uri="{FF2B5EF4-FFF2-40B4-BE49-F238E27FC236}">
                <a16:creationId xmlns:a16="http://schemas.microsoft.com/office/drawing/2014/main" id="{C2A51BF8-B013-42EC-B64E-D69CAC86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Evidencia y límites de los resultados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E3742027-275A-4073-8720-EAC4C6452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10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3DA6D02-ECE0-4928-8B20-02A9A9EB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93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E914D401-62FC-43D1-9DB5-07B36758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485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pruebas de lógica aprobadas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93068BE-625C-45FB-9444-B09AF9FD1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38300"/>
            <a:ext cx="4191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6225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151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3765DC43-037D-4B95-B599-3EDF46A79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62250"/>
            <a:ext cx="500062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10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pruebas de navegador en la pasada general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E283F77-C0A4-41F5-B43C-105FCC7A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1085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2325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1.351 comprobaciones adicionales de caminos A/B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8DB7A137-EAC3-4D55-9E86-A1F609F1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10875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QoS, VPN y HA cuentan con regresiones adicionales.</a:t>
            </a:r>
          </a:p>
          <a:p xmlns:a="http://schemas.openxmlformats.org/drawingml/2006/main">
            <a:pPr>
              <a:buNone/>
              <a:def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875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Los conteos describen pasadas de software, sin sumarlas.</a:t>
            </a:r>
          </a:p>
        </p:txBody>
      </p:sp>
      <p:sp>
        <p:nvSpPr>
          <p:cNvPr id="9" name="text-8">
            <a:extLst xmlns:a="http://schemas.openxmlformats.org/drawingml/2006/main">
              <a:ext uri="{FF2B5EF4-FFF2-40B4-BE49-F238E27FC236}">
                <a16:creationId xmlns:a16="http://schemas.microsoft.com/office/drawing/2014/main" id="{EEAD08A1-C3F9-49BE-A470-17E8D767B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99,99 % core y 99,95 % sucursal son metas anuales. El mapa muestra conectividad del escenario, no disponibilidad medida.</a:t>
            </a:r>
          </a:p>
        </p:txBody>
      </p:sp>
    </p:spTree>
    <p:extLst>
      <p:ext uri="{BB962C8B-B14F-4D97-AF65-F5344CB8AC3E}">
        <p14:creationId xmlns:p14="http://schemas.microsoft.com/office/powerpoint/2010/main" val="70207602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83659B90-63F0-433C-B384-B228C33C0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Presupuesto del alcance a cinco años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B3D3AB8D-C88A-4311-9007-94A4C7B32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11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419A5E-A742-4158-AE22-0BDCBE0625C9}"/>
              </a:ext>
            </a:extLst>
          </p:cNvPr>
          <p:cNvGraphicFramePr/>
          <p:nvPr/>
        </p:nvGraphicFramePr>
        <p:xfrm>
          <a:off xmlns:a="http://schemas.openxmlformats.org/drawingml/2006/main" x="609600" y="1476375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86300"/>
                <a:gridCol w="3143250"/>
                <a:gridCol w="3143250"/>
              </a:tblGrid>
              <a:tr h="742950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CLP con IVA supuesto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Alternativa 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Alternativa B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Inversión inicial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792.550.011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280.617.592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WAN por 60 meses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658.885.320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658.885.320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Reserva operativa por 5 años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50.000.000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25.000.000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Total del alcance a 60 meses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1.501.435.331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964.502.912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66D9DA5B-54C5-482C-A550-64E8529D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9725"/>
            <a:ext cx="1085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Ambas superan la referencia original de CLP 160 millones</a:t>
            </a:r>
          </a:p>
        </p:txBody>
      </p:sp>
      <p:sp>
        <p:nvSpPr>
          <p:cNvPr id="5" name="text-3">
            <a:extLst xmlns:a="http://schemas.openxmlformats.org/drawingml/2006/main">
              <a:ext uri="{FF2B5EF4-FFF2-40B4-BE49-F238E27FC236}">
                <a16:creationId xmlns:a16="http://schemas.microsoft.com/office/drawing/2014/main" id="{C6169EE3-4C58-432B-9760-C22A7A20F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Incluye el inicial una vez. WAN común: CLP 10.981.422/mes. Valores referenciales, no contratos ni compras ejecutadas.</a:t>
            </a:r>
          </a:p>
        </p:txBody>
      </p:sp>
    </p:spTree>
    <p:extLst>
      <p:ext uri="{BB962C8B-B14F-4D97-AF65-F5344CB8AC3E}">
        <p14:creationId xmlns:p14="http://schemas.microsoft.com/office/powerpoint/2010/main" val="26233777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0">
            <a:extLst xmlns:a="http://schemas.openxmlformats.org/drawingml/2006/main">
              <a:ext uri="{FF2B5EF4-FFF2-40B4-BE49-F238E27FC236}">
                <a16:creationId xmlns:a16="http://schemas.microsoft.com/office/drawing/2014/main" id="{6DF6B4EA-8FD5-46D4-AD2C-1E04282F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Revisión final y límites del diseño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C9C7C00-F39A-4DF8-A6F8-FA995BDF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12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E11ABEFA-822F-4AA3-ABE2-F7E34FA8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Ajuste WAN cerrado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8776B12-3345-4857-A9C7-FE0D0877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A y B ya usan distribuidores MikroTik. La revisión WAN-2 concilia modelos, puertos, inventario y presupuesto.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15930B70-6D0D-4458-A33A-69EB9455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28950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Capacidad de central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BA6F7C28-F113-495F-B4C3-FE987683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Política del diseño: hasta 30 terminales remotos y 3 en CM con video. Subida calculada: 966 de 1.000 Mbps. En contingencia se suspende el video.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85D1EDDE-6CD2-41D2-9CF6-4FEAE6453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defRPr>
            </a:pPr>
            <a:r>
              <a:rPr sz="2100" b="1">
                <a:solidFill>
                  <a:srgbClr val="007E87"/>
                </a:solidFill>
                <a:latin typeface="DejaVu Sans"/>
                <a:ea typeface="DejaVu Sans"/>
                <a:cs typeface="DejaVu Sans"/>
              </a:rPr>
              <a:t>Supuestos comerciales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4FCDF9ED-0BE1-44FC-824E-3AE051AE6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061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1950" b="0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Leo, cobertura en sedes extremas, caudales y descuentos pertenecen al escenario ficticio. La comparación económica debe conservar esas condiciones visibles.</a:t>
            </a:r>
          </a:p>
        </p:txBody>
      </p:sp>
    </p:spTree>
    <p:extLst>
      <p:ext uri="{BB962C8B-B14F-4D97-AF65-F5344CB8AC3E}">
        <p14:creationId xmlns:p14="http://schemas.microsoft.com/office/powerpoint/2010/main" val="1345501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E5CDC38B-9FAE-46F9-9918-AA6939465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Plan de implantación de la propuesta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AD767768-4107-45E1-99C6-4236D1D3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28CC72-24AC-4035-9212-323D33020BDB}"/>
              </a:ext>
            </a:extLst>
          </p:cNvPr>
          <p:cNvGraphicFramePr/>
          <p:nvPr/>
        </p:nvGraphicFramePr>
        <p:xfrm>
          <a:off xmlns:a="http://schemas.openxmlformats.org/drawingml/2006/main" x="609600" y="1524000"/>
          <a:ext xmlns:a="http://schemas.openxmlformats.org/drawingml/2006/main" cx="109728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8858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Periodo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Actividad prevista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 1: doce semanas de implantación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Piloto CM/S01, tres olas de seis sucursales y cierre de S20/S21/S22. Mantener MPLS transitorio hasta aceptación.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Años 2–4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Operación, parches, revisión de capacidad, ejercicios de restauración y mantenimiento.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885825"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Año 5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Evaluación de indicadores y plan de renovación del siguiente ciclo.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CAD99BF4-D821-49A9-ADA3-AD1882916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Plan de una implementación hipotética. Las seis aperturas futuras requieren su propia fase y presupuesto.</a:t>
            </a:r>
          </a:p>
        </p:txBody>
      </p:sp>
    </p:spTree>
    <p:extLst>
      <p:ext uri="{BB962C8B-B14F-4D97-AF65-F5344CB8AC3E}">
        <p14:creationId xmlns:p14="http://schemas.microsoft.com/office/powerpoint/2010/main" val="27981598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text-0">
            <a:extLst xmlns:a="http://schemas.openxmlformats.org/drawingml/2006/main">
              <a:ext uri="{FF2B5EF4-FFF2-40B4-BE49-F238E27FC236}">
                <a16:creationId xmlns:a16="http://schemas.microsoft.com/office/drawing/2014/main" id="{27F0AC76-9E38-4C29-BA48-3400BB4E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defRPr>
            </a:pPr>
            <a:r>
              <a:rPr sz="3300" b="1">
                <a:solidFill>
                  <a:srgbClr val="102638"/>
                </a:solidFill>
                <a:latin typeface="DejaVu Sans"/>
                <a:ea typeface="DejaVu Sans"/>
                <a:cs typeface="DejaVu Sans"/>
              </a:rPr>
              <a:t>Plan de entrega al 30 de octubre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EE9687B-3EBB-4A9F-BBC6-1D6DD56AC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3531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275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14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AE8C88-E4A8-412A-A030-6F516A80497D}"/>
              </a:ext>
            </a:extLst>
          </p:cNvPr>
          <p:cNvGraphicFramePr/>
          <p:nvPr/>
        </p:nvGraphicFramePr>
        <p:xfrm>
          <a:off xmlns:a="http://schemas.openxmlformats.org/drawingml/2006/main" x="609600" y="1466850"/>
          <a:ext xmlns:a="http://schemas.openxmlformats.org/drawingml/2006/main" cx="10972800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7829550"/>
              </a:tblGrid>
              <a:tr h="6683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Fecha propuesta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Resultado esperado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T w="9525">
                      <a:solidFill>
                        <a:srgbClr val="D6DFE0"/>
                      </a:solidFill>
                      <a:prstDash val="solid"/>
                    </a:lnT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102638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23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Repositorio docente y PowerPoint de avance preparados.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24–25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Cambio WAN de A cerrado. Revisar el recorrido de la grabación.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26–28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Grabar el video con la demostración del simulador.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29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Revisar audio, legibilidad y coherencia entre video y PPT.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EAF0EE"/>
                    </a:solidFill>
                  </a:tcPr>
                </a:tc>
              </a:tr>
              <a:tr h="668338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Viernes 30 de octubre</a:t>
                      </a:r>
                    </a:p>
                  </a:txBody>
                  <a:tcPr marL="123825" marR="123825" marT="123825" marB="95250" anchor="ctr">
                    <a:lnL w="9525">
                      <a:solidFill>
                        <a:srgbClr val="D6DFE0"/>
                      </a:solidFill>
                      <a:prstDash val="solid"/>
                    </a:lnL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0263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Enviar ambos archivos por AVA y comprobar la recepción.</a:t>
                      </a:r>
                    </a:p>
                  </a:txBody>
                  <a:tcPr marL="123825" marR="123825" marT="123825" marB="95250" anchor="ctr">
                    <a:lnR w="9525">
                      <a:solidFill>
                        <a:srgbClr val="D6DFE0"/>
                      </a:solidFill>
                      <a:prstDash val="solid"/>
                    </a:lnR>
                    <a:lnB w="9525">
                      <a:solidFill>
                        <a:srgbClr val="D6DF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-2">
            <a:extLst xmlns:a="http://schemas.openxmlformats.org/drawingml/2006/main">
              <a:ext uri="{FF2B5EF4-FFF2-40B4-BE49-F238E27FC236}">
                <a16:creationId xmlns:a16="http://schemas.microsoft.com/office/drawing/2014/main" id="{2D1069FF-3C94-49DD-AA0C-5442E4E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620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defPPr>
            <a:lvl1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1pPr>
            <a:lvl2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2pPr>
            <a:lvl3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3pPr>
            <a:lvl4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4pPr>
            <a:lvl5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5pPr>
            <a:lvl6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6pPr>
            <a:lvl7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7pPr>
            <a:lvl8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8pPr>
            <a:lvl9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476071"/>
                </a:solidFill>
                <a:latin typeface="DejaVu Sans"/>
                <a:ea typeface="DejaVu Sans"/>
                <a:cs typeface="DejaVu Sans"/>
              </a:rPr>
              <a:t>La entrega revisa avances reales. La grabación y el envío por AVA aún no se han realizado.</a:t>
            </a:r>
          </a:p>
        </p:txBody>
      </p:sp>
    </p:spTree>
    <p:extLst>
      <p:ext uri="{BB962C8B-B14F-4D97-AF65-F5344CB8AC3E}">
        <p14:creationId xmlns:p14="http://schemas.microsoft.com/office/powerpoint/2010/main" val="197754236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2026-10-25T06:37:59.8910000Z</dcterms:created>
  <dcterms:modified xsi:type="dcterms:W3CDTF">2026-10-25T06:37:59.8910000Z</dcterms:modified>
</coreProperties>
</file>